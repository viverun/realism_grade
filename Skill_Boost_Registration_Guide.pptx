
<file path=[Content_Types].xml><?xml version="1.0" encoding="utf-8"?>
<Types xmlns="http://schemas.openxmlformats.org/package/2006/content-types">
  <Default Extension="fntdata" ContentType="application/x-fontdata"/>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68" r:id="rId2"/>
    <p:sldId id="269" r:id="rId18"/>
    <p:sldId id="270" r:id="rId19"/>
    <p:sldId id="271" r:id="rId20"/>
    <p:sldId id="256" r:id="rId3"/>
    <p:sldId id="257" r:id="rId4"/>
    <p:sldId id="266" r:id="rId5"/>
    <p:sldId id="259" r:id="rId6"/>
    <p:sldId id="261" r:id="rId7"/>
    <p:sldId id="262" r:id="rId8"/>
    <p:sldId id="267" r:id="rId9"/>
    <p:sldId id="265" r:id="rId10"/>
  </p:sldIdLst>
  <p:sldSz cx="12192000" cy="6858000"/>
  <p:notesSz cx="6858000" cy="12192000"/>
  <p:embeddedFontLst>
    <p:embeddedFont>
      <p:font typeface="Poppins Bold" panose="020B0604020202020204" charset="0"/>
      <p:regular r:id="rId1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shit Jain" userId="c2ba80963b7cb5e4" providerId="LiveId" clId="{B86CD3D9-95A3-4058-89D8-1F11307AEE5A}"/>
    <pc:docChg chg="modSld sldOrd">
      <pc:chgData name="Nishit Jain" userId="c2ba80963b7cb5e4" providerId="LiveId" clId="{B86CD3D9-95A3-4058-89D8-1F11307AEE5A}" dt="2026-10-25T10:28:21.665" v="7"/>
      <pc:docMkLst>
        <pc:docMk/>
      </pc:docMkLst>
      <pc:sldChg chg="ord">
        <pc:chgData name="Nishit Jain" userId="c2ba80963b7cb5e4" providerId="LiveId" clId="{B86CD3D9-95A3-4058-89D8-1F11307AEE5A}" dt="2026-10-25T10:28:03.896" v="3"/>
        <pc:sldMkLst>
          <pc:docMk/>
          <pc:sldMk cId="0" sldId="259"/>
        </pc:sldMkLst>
      </pc:sldChg>
      <pc:sldChg chg="ord">
        <pc:chgData name="Nishit Jain" userId="c2ba80963b7cb5e4" providerId="LiveId" clId="{B86CD3D9-95A3-4058-89D8-1F11307AEE5A}" dt="2026-10-25T10:28:10.330" v="5"/>
        <pc:sldMkLst>
          <pc:docMk/>
          <pc:sldMk cId="0" sldId="261"/>
        </pc:sldMkLst>
      </pc:sldChg>
      <pc:sldChg chg="ord">
        <pc:chgData name="Nishit Jain" userId="c2ba80963b7cb5e4" providerId="LiveId" clId="{B86CD3D9-95A3-4058-89D8-1F11307AEE5A}" dt="2026-10-25T10:28:21.665" v="7"/>
        <pc:sldMkLst>
          <pc:docMk/>
          <pc:sldMk cId="0" sldId="262"/>
        </pc:sldMkLst>
      </pc:sldChg>
      <pc:sldChg chg="ord">
        <pc:chgData name="Nishit Jain" userId="c2ba80963b7cb5e4" providerId="LiveId" clId="{B86CD3D9-95A3-4058-89D8-1F11307AEE5A}" dt="2026-10-25T10:27:33.891" v="1"/>
        <pc:sldMkLst>
          <pc:docMk/>
          <pc:sldMk cId="0"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7104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This is the Google Cloud Learn with Communities campaign, brought to APSIT by our GDGoC chapter.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Learn with Communities is Google Cloud's campaign for student communities, and it runs on Google Skills (formerly Google Cloud Skills Boost). Labs are free, badges are verifiable, and swag comes at 5 and 10 badges. Labs cover Cloud, Data and AI.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badges earned during the program timeline count toward rewards. 5 skill badges get a Google Cloud water bottle. 10 skill badges get the Developer Kit and a T-shirt. Merch images are illustrations.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 the profile ready first, because the registration form asks for your public Google Skills profile URL.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Register early because seats close the moment capacity is reached. Without the referral code, registrations cannot be attributed to our chapter. After confirmation, Google Cloud emails you an access code for free lab credits.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Happy learning! Reach out to the GDGoC APSIT team with any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626330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gif"/><Relationship Id="rId3" Type="http://schemas.openxmlformats.org/officeDocument/2006/relationships/slideLayout" Target="../slideLayouts/slideLayout3.xml"/><Relationship Id="rId7" Type="http://schemas.openxmlformats.org/officeDocument/2006/relationships/image" Target="../media/image4.gif"/><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gif"/><Relationship Id="rId5" Type="http://schemas.openxmlformats.org/officeDocument/2006/relationships/image" Target="../media/image2.png"/><Relationship Id="rId10" Type="http://schemas.openxmlformats.org/officeDocument/2006/relationships/image" Target="../media/image7.gif"/><Relationship Id="rId4" Type="http://schemas.openxmlformats.org/officeDocument/2006/relationships/image" Target="../media/image1.jpeg"/><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forms.gle/VDXwE13LoaNhA2VeA"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23.png"/><Relationship Id="rId7" Type="http://schemas.openxmlformats.org/officeDocument/2006/relationships/hyperlink" Target="https://www.skills.googl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forms.gle/VDXwE13LoaNhA2VeA" TargetMode="External"/><Relationship Id="rId5" Type="http://schemas.openxmlformats.org/officeDocument/2006/relationships/image" Target="../media/image25.png"/><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kills_home.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rcRect l="10010" t="28766" r="5013" b="33775"/>
          <a:stretch>
            <a:fillRect/>
          </a:stretch>
        </p:blipFill>
        <p:spPr>
          <a:xfrm>
            <a:off x="9285031" y="1"/>
            <a:ext cx="2906969" cy="720799"/>
          </a:xfrm>
          <a:prstGeom prst="rect">
            <a:avLst/>
          </a:prstGeom>
        </p:spPr>
      </p:pic>
      <p:grpSp>
        <p:nvGrpSpPr>
          <p:cNvPr id="3" name="Group 3"/>
          <p:cNvGrpSpPr/>
          <p:nvPr/>
        </p:nvGrpSpPr>
        <p:grpSpPr>
          <a:xfrm>
            <a:off x="8942568" y="685800"/>
            <a:ext cx="3249433" cy="684926"/>
            <a:chOff x="0" y="0"/>
            <a:chExt cx="1283726" cy="270588"/>
          </a:xfrm>
        </p:grpSpPr>
        <p:sp>
          <p:nvSpPr>
            <p:cNvPr id="4" name="Freeform 4"/>
            <p:cNvSpPr/>
            <p:nvPr/>
          </p:nvSpPr>
          <p:spPr>
            <a:xfrm>
              <a:off x="0" y="0"/>
              <a:ext cx="1283726" cy="270588"/>
            </a:xfrm>
            <a:custGeom>
              <a:avLst/>
              <a:gdLst/>
              <a:ahLst/>
              <a:cxnLst/>
              <a:rect l="l" t="t" r="r" b="b"/>
              <a:pathLst>
                <a:path w="1283726" h="270588">
                  <a:moveTo>
                    <a:pt x="0" y="0"/>
                  </a:moveTo>
                  <a:lnTo>
                    <a:pt x="1283726" y="0"/>
                  </a:lnTo>
                  <a:lnTo>
                    <a:pt x="1283726" y="270588"/>
                  </a:lnTo>
                  <a:lnTo>
                    <a:pt x="0" y="270588"/>
                  </a:lnTo>
                  <a:close/>
                </a:path>
              </a:pathLst>
            </a:custGeom>
            <a:solidFill>
              <a:srgbClr val="F0F3F4"/>
            </a:solidFill>
          </p:spPr>
        </p:sp>
        <p:sp>
          <p:nvSpPr>
            <p:cNvPr id="5" name="TextBox 5"/>
            <p:cNvSpPr txBox="1"/>
            <p:nvPr/>
          </p:nvSpPr>
          <p:spPr>
            <a:xfrm>
              <a:off x="0" y="-38100"/>
              <a:ext cx="1283726" cy="308688"/>
            </a:xfrm>
            <a:prstGeom prst="rect">
              <a:avLst/>
            </a:prstGeom>
          </p:spPr>
          <p:txBody>
            <a:bodyPr lIns="33867" tIns="33867" rIns="33867" bIns="33867" rtlCol="0" anchor="ctr"/>
            <a:lstStyle/>
            <a:p>
              <a:pPr algn="ctr">
                <a:lnSpc>
                  <a:spcPts val="1773"/>
                </a:lnSpc>
                <a:spcBef>
                  <a:spcPct val="0"/>
                </a:spcBef>
              </a:pPr>
              <a:endParaRPr sz="1200"/>
            </a:p>
          </p:txBody>
        </p:sp>
      </p:grpSp>
      <p:grpSp>
        <p:nvGrpSpPr>
          <p:cNvPr id="6" name="Group 6"/>
          <p:cNvGrpSpPr/>
          <p:nvPr/>
        </p:nvGrpSpPr>
        <p:grpSpPr>
          <a:xfrm rot="5400000">
            <a:off x="4299615" y="-4299616"/>
            <a:ext cx="685800" cy="9285031"/>
            <a:chOff x="0" y="0"/>
            <a:chExt cx="270933" cy="3668160"/>
          </a:xfrm>
        </p:grpSpPr>
        <p:sp>
          <p:nvSpPr>
            <p:cNvPr id="7" name="Freeform 7"/>
            <p:cNvSpPr/>
            <p:nvPr/>
          </p:nvSpPr>
          <p:spPr>
            <a:xfrm>
              <a:off x="0" y="0"/>
              <a:ext cx="270933" cy="3668160"/>
            </a:xfrm>
            <a:custGeom>
              <a:avLst/>
              <a:gdLst/>
              <a:ahLst/>
              <a:cxnLst/>
              <a:rect l="l" t="t" r="r" b="b"/>
              <a:pathLst>
                <a:path w="270933" h="3668160">
                  <a:moveTo>
                    <a:pt x="0" y="0"/>
                  </a:moveTo>
                  <a:lnTo>
                    <a:pt x="270933" y="0"/>
                  </a:lnTo>
                  <a:lnTo>
                    <a:pt x="270933" y="3668160"/>
                  </a:lnTo>
                  <a:lnTo>
                    <a:pt x="0" y="3668160"/>
                  </a:lnTo>
                  <a:close/>
                </a:path>
              </a:pathLst>
            </a:custGeom>
            <a:solidFill>
              <a:srgbClr val="FFFFFF"/>
            </a:solidFill>
          </p:spPr>
        </p:sp>
        <p:sp>
          <p:nvSpPr>
            <p:cNvPr id="8" name="TextBox 8"/>
            <p:cNvSpPr txBox="1"/>
            <p:nvPr/>
          </p:nvSpPr>
          <p:spPr>
            <a:xfrm>
              <a:off x="0" y="-38100"/>
              <a:ext cx="270933" cy="3706260"/>
            </a:xfrm>
            <a:prstGeom prst="rect">
              <a:avLst/>
            </a:prstGeom>
          </p:spPr>
          <p:txBody>
            <a:bodyPr lIns="33867" tIns="33867" rIns="33867" bIns="33867" rtlCol="0" anchor="ctr"/>
            <a:lstStyle/>
            <a:p>
              <a:pPr algn="ctr">
                <a:lnSpc>
                  <a:spcPts val="1773"/>
                </a:lnSpc>
                <a:spcBef>
                  <a:spcPct val="0"/>
                </a:spcBef>
              </a:pPr>
              <a:endParaRPr sz="1200"/>
            </a:p>
          </p:txBody>
        </p:sp>
      </p:grpSp>
      <p:sp>
        <p:nvSpPr>
          <p:cNvPr id="9" name="Freeform 9"/>
          <p:cNvSpPr/>
          <p:nvPr/>
        </p:nvSpPr>
        <p:spPr>
          <a:xfrm>
            <a:off x="31427" y="1019249"/>
            <a:ext cx="11582210" cy="5944304"/>
          </a:xfrm>
          <a:custGeom>
            <a:avLst/>
            <a:gdLst/>
            <a:ahLst/>
            <a:cxnLst/>
            <a:rect l="l" t="t" r="r" b="b"/>
            <a:pathLst>
              <a:path w="17373315" h="8916456">
                <a:moveTo>
                  <a:pt x="0" y="0"/>
                </a:moveTo>
                <a:lnTo>
                  <a:pt x="17373315" y="0"/>
                </a:lnTo>
                <a:lnTo>
                  <a:pt x="17373315" y="8916456"/>
                </a:lnTo>
                <a:lnTo>
                  <a:pt x="0" y="8916456"/>
                </a:lnTo>
                <a:lnTo>
                  <a:pt x="0" y="0"/>
                </a:lnTo>
                <a:close/>
              </a:path>
            </a:pathLst>
          </a:custGeom>
          <a:blipFill>
            <a:blip r:embed="rId5"/>
            <a:stretch>
              <a:fillRect t="-41354" b="-33651"/>
            </a:stretch>
          </a:blipFill>
        </p:spPr>
      </p:sp>
      <p:pic>
        <p:nvPicPr>
          <p:cNvPr id="10" name="Picture 10"/>
          <p:cNvPicPr>
            <a:picLocks noChangeAspect="1"/>
          </p:cNvPicPr>
          <p:nvPr/>
        </p:nvPicPr>
        <p:blipFill>
          <a:blip r:embed="rId6">
            <a:alphaModFix amt="88000"/>
          </a:blip>
          <a:srcRect/>
          <a:stretch>
            <a:fillRect/>
          </a:stretch>
        </p:blipFill>
        <p:spPr>
          <a:xfrm>
            <a:off x="8680172" y="3991402"/>
            <a:ext cx="3683325" cy="2762494"/>
          </a:xfrm>
          <a:prstGeom prst="rect">
            <a:avLst/>
          </a:prstGeom>
        </p:spPr>
      </p:pic>
      <p:pic>
        <p:nvPicPr>
          <p:cNvPr id="11" name="Picture 11"/>
          <p:cNvPicPr>
            <a:picLocks noChangeAspect="1"/>
          </p:cNvPicPr>
          <p:nvPr/>
        </p:nvPicPr>
        <p:blipFill>
          <a:blip r:embed="rId7">
            <a:alphaModFix amt="78000"/>
          </a:blip>
          <a:srcRect/>
          <a:stretch>
            <a:fillRect/>
          </a:stretch>
        </p:blipFill>
        <p:spPr>
          <a:xfrm>
            <a:off x="0" y="3138085"/>
            <a:ext cx="7516123" cy="4241073"/>
          </a:xfrm>
          <a:prstGeom prst="rect">
            <a:avLst/>
          </a:prstGeom>
        </p:spPr>
      </p:pic>
      <p:pic>
        <p:nvPicPr>
          <p:cNvPr id="12" name="Picture 12"/>
          <p:cNvPicPr>
            <a:picLocks noChangeAspect="1"/>
          </p:cNvPicPr>
          <p:nvPr/>
        </p:nvPicPr>
        <p:blipFill>
          <a:blip r:embed="rId8"/>
          <a:srcRect/>
          <a:stretch>
            <a:fillRect/>
          </a:stretch>
        </p:blipFill>
        <p:spPr>
          <a:xfrm>
            <a:off x="5002608" y="3429000"/>
            <a:ext cx="2186784" cy="1640088"/>
          </a:xfrm>
          <a:prstGeom prst="rect">
            <a:avLst/>
          </a:prstGeom>
        </p:spPr>
      </p:pic>
      <p:sp>
        <p:nvSpPr>
          <p:cNvPr id="13" name="TextBox 13"/>
          <p:cNvSpPr txBox="1"/>
          <p:nvPr/>
        </p:nvSpPr>
        <p:spPr>
          <a:xfrm>
            <a:off x="685800" y="2633636"/>
            <a:ext cx="10820400" cy="882165"/>
          </a:xfrm>
          <a:prstGeom prst="rect">
            <a:avLst/>
          </a:prstGeom>
        </p:spPr>
        <p:txBody>
          <a:bodyPr lIns="0" tIns="0" rIns="0" bIns="0" rtlCol="0" anchor="t">
            <a:spAutoFit/>
          </a:bodyPr>
          <a:lstStyle/>
          <a:p>
            <a:pPr algn="ctr">
              <a:lnSpc>
                <a:spcPts val="6069"/>
              </a:lnSpc>
            </a:pPr>
            <a:r>
              <a:rPr lang="en-US" sz="10115" b="1" spc="-769">
                <a:solidFill>
                  <a:srgbClr val="354EAB"/>
                </a:solidFill>
                <a:latin typeface="Poppins Bold"/>
                <a:ea typeface="Poppins Bold"/>
                <a:cs typeface="Poppins Bold"/>
                <a:sym typeface="Poppins Bold"/>
              </a:rPr>
              <a:t>Starting soon‎ ‎ ‎ ‎ </a:t>
            </a:r>
          </a:p>
        </p:txBody>
      </p:sp>
      <p:sp>
        <p:nvSpPr>
          <p:cNvPr id="14" name="Freeform 14"/>
          <p:cNvSpPr/>
          <p:nvPr/>
        </p:nvSpPr>
        <p:spPr>
          <a:xfrm>
            <a:off x="0" y="0"/>
            <a:ext cx="3758061" cy="763356"/>
          </a:xfrm>
          <a:custGeom>
            <a:avLst/>
            <a:gdLst/>
            <a:ahLst/>
            <a:cxnLst/>
            <a:rect l="l" t="t" r="r" b="b"/>
            <a:pathLst>
              <a:path w="5637092" h="1145034">
                <a:moveTo>
                  <a:pt x="0" y="0"/>
                </a:moveTo>
                <a:lnTo>
                  <a:pt x="5637092" y="0"/>
                </a:lnTo>
                <a:lnTo>
                  <a:pt x="5637092" y="1145034"/>
                </a:lnTo>
                <a:lnTo>
                  <a:pt x="0" y="1145034"/>
                </a:lnTo>
                <a:lnTo>
                  <a:pt x="0" y="0"/>
                </a:lnTo>
                <a:close/>
              </a:path>
            </a:pathLst>
          </a:custGeom>
          <a:blipFill>
            <a:blip r:embed="rId9"/>
            <a:stretch>
              <a:fillRect/>
            </a:stretch>
          </a:blipFill>
        </p:spPr>
      </p:sp>
      <p:pic>
        <p:nvPicPr>
          <p:cNvPr id="21" name="Picture 20">
            <a:extLst>
              <a:ext uri="{FF2B5EF4-FFF2-40B4-BE49-F238E27FC236}">
                <a16:creationId xmlns:a16="http://schemas.microsoft.com/office/drawing/2014/main" id="{E380B17C-D2E7-C396-AA32-32E6AD746942}"/>
              </a:ext>
            </a:extLst>
          </p:cNvPr>
          <p:cNvPicPr>
            <a:picLocks noChangeAspect="1"/>
          </p:cNvPicPr>
          <p:nvPr/>
        </p:nvPicPr>
        <p:blipFill>
          <a:blip r:embed="rId10"/>
          <a:srcRect l="9938" t="32920" r="14807" b="30032"/>
          <a:stretch>
            <a:fillRect/>
          </a:stretch>
        </p:blipFill>
        <p:spPr>
          <a:xfrm>
            <a:off x="9441589" y="20569"/>
            <a:ext cx="2593851" cy="718265"/>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0">
                <p:cTn id="7" fill="hold" display="0">
                  <p:stCondLst>
                    <p:cond delay="indefinite"/>
                  </p:stCondLst>
                </p:cTn>
                <p:tgtEl>
                  <p:spTgt spid="2"/>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Learn with </a:t>
            </a:r>
            <a:r>
              <a:rPr lang="en-US" sz="6400" b="1" i="0" dirty="0">
                <a:solidFill>
                  <a:srgbClr val="4285F4"/>
                </a:solidFill>
                <a:latin typeface="Google Sans" pitchFamily="34" charset="0"/>
                <a:ea typeface="Google Sans" pitchFamily="34" charset="-122"/>
                <a:cs typeface="Google Sans" pitchFamily="34" charset="-120"/>
              </a:rPr>
              <a:t>Communities</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with GDGoC APSIT for </a:t>
            </a:r>
            <a:r>
              <a:rPr lang="en-US" sz="2200" b="1" dirty="0">
                <a:solidFill>
                  <a:srgbClr val="34A853"/>
                </a:solidFill>
                <a:latin typeface="Google Sans" pitchFamily="34" charset="0"/>
                <a:ea typeface="Google Sans" pitchFamily="34" charset="-122"/>
                <a:cs typeface="Google Sans" pitchFamily="34" charset="-120"/>
              </a:rPr>
              <a:t>2026-27</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A Google Cloud campaign that gives students free, hands-on labs in Cloud, Data and AI on Google Skills. You earn verifiable skill badges and unlock official swag along the way.</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Free lab credits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Skill badges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Swag at 5 &amp; 10 badges</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What is Learn with Communities?</a:t>
            </a:r>
            <a:endParaRPr lang="en-US" sz="3200" dirty="0"/>
          </a:p>
        </p:txBody>
      </p:sp>
      <p:sp>
        <p:nvSpPr>
          <p:cNvPr id="7" name="TextBox 6"/>
          <p:cNvSpPr txBox="1"/>
          <p:nvPr/>
        </p:nvSpPr>
        <p:spPr>
          <a:xfrm>
            <a:off x="813816" y="1371600"/>
            <a:ext cx="10570464" cy="731520"/>
          </a:xfrm>
          <a:prstGeom prst="rect">
            <a:avLst/>
          </a:prstGeom>
          <a:noFill/>
        </p:spPr>
        <p:txBody>
          <a:bodyPr wrap="square" lIns="0" tIns="0" rIns="0" bIns="0" anchor="t">
            <a:spAutoFit/>
          </a:bodyPr>
          <a:lstStyle/>
          <a:p>
            <a:pPr>
              <a:lnSpc>
                <a:spcPts val="2100"/>
              </a:lnSpc>
            </a:pPr>
            <a:r>
              <a:rPr sz="1500" b="1">
                <a:solidFill>
                  <a:srgbClr val="3C4043"/>
                </a:solidFill>
                <a:latin typeface="Google Sans"/>
              </a:rPr>
              <a:t>Google Cloud's campaign for student communities.</a:t>
            </a:r>
            <a:r>
              <a:rPr sz="1500" b="0">
                <a:solidFill>
                  <a:srgbClr val="3C4043"/>
                </a:solidFill>
                <a:latin typeface="Google Sans"/>
              </a:rPr>
              <a:t> Get </a:t>
            </a:r>
            <a:r>
              <a:rPr sz="1500" b="1">
                <a:solidFill>
                  <a:srgbClr val="1A73E8"/>
                </a:solidFill>
                <a:latin typeface="Google Sans"/>
              </a:rPr>
              <a:t>free, hands-on labs</a:t>
            </a:r>
            <a:r>
              <a:rPr sz="1500" b="0">
                <a:solidFill>
                  <a:srgbClr val="3C4043"/>
                </a:solidFill>
                <a:latin typeface="Google Sans"/>
              </a:rPr>
              <a:t> on Google Skills, earn official skill badges and unlock swag. Open to every APSIT student.</a:t>
            </a:r>
          </a:p>
        </p:txBody>
      </p:sp>
      <p:sp>
        <p:nvSpPr>
          <p:cNvPr id="8" name="Rectangle 7"/>
          <p:cNvSpPr/>
          <p:nvPr/>
        </p:nvSpPr>
        <p:spPr>
          <a:xfrm>
            <a:off x="813816" y="2377440"/>
            <a:ext cx="3401568" cy="21945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688336"/>
            <a:ext cx="2852928"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01 · LEARN</a:t>
            </a:r>
          </a:p>
        </p:txBody>
      </p:sp>
      <p:sp>
        <p:nvSpPr>
          <p:cNvPr id="11" name="TextBox 10"/>
          <p:cNvSpPr txBox="1"/>
          <p:nvPr/>
        </p:nvSpPr>
        <p:spPr>
          <a:xfrm>
            <a:off x="1088136"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Hands-on labs</a:t>
            </a:r>
          </a:p>
        </p:txBody>
      </p:sp>
      <p:sp>
        <p:nvSpPr>
          <p:cNvPr id="12" name="TextBox 11"/>
          <p:cNvSpPr txBox="1"/>
          <p:nvPr/>
        </p:nvSpPr>
        <p:spPr>
          <a:xfrm>
            <a:off x="1088136"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a real Google Cloud console at your own pace. Free credits arrive by email.</a:t>
            </a:r>
          </a:p>
        </p:txBody>
      </p:sp>
      <p:sp>
        <p:nvSpPr>
          <p:cNvPr id="13" name="Rectangle 12"/>
          <p:cNvSpPr/>
          <p:nvPr/>
        </p:nvSpPr>
        <p:spPr>
          <a:xfrm>
            <a:off x="4398264" y="2377440"/>
            <a:ext cx="3401568" cy="21945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4398264"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4672583" y="2688336"/>
            <a:ext cx="2852928" cy="256032"/>
          </a:xfrm>
          <a:prstGeom prst="rect">
            <a:avLst/>
          </a:prstGeom>
          <a:noFill/>
        </p:spPr>
        <p:txBody>
          <a:bodyPr wrap="square" lIns="0" tIns="0" rIns="0" bIns="0" anchor="t">
            <a:spAutoFit/>
          </a:bodyPr>
          <a:lstStyle/>
          <a:p>
            <a:pPr>
              <a:lnSpc>
                <a:spcPts val="1850"/>
              </a:lnSpc>
            </a:pPr>
            <a:r>
              <a:rPr sz="1300" b="1">
                <a:solidFill>
                  <a:srgbClr val="C5221F"/>
                </a:solidFill>
                <a:latin typeface="Google Sans"/>
              </a:rPr>
              <a:t>02 · PROVE</a:t>
            </a:r>
          </a:p>
        </p:txBody>
      </p:sp>
      <p:sp>
        <p:nvSpPr>
          <p:cNvPr id="16" name="TextBox 15"/>
          <p:cNvSpPr txBox="1"/>
          <p:nvPr/>
        </p:nvSpPr>
        <p:spPr>
          <a:xfrm>
            <a:off x="4672583"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Skill badges</a:t>
            </a:r>
          </a:p>
        </p:txBody>
      </p:sp>
      <p:sp>
        <p:nvSpPr>
          <p:cNvPr id="17" name="TextBox 16"/>
          <p:cNvSpPr txBox="1"/>
          <p:nvPr/>
        </p:nvSpPr>
        <p:spPr>
          <a:xfrm>
            <a:off x="4672583"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Pass a challenge lab to earn a verifiable badge for your resume and LinkedIn.</a:t>
            </a:r>
          </a:p>
        </p:txBody>
      </p:sp>
      <p:sp>
        <p:nvSpPr>
          <p:cNvPr id="18" name="Rectangle 17"/>
          <p:cNvSpPr/>
          <p:nvPr/>
        </p:nvSpPr>
        <p:spPr>
          <a:xfrm>
            <a:off x="7982712" y="2377440"/>
            <a:ext cx="3401568" cy="2194560"/>
          </a:xfrm>
          <a:prstGeom prst="roundRect">
            <a:avLst>
              <a:gd name="adj" fmla="val 6645"/>
            </a:avLst>
          </a:prstGeom>
          <a:solidFill>
            <a:srgbClr val="E6F4EA"/>
          </a:solidFill>
          <a:ln>
            <a:noFill/>
          </a:ln>
        </p:spPr>
        <p:txBody>
          <a:bodyPr rtlCol="0" anchor="ctr"/>
          <a:lstStyle/>
          <a:p>
            <a:pPr algn="ctr"/>
            <a:endParaRPr/>
          </a:p>
        </p:txBody>
      </p:sp>
      <p:sp>
        <p:nvSpPr>
          <p:cNvPr id="19" name="Rectangle 18"/>
          <p:cNvSpPr/>
          <p:nvPr/>
        </p:nvSpPr>
        <p:spPr>
          <a:xfrm>
            <a:off x="7982712"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0" name="TextBox 19"/>
          <p:cNvSpPr txBox="1"/>
          <p:nvPr/>
        </p:nvSpPr>
        <p:spPr>
          <a:xfrm>
            <a:off x="8257032" y="2688336"/>
            <a:ext cx="2852928"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03 · EARN</a:t>
            </a:r>
          </a:p>
        </p:txBody>
      </p:sp>
      <p:sp>
        <p:nvSpPr>
          <p:cNvPr id="21" name="TextBox 20"/>
          <p:cNvSpPr txBox="1"/>
          <p:nvPr/>
        </p:nvSpPr>
        <p:spPr>
          <a:xfrm>
            <a:off x="8257032"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Campaign swag</a:t>
            </a:r>
          </a:p>
        </p:txBody>
      </p:sp>
      <p:sp>
        <p:nvSpPr>
          <p:cNvPr id="22" name="TextBox 21"/>
          <p:cNvSpPr txBox="1"/>
          <p:nvPr/>
        </p:nvSpPr>
        <p:spPr>
          <a:xfrm>
            <a:off x="8257032"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5 badges: water bottle. 10 badges: Developer Kit and T-shirt.</a:t>
            </a:r>
          </a:p>
        </p:txBody>
      </p:sp>
      <p:sp>
        <p:nvSpPr>
          <p:cNvPr id="23" name="Rectangle 22"/>
          <p:cNvSpPr/>
          <p:nvPr/>
        </p:nvSpPr>
        <p:spPr>
          <a:xfrm>
            <a:off x="813816" y="4892040"/>
            <a:ext cx="10570464" cy="914400"/>
          </a:xfrm>
          <a:prstGeom prst="roundRect">
            <a:avLst>
              <a:gd name="adj" fmla="val 14000"/>
            </a:avLst>
          </a:prstGeom>
          <a:solidFill>
            <a:srgbClr val="F8F9FA"/>
          </a:solidFill>
          <a:ln>
            <a:noFill/>
          </a:ln>
        </p:spPr>
        <p:txBody>
          <a:bodyPr rtlCol="0" anchor="ctr"/>
          <a:lstStyle/>
          <a:p>
            <a:pPr algn="ctr"/>
            <a:endParaRPr/>
          </a:p>
        </p:txBody>
      </p:sp>
      <p:sp>
        <p:nvSpPr>
          <p:cNvPr id="24" name="TextBox 23"/>
          <p:cNvSpPr txBox="1"/>
          <p:nvPr/>
        </p:nvSpPr>
        <p:spPr>
          <a:xfrm>
            <a:off x="1097280" y="5074920"/>
            <a:ext cx="3840480" cy="310896"/>
          </a:xfrm>
          <a:prstGeom prst="rect">
            <a:avLst/>
          </a:prstGeom>
          <a:noFill/>
        </p:spPr>
        <p:txBody>
          <a:bodyPr wrap="square" lIns="0" tIns="0" rIns="0" bIns="0" anchor="t">
            <a:spAutoFit/>
          </a:bodyPr>
          <a:lstStyle/>
          <a:p>
            <a:pPr>
              <a:lnSpc>
                <a:spcPts val="2550"/>
              </a:lnSpc>
            </a:pPr>
            <a:r>
              <a:rPr sz="1800" b="1" u="sng">
                <a:solidFill>
                  <a:srgbClr val="1A73E8"/>
                </a:solidFill>
                <a:latin typeface="Google Sans"/>
                <a:hlinkClick r:id="rId7"/>
              </a:rPr>
              <a:t>Google Skills</a:t>
            </a:r>
          </a:p>
        </p:txBody>
      </p:sp>
      <p:sp>
        <p:nvSpPr>
          <p:cNvPr id="25" name="TextBox 24"/>
          <p:cNvSpPr txBox="1"/>
          <p:nvPr/>
        </p:nvSpPr>
        <p:spPr>
          <a:xfrm>
            <a:off x="1097280" y="5422392"/>
            <a:ext cx="3840480" cy="237744"/>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Formerly Google Cloud Skills Boost</a:t>
            </a:r>
          </a:p>
        </p:txBody>
      </p:sp>
      <p:sp>
        <p:nvSpPr>
          <p:cNvPr id="26" name="Rectangle 25"/>
          <p:cNvSpPr/>
          <p:nvPr/>
        </p:nvSpPr>
        <p:spPr>
          <a:xfrm>
            <a:off x="5532120" y="5120640"/>
            <a:ext cx="1737360" cy="457200"/>
          </a:xfrm>
          <a:prstGeom prst="roundRect">
            <a:avLst>
              <a:gd name="adj" fmla="val 50000"/>
            </a:avLst>
          </a:prstGeom>
          <a:solidFill>
            <a:srgbClr val="E8F0FE"/>
          </a:solidFill>
          <a:ln>
            <a:noFill/>
          </a:ln>
        </p:spPr>
        <p:txBody>
          <a:bodyPr rtlCol="0" anchor="ctr"/>
          <a:lstStyle/>
          <a:p>
            <a:pPr algn="ctr"/>
            <a:endParaRPr/>
          </a:p>
        </p:txBody>
      </p:sp>
      <p:sp>
        <p:nvSpPr>
          <p:cNvPr id="27" name="TextBox 26"/>
          <p:cNvSpPr txBox="1"/>
          <p:nvPr/>
        </p:nvSpPr>
        <p:spPr>
          <a:xfrm>
            <a:off x="5532120" y="5120640"/>
            <a:ext cx="1737360" cy="457200"/>
          </a:xfrm>
          <a:prstGeom prst="rect">
            <a:avLst/>
          </a:prstGeom>
          <a:noFill/>
        </p:spPr>
        <p:txBody>
          <a:bodyPr wrap="square" lIns="0" tIns="0" rIns="0" bIns="0" anchor="ctr">
            <a:spAutoFit/>
          </a:bodyPr>
          <a:lstStyle/>
          <a:p>
            <a:pPr algn="ctr">
              <a:lnSpc>
                <a:spcPts val="2000"/>
              </a:lnSpc>
            </a:pPr>
            <a:r>
              <a:rPr sz="1400" b="1">
                <a:solidFill>
                  <a:srgbClr val="1A73E8"/>
                </a:solidFill>
                <a:latin typeface="Google Sans"/>
              </a:rPr>
              <a:t>Cloud</a:t>
            </a:r>
          </a:p>
        </p:txBody>
      </p:sp>
      <p:sp>
        <p:nvSpPr>
          <p:cNvPr id="28" name="Rectangle 27"/>
          <p:cNvSpPr/>
          <p:nvPr/>
        </p:nvSpPr>
        <p:spPr>
          <a:xfrm>
            <a:off x="7452360" y="5120640"/>
            <a:ext cx="1737360" cy="457200"/>
          </a:xfrm>
          <a:prstGeom prst="roundRect">
            <a:avLst>
              <a:gd name="adj" fmla="val 50000"/>
            </a:avLst>
          </a:prstGeom>
          <a:solidFill>
            <a:srgbClr val="FEF7E0"/>
          </a:solidFill>
          <a:ln>
            <a:noFill/>
          </a:ln>
        </p:spPr>
        <p:txBody>
          <a:bodyPr rtlCol="0" anchor="ctr"/>
          <a:lstStyle/>
          <a:p>
            <a:pPr algn="ctr"/>
            <a:endParaRPr/>
          </a:p>
        </p:txBody>
      </p:sp>
      <p:sp>
        <p:nvSpPr>
          <p:cNvPr id="29" name="TextBox 28"/>
          <p:cNvSpPr txBox="1"/>
          <p:nvPr/>
        </p:nvSpPr>
        <p:spPr>
          <a:xfrm>
            <a:off x="7452360" y="5120640"/>
            <a:ext cx="1737360" cy="457200"/>
          </a:xfrm>
          <a:prstGeom prst="rect">
            <a:avLst/>
          </a:prstGeom>
          <a:noFill/>
        </p:spPr>
        <p:txBody>
          <a:bodyPr wrap="square" lIns="0" tIns="0" rIns="0" bIns="0" anchor="ctr">
            <a:spAutoFit/>
          </a:bodyPr>
          <a:lstStyle/>
          <a:p>
            <a:pPr algn="ctr">
              <a:lnSpc>
                <a:spcPts val="2000"/>
              </a:lnSpc>
            </a:pPr>
            <a:r>
              <a:rPr sz="1400" b="1">
                <a:solidFill>
                  <a:srgbClr val="B06000"/>
                </a:solidFill>
                <a:latin typeface="Google Sans"/>
              </a:rPr>
              <a:t>Data</a:t>
            </a:r>
          </a:p>
        </p:txBody>
      </p:sp>
      <p:sp>
        <p:nvSpPr>
          <p:cNvPr id="30" name="Rectangle 29"/>
          <p:cNvSpPr/>
          <p:nvPr/>
        </p:nvSpPr>
        <p:spPr>
          <a:xfrm>
            <a:off x="9372600" y="5120640"/>
            <a:ext cx="1737360" cy="457200"/>
          </a:xfrm>
          <a:prstGeom prst="roundRect">
            <a:avLst>
              <a:gd name="adj" fmla="val 50000"/>
            </a:avLst>
          </a:prstGeom>
          <a:solidFill>
            <a:srgbClr val="E6F4EA"/>
          </a:solidFill>
          <a:ln>
            <a:noFill/>
          </a:ln>
        </p:spPr>
        <p:txBody>
          <a:bodyPr rtlCol="0" anchor="ctr"/>
          <a:lstStyle/>
          <a:p>
            <a:pPr algn="ctr"/>
            <a:endParaRPr/>
          </a:p>
        </p:txBody>
      </p:sp>
      <p:sp>
        <p:nvSpPr>
          <p:cNvPr id="31" name="TextBox 30"/>
          <p:cNvSpPr txBox="1"/>
          <p:nvPr/>
        </p:nvSpPr>
        <p:spPr>
          <a:xfrm>
            <a:off x="9372600" y="5120640"/>
            <a:ext cx="1737360" cy="457200"/>
          </a:xfrm>
          <a:prstGeom prst="rect">
            <a:avLst/>
          </a:prstGeom>
          <a:noFill/>
        </p:spPr>
        <p:txBody>
          <a:bodyPr wrap="square" lIns="0" tIns="0" rIns="0" bIns="0" anchor="ctr">
            <a:spAutoFit/>
          </a:bodyPr>
          <a:lstStyle/>
          <a:p>
            <a:pPr algn="ctr">
              <a:lnSpc>
                <a:spcPts val="2000"/>
              </a:lnSpc>
            </a:pPr>
            <a:r>
              <a:rPr sz="1400" b="1">
                <a:solidFill>
                  <a:srgbClr val="137333"/>
                </a:solidFill>
                <a:latin typeface="Google Sans"/>
              </a:rPr>
              <a:t>AI</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Why you should register</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Four good reasons to grab a seat before they run out.</a:t>
            </a:r>
          </a:p>
        </p:txBody>
      </p:sp>
      <p:sp>
        <p:nvSpPr>
          <p:cNvPr id="8" name="Rectangle 7"/>
          <p:cNvSpPr/>
          <p:nvPr/>
        </p:nvSpPr>
        <p:spPr>
          <a:xfrm>
            <a:off x="813816" y="1965960"/>
            <a:ext cx="5193792" cy="15087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58568"/>
            <a:ext cx="64008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773936"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It's free</a:t>
            </a:r>
          </a:p>
        </p:txBody>
      </p:sp>
      <p:sp>
        <p:nvSpPr>
          <p:cNvPr id="12" name="TextBox 11"/>
          <p:cNvSpPr txBox="1"/>
          <p:nvPr/>
        </p:nvSpPr>
        <p:spPr>
          <a:xfrm>
            <a:off x="1773936"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Register and Google emails you an access code for free lab credits. Nothing to pay.</a:t>
            </a:r>
          </a:p>
        </p:txBody>
      </p:sp>
      <p:sp>
        <p:nvSpPr>
          <p:cNvPr id="13" name="Rectangle 12"/>
          <p:cNvSpPr/>
          <p:nvPr/>
        </p:nvSpPr>
        <p:spPr>
          <a:xfrm>
            <a:off x="6190488" y="1965960"/>
            <a:ext cx="5193792" cy="15087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6190488"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6464807" y="2258568"/>
            <a:ext cx="64008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7150607"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Real hands-on practice</a:t>
            </a:r>
          </a:p>
        </p:txBody>
      </p:sp>
      <p:sp>
        <p:nvSpPr>
          <p:cNvPr id="17" name="TextBox 16"/>
          <p:cNvSpPr txBox="1"/>
          <p:nvPr/>
        </p:nvSpPr>
        <p:spPr>
          <a:xfrm>
            <a:off x="7150607"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live Google Cloud consoles across Cloud, Data and AI, not just videos.</a:t>
            </a:r>
          </a:p>
        </p:txBody>
      </p:sp>
      <p:sp>
        <p:nvSpPr>
          <p:cNvPr id="18" name="Rectangle 17"/>
          <p:cNvSpPr/>
          <p:nvPr/>
        </p:nvSpPr>
        <p:spPr>
          <a:xfrm>
            <a:off x="813816" y="3657600"/>
            <a:ext cx="5193792" cy="150876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813816"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1088136" y="3950208"/>
            <a:ext cx="64008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1773936"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Proof recruiters can check</a:t>
            </a:r>
          </a:p>
        </p:txBody>
      </p:sp>
      <p:sp>
        <p:nvSpPr>
          <p:cNvPr id="22" name="TextBox 21"/>
          <p:cNvSpPr txBox="1"/>
          <p:nvPr/>
        </p:nvSpPr>
        <p:spPr>
          <a:xfrm>
            <a:off x="1773936"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Verifiable skill badges for your resume and LinkedIn, shown on your public profile.</a:t>
            </a:r>
          </a:p>
        </p:txBody>
      </p:sp>
      <p:sp>
        <p:nvSpPr>
          <p:cNvPr id="23" name="Rectangle 22"/>
          <p:cNvSpPr/>
          <p:nvPr/>
        </p:nvSpPr>
        <p:spPr>
          <a:xfrm>
            <a:off x="6190488" y="3657600"/>
            <a:ext cx="5193792" cy="150876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6190488"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6464807" y="3950208"/>
            <a:ext cx="64008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7150607"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Swag along the way</a:t>
            </a:r>
          </a:p>
        </p:txBody>
      </p:sp>
      <p:sp>
        <p:nvSpPr>
          <p:cNvPr id="27" name="TextBox 26"/>
          <p:cNvSpPr txBox="1"/>
          <p:nvPr/>
        </p:nvSpPr>
        <p:spPr>
          <a:xfrm>
            <a:off x="7150607"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A water bottle at 5 badges, and a Developer Kit with a T-shirt at 10.</a:t>
            </a:r>
          </a:p>
        </p:txBody>
      </p:sp>
      <p:sp>
        <p:nvSpPr>
          <p:cNvPr id="28" name="Rectangle 27"/>
          <p:cNvSpPr/>
          <p:nvPr/>
        </p:nvSpPr>
        <p:spPr>
          <a:xfrm>
            <a:off x="813816" y="5440680"/>
            <a:ext cx="10570464" cy="640080"/>
          </a:xfrm>
          <a:prstGeom prst="roundRect">
            <a:avLst>
              <a:gd name="adj" fmla="val 17000"/>
            </a:avLst>
          </a:prstGeom>
          <a:solidFill>
            <a:srgbClr val="E8F0FE"/>
          </a:solidFill>
          <a:ln>
            <a:noFill/>
          </a:ln>
        </p:spPr>
        <p:txBody>
          <a:bodyPr rtlCol="0" anchor="ctr"/>
          <a:lstStyle/>
          <a:p>
            <a:pPr algn="ctr"/>
            <a:endParaRPr/>
          </a:p>
        </p:txBody>
      </p:sp>
      <p:sp>
        <p:nvSpPr>
          <p:cNvPr id="29" name="TextBox 28"/>
          <p:cNvSpPr txBox="1"/>
          <p:nvPr/>
        </p:nvSpPr>
        <p:spPr>
          <a:xfrm>
            <a:off x="1097280" y="5440680"/>
            <a:ext cx="10058400" cy="640080"/>
          </a:xfrm>
          <a:prstGeom prst="rect">
            <a:avLst/>
          </a:prstGeom>
          <a:noFill/>
        </p:spPr>
        <p:txBody>
          <a:bodyPr wrap="square" lIns="0" tIns="0" rIns="0" bIns="0" anchor="ctr">
            <a:spAutoFit/>
          </a:bodyPr>
          <a:lstStyle/>
          <a:p>
            <a:pPr>
              <a:lnSpc>
                <a:spcPts val="1900"/>
              </a:lnSpc>
            </a:pPr>
            <a:r>
              <a:rPr sz="1400" b="1">
                <a:solidFill>
                  <a:srgbClr val="1A73E8"/>
                </a:solidFill>
                <a:latin typeface="Google Sans"/>
              </a:rPr>
              <a:t>Seats are limited and close once full. </a:t>
            </a:r>
            <a:r>
              <a:rPr sz="1400" b="0">
                <a:solidFill>
                  <a:srgbClr val="3C4043"/>
                </a:solidFill>
                <a:latin typeface="Google Sans"/>
              </a:rPr>
              <a:t>Register by 31 Oct 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Rewards &amp; milestones</a:t>
            </a:r>
            <a:endParaRPr lang="en-US" sz="3200" dirty="0"/>
          </a:p>
        </p:txBody>
      </p:sp>
      <p:sp>
        <p:nvSpPr>
          <p:cNvPr id="7" name="TextBox 6"/>
          <p:cNvSpPr txBox="1"/>
          <p:nvPr/>
        </p:nvSpPr>
        <p:spPr>
          <a:xfrm>
            <a:off x="813816" y="1371600"/>
            <a:ext cx="10570464" cy="50292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Every skill badge counts. Keep your Google Skills profile </a:t>
            </a:r>
            <a:r>
              <a:rPr sz="1400" b="1">
                <a:solidFill>
                  <a:srgbClr val="3C4043"/>
                </a:solidFill>
                <a:latin typeface="Google Sans"/>
              </a:rPr>
              <a:t>public</a:t>
            </a:r>
            <a:r>
              <a:rPr sz="1400" b="0">
                <a:solidFill>
                  <a:srgbClr val="3C4043"/>
                </a:solidFill>
                <a:latin typeface="Google Sans"/>
              </a:rPr>
              <a:t> for the whole program.</a:t>
            </a:r>
          </a:p>
        </p:txBody>
      </p:sp>
      <p:sp>
        <p:nvSpPr>
          <p:cNvPr id="8" name="Rectangle 7"/>
          <p:cNvSpPr/>
          <p:nvPr/>
        </p:nvSpPr>
        <p:spPr>
          <a:xfrm>
            <a:off x="813816" y="2011680"/>
            <a:ext cx="4754880" cy="33832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4754880" cy="3383280"/>
          </a:xfrm>
          <a:custGeom>
            <a:avLst/>
            <a:gdLst/>
            <a:ahLst/>
            <a:cxnLst/>
            <a:rect l="l" t="t" r="r" b="b"/>
            <a:pathLst>
              <a:path w="4754880" h="3383280">
                <a:moveTo>
                  <a:pt x="0" y="152400"/>
                </a:moveTo>
                <a:lnTo>
                  <a:pt x="0" y="152400"/>
                </a:lnTo>
                <a:arcTo wR="152400" hR="152400" stAng="10800000" swAng="5400000"/>
                <a:lnTo>
                  <a:pt x="4602480" y="0"/>
                </a:lnTo>
                <a:arcTo wR="152400" hR="152400" stAng="16200000" swAng="5400000"/>
                <a:lnTo>
                  <a:pt x="4754880"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Rectangle 9"/>
          <p:cNvSpPr/>
          <p:nvPr/>
        </p:nvSpPr>
        <p:spPr>
          <a:xfrm>
            <a:off x="5751576" y="2011680"/>
            <a:ext cx="5632704" cy="3383280"/>
          </a:xfrm>
          <a:prstGeom prst="roundRect">
            <a:avLst>
              <a:gd name="adj" fmla="val 6645"/>
            </a:avLst>
          </a:prstGeom>
          <a:solidFill>
            <a:srgbClr val="E6F4EA"/>
          </a:solidFill>
          <a:ln>
            <a:noFill/>
          </a:ln>
        </p:spPr>
        <p:txBody>
          <a:bodyPr rtlCol="0" anchor="ctr"/>
          <a:lstStyle/>
          <a:p>
            <a:pPr algn="ctr"/>
            <a:endParaRPr/>
          </a:p>
        </p:txBody>
      </p:sp>
      <p:sp>
        <p:nvSpPr>
          <p:cNvPr id="11" name="Rectangle 10"/>
          <p:cNvSpPr/>
          <p:nvPr/>
        </p:nvSpPr>
        <p:spPr>
          <a:xfrm>
            <a:off x="5751576" y="2011680"/>
            <a:ext cx="5632704" cy="3383280"/>
          </a:xfrm>
          <a:custGeom>
            <a:avLst/>
            <a:gdLst/>
            <a:ahLst/>
            <a:cxnLst/>
            <a:rect l="l" t="t" r="r" b="b"/>
            <a:pathLst>
              <a:path w="5632704" h="3383280">
                <a:moveTo>
                  <a:pt x="0" y="152400"/>
                </a:moveTo>
                <a:lnTo>
                  <a:pt x="0" y="152400"/>
                </a:lnTo>
                <a:arcTo wR="152400" hR="152400" stAng="10800000" swAng="5400000"/>
                <a:lnTo>
                  <a:pt x="5480304" y="0"/>
                </a:lnTo>
                <a:arcTo wR="152400" hR="152400" stAng="16200000" swAng="5400000"/>
                <a:lnTo>
                  <a:pt x="5632704"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pic>
        <p:nvPicPr>
          <p:cNvPr id="12" name="Picture 11" descr="Illustration of a Google Cloud water bottle"/>
          <p:cNvPicPr>
            <a:picLocks noChangeAspect="1"/>
          </p:cNvPicPr>
          <p:nvPr/>
        </p:nvPicPr>
        <p:blipFill>
          <a:blip r:embed="rId7"/>
          <a:stretch>
            <a:fillRect/>
          </a:stretch>
        </p:blipFill>
        <p:spPr>
          <a:xfrm>
            <a:off x="2756916" y="2286000"/>
            <a:ext cx="938463" cy="1783080"/>
          </a:xfrm>
          <a:prstGeom prst="rect">
            <a:avLst/>
          </a:prstGeom>
        </p:spPr>
      </p:pic>
      <p:pic>
        <p:nvPicPr>
          <p:cNvPr id="13" name="Picture 12" descr="Illustration of a Developer Kit box"/>
          <p:cNvPicPr>
            <a:picLocks noChangeAspect="1"/>
          </p:cNvPicPr>
          <p:nvPr/>
        </p:nvPicPr>
        <p:blipFill>
          <a:blip r:embed="rId8"/>
          <a:stretch>
            <a:fillRect/>
          </a:stretch>
        </p:blipFill>
        <p:spPr>
          <a:xfrm>
            <a:off x="6254496" y="2423160"/>
            <a:ext cx="1809607" cy="1508760"/>
          </a:xfrm>
          <a:prstGeom prst="rect">
            <a:avLst/>
          </a:prstGeom>
        </p:spPr>
      </p:pic>
      <p:pic>
        <p:nvPicPr>
          <p:cNvPr id="14" name="Picture 13" descr="Illustration of a T-shirt"/>
          <p:cNvPicPr>
            <a:picLocks noChangeAspect="1"/>
          </p:cNvPicPr>
          <p:nvPr/>
        </p:nvPicPr>
        <p:blipFill>
          <a:blip r:embed="rId9"/>
          <a:stretch>
            <a:fillRect/>
          </a:stretch>
        </p:blipFill>
        <p:spPr>
          <a:xfrm>
            <a:off x="8494776" y="2377440"/>
            <a:ext cx="1693333" cy="1600200"/>
          </a:xfrm>
          <a:prstGeom prst="rect">
            <a:avLst/>
          </a:prstGeom>
        </p:spPr>
      </p:pic>
      <p:sp>
        <p:nvSpPr>
          <p:cNvPr id="15" name="TextBox 14"/>
          <p:cNvSpPr txBox="1"/>
          <p:nvPr/>
        </p:nvSpPr>
        <p:spPr>
          <a:xfrm>
            <a:off x="1133856" y="4297680"/>
            <a:ext cx="914400" cy="731520"/>
          </a:xfrm>
          <a:prstGeom prst="rect">
            <a:avLst/>
          </a:prstGeom>
          <a:noFill/>
        </p:spPr>
        <p:txBody>
          <a:bodyPr wrap="square" lIns="0" tIns="0" rIns="0" bIns="0" anchor="t">
            <a:spAutoFit/>
          </a:bodyPr>
          <a:lstStyle/>
          <a:p>
            <a:pPr>
              <a:lnSpc>
                <a:spcPts val="4850"/>
              </a:lnSpc>
            </a:pPr>
            <a:r>
              <a:rPr sz="4400" b="1">
                <a:solidFill>
                  <a:srgbClr val="1A73E8"/>
                </a:solidFill>
                <a:latin typeface="Google Sans"/>
              </a:rPr>
              <a:t>5</a:t>
            </a:r>
          </a:p>
        </p:txBody>
      </p:sp>
      <p:sp>
        <p:nvSpPr>
          <p:cNvPr id="16" name="TextBox 15"/>
          <p:cNvSpPr txBox="1"/>
          <p:nvPr/>
        </p:nvSpPr>
        <p:spPr>
          <a:xfrm>
            <a:off x="2002536" y="4370832"/>
            <a:ext cx="329184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Water bottle</a:t>
            </a:r>
          </a:p>
        </p:txBody>
      </p:sp>
      <p:sp>
        <p:nvSpPr>
          <p:cNvPr id="17" name="TextBox 16"/>
          <p:cNvSpPr txBox="1"/>
          <p:nvPr/>
        </p:nvSpPr>
        <p:spPr>
          <a:xfrm>
            <a:off x="2002536" y="4736592"/>
            <a:ext cx="329184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Your first milestone, a branded Google Cloud bottle.</a:t>
            </a:r>
          </a:p>
        </p:txBody>
      </p:sp>
      <p:sp>
        <p:nvSpPr>
          <p:cNvPr id="18" name="TextBox 17"/>
          <p:cNvSpPr txBox="1"/>
          <p:nvPr/>
        </p:nvSpPr>
        <p:spPr>
          <a:xfrm>
            <a:off x="6071616" y="4297680"/>
            <a:ext cx="1097280" cy="731520"/>
          </a:xfrm>
          <a:prstGeom prst="rect">
            <a:avLst/>
          </a:prstGeom>
          <a:noFill/>
        </p:spPr>
        <p:txBody>
          <a:bodyPr wrap="square" lIns="0" tIns="0" rIns="0" bIns="0" anchor="t">
            <a:spAutoFit/>
          </a:bodyPr>
          <a:lstStyle/>
          <a:p>
            <a:pPr>
              <a:lnSpc>
                <a:spcPts val="4850"/>
              </a:lnSpc>
            </a:pPr>
            <a:r>
              <a:rPr sz="4400" b="1">
                <a:solidFill>
                  <a:srgbClr val="137333"/>
                </a:solidFill>
                <a:latin typeface="Google Sans"/>
              </a:rPr>
              <a:t>10</a:t>
            </a:r>
          </a:p>
        </p:txBody>
      </p:sp>
      <p:sp>
        <p:nvSpPr>
          <p:cNvPr id="19" name="TextBox 18"/>
          <p:cNvSpPr txBox="1"/>
          <p:nvPr/>
        </p:nvSpPr>
        <p:spPr>
          <a:xfrm>
            <a:off x="7123176" y="4370832"/>
            <a:ext cx="402336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Developer Kit + T-shirt</a:t>
            </a:r>
          </a:p>
        </p:txBody>
      </p:sp>
      <p:sp>
        <p:nvSpPr>
          <p:cNvPr id="20" name="TextBox 19"/>
          <p:cNvSpPr txBox="1"/>
          <p:nvPr/>
        </p:nvSpPr>
        <p:spPr>
          <a:xfrm>
            <a:off x="7123176" y="4736592"/>
            <a:ext cx="402336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The exclusive kit, with a T-shirt, for 10 badges.</a:t>
            </a:r>
          </a:p>
        </p:txBody>
      </p:sp>
      <p:sp>
        <p:nvSpPr>
          <p:cNvPr id="21" name="Rectangle 20"/>
          <p:cNvSpPr/>
          <p:nvPr/>
        </p:nvSpPr>
        <p:spPr>
          <a:xfrm>
            <a:off x="813816" y="5623560"/>
            <a:ext cx="10570464" cy="640080"/>
          </a:xfrm>
          <a:prstGeom prst="roundRect">
            <a:avLst>
              <a:gd name="adj" fmla="val 17000"/>
            </a:avLst>
          </a:prstGeom>
          <a:solidFill>
            <a:srgbClr val="F8F9FA"/>
          </a:solidFill>
          <a:ln>
            <a:noFill/>
          </a:ln>
        </p:spPr>
        <p:txBody>
          <a:bodyPr rtlCol="0" anchor="ctr"/>
          <a:lstStyle/>
          <a:p>
            <a:pPr algn="ctr"/>
            <a:endParaRPr/>
          </a:p>
        </p:txBody>
      </p:sp>
      <p:sp>
        <p:nvSpPr>
          <p:cNvPr id="22" name="TextBox 21"/>
          <p:cNvSpPr txBox="1"/>
          <p:nvPr/>
        </p:nvSpPr>
        <p:spPr>
          <a:xfrm>
            <a:off x="1097280" y="5623560"/>
            <a:ext cx="10058400" cy="64008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Every badge is a verifiable credential </a:t>
            </a:r>
            <a:r>
              <a:rPr sz="1200" b="0">
                <a:solidFill>
                  <a:srgbClr val="3C4043"/>
                </a:solidFill>
                <a:latin typeface="Google Sans"/>
              </a:rPr>
              <a:t>for your resume and LinkedIn. Only badges earned during the program count.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Before you register: set up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registration form asks for your </a:t>
            </a:r>
            <a:r>
              <a:rPr lang="en-US" sz="1400" b="1" dirty="0">
                <a:solidFill>
                  <a:srgbClr val="3C4043"/>
                </a:solidFill>
                <a:latin typeface="Google Sans" pitchFamily="34" charset="0"/>
                <a:ea typeface="Google Sans" pitchFamily="34" charset="-122"/>
                <a:cs typeface="Google Sans" pitchFamily="34" charset="-120"/>
              </a:rPr>
              <a:t>public Google Skills profile URL</a:t>
            </a:r>
            <a:r>
              <a:rPr lang="en-US" sz="1400" dirty="0">
                <a:solidFill>
                  <a:srgbClr val="3C4043"/>
                </a:solidFill>
                <a:latin typeface="Google Sans" pitchFamily="34" charset="0"/>
                <a:ea typeface="Google Sans" pitchFamily="34" charset="-122"/>
                <a:cs typeface="Google Sans" pitchFamily="34" charset="-120"/>
              </a:rPr>
              <a:t>, so finish these steps first. It takes about five minutes.</a:t>
            </a:r>
            <a:endParaRPr lang="en-US" sz="1400" dirty="0"/>
          </a:p>
        </p:txBody>
      </p:sp>
      <p:sp>
        <p:nvSpPr>
          <p:cNvPr id="8" name="Shape 2"/>
          <p:cNvSpPr/>
          <p:nvPr/>
        </p:nvSpPr>
        <p:spPr>
          <a:xfrm>
            <a:off x="812788" y="2011680"/>
            <a:ext cx="10566424" cy="1005840"/>
          </a:xfrm>
          <a:prstGeom prst="roundRect">
            <a:avLst>
              <a:gd name="adj" fmla="val 16484"/>
            </a:avLst>
          </a:prstGeom>
          <a:solidFill>
            <a:srgbClr val="E8F0FE"/>
          </a:solidFill>
          <a:ln/>
        </p:spPr>
      </p:sp>
      <p:sp>
        <p:nvSpPr>
          <p:cNvPr id="9" name="Text 3"/>
          <p:cNvSpPr/>
          <p:nvPr/>
        </p:nvSpPr>
        <p:spPr>
          <a:xfrm>
            <a:off x="1066788" y="2212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76301" y="2194560"/>
            <a:ext cx="8865123"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Create or sign in to your account</a:t>
            </a:r>
            <a:endParaRPr lang="en-US" sz="1600" dirty="0"/>
          </a:p>
        </p:txBody>
      </p:sp>
      <p:sp>
        <p:nvSpPr>
          <p:cNvPr id="11" name="Text 5"/>
          <p:cNvSpPr/>
          <p:nvPr/>
        </p:nvSpPr>
        <p:spPr>
          <a:xfrm>
            <a:off x="1676301" y="2514600"/>
            <a:ext cx="9702911"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t>
            </a: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r>
              <a:rPr lang="en-US" sz="1200" dirty="0">
                <a:solidFill>
                  <a:srgbClr val="3C4043"/>
                </a:solidFill>
                <a:latin typeface="Google Sans" pitchFamily="34" charset="0"/>
                <a:ea typeface="Google Sans" pitchFamily="34" charset="-122"/>
                <a:cs typeface="Google Sans" pitchFamily="34" charset="-120"/>
              </a:rPr>
              <a:t>. Google Skills is the new name for Google Cloud Skills Boost, where all labs and badges live.</a:t>
            </a:r>
            <a:endParaRPr lang="en-US" sz="1200" dirty="0"/>
          </a:p>
        </p:txBody>
      </p:sp>
      <p:sp>
        <p:nvSpPr>
          <p:cNvPr id="12" name="Shape 6"/>
          <p:cNvSpPr/>
          <p:nvPr/>
        </p:nvSpPr>
        <p:spPr>
          <a:xfrm>
            <a:off x="812788" y="3154680"/>
            <a:ext cx="10566424" cy="1005840"/>
          </a:xfrm>
          <a:prstGeom prst="roundRect">
            <a:avLst>
              <a:gd name="adj" fmla="val 16484"/>
            </a:avLst>
          </a:prstGeom>
          <a:solidFill>
            <a:srgbClr val="FCE8E6"/>
          </a:solidFill>
          <a:ln/>
        </p:spPr>
      </p:sp>
      <p:sp>
        <p:nvSpPr>
          <p:cNvPr id="13" name="Text 7"/>
          <p:cNvSpPr/>
          <p:nvPr/>
        </p:nvSpPr>
        <p:spPr>
          <a:xfrm>
            <a:off x="1066788" y="3355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76301" y="3337560"/>
            <a:ext cx="7219012"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Make your profile Public and copy the URL</a:t>
            </a:r>
            <a:endParaRPr lang="en-US" sz="1600" dirty="0"/>
          </a:p>
        </p:txBody>
      </p:sp>
      <p:sp>
        <p:nvSpPr>
          <p:cNvPr id="15" name="Text 9"/>
          <p:cNvSpPr/>
          <p:nvPr/>
        </p:nvSpPr>
        <p:spPr>
          <a:xfrm>
            <a:off x="1676301" y="3657600"/>
            <a:ext cx="8410500"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public profile lets Google verify your badges. Not sure where the URL is? </a:t>
            </a:r>
            <a:r>
              <a:rPr lang="en-US" sz="1200" u="sng" dirty="0">
                <a:solidFill>
                  <a:srgbClr val="C5221F"/>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the step-by-step video</a:t>
            </a:r>
            <a:r>
              <a:rPr lang="en-US" sz="1200" dirty="0">
                <a:solidFill>
                  <a:srgbClr val="3C4043"/>
                </a:solidFill>
                <a:latin typeface="Google Sans" pitchFamily="34" charset="0"/>
                <a:ea typeface="Google Sans" pitchFamily="34" charset="-122"/>
                <a:cs typeface="Google Sans" pitchFamily="34" charset="-120"/>
              </a:rPr>
              <a:t>.</a:t>
            </a:r>
            <a:endParaRPr lang="en-US" sz="1200" dirty="0"/>
          </a:p>
        </p:txBody>
      </p:sp>
      <p:sp>
        <p:nvSpPr>
          <p:cNvPr id="16" name="Shape 10"/>
          <p:cNvSpPr/>
          <p:nvPr/>
        </p:nvSpPr>
        <p:spPr>
          <a:xfrm>
            <a:off x="812788" y="4297680"/>
            <a:ext cx="10566424" cy="1005840"/>
          </a:xfrm>
          <a:prstGeom prst="roundRect">
            <a:avLst>
              <a:gd name="adj" fmla="val 14320"/>
            </a:avLst>
          </a:prstGeom>
          <a:solidFill>
            <a:srgbClr val="FEF7E0"/>
          </a:solidFill>
          <a:ln/>
        </p:spPr>
      </p:sp>
      <p:sp>
        <p:nvSpPr>
          <p:cNvPr id="17" name="Text 11"/>
          <p:cNvSpPr/>
          <p:nvPr/>
        </p:nvSpPr>
        <p:spPr>
          <a:xfrm>
            <a:off x="1066788" y="4498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76301" y="4480560"/>
            <a:ext cx="9732378"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Start fresh if you've done labs before</a:t>
            </a:r>
            <a:endParaRPr lang="en-US" sz="1600" dirty="0"/>
          </a:p>
        </p:txBody>
      </p:sp>
      <p:sp>
        <p:nvSpPr>
          <p:cNvPr id="19" name="Text 13"/>
          <p:cNvSpPr/>
          <p:nvPr/>
        </p:nvSpPr>
        <p:spPr>
          <a:xfrm>
            <a:off x="1676301" y="4800600"/>
            <a:ext cx="9732378"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Only badges earned during the program count toward rewards. If you've already completed parts of the curriculum, Google recommends a new account.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How to register (limited seats)</a:t>
            </a:r>
            <a:endParaRPr lang="en-US" sz="3200" dirty="0"/>
          </a:p>
        </p:txBody>
      </p:sp>
      <p:sp>
        <p:nvSpPr>
          <p:cNvPr id="7" name="TextBox 6"/>
          <p:cNvSpPr txBox="1"/>
          <p:nvPr/>
        </p:nvSpPr>
        <p:spPr>
          <a:xfrm>
            <a:off x="813816" y="1371600"/>
            <a:ext cx="10570464" cy="54864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Seats are </a:t>
            </a:r>
            <a:r>
              <a:rPr sz="1400" b="1">
                <a:solidFill>
                  <a:srgbClr val="3C4043"/>
                </a:solidFill>
                <a:latin typeface="Google Sans"/>
              </a:rPr>
              <a:t>first come, first served</a:t>
            </a:r>
            <a:r>
              <a:rPr sz="1400" b="0">
                <a:solidFill>
                  <a:srgbClr val="3C4043"/>
                </a:solidFill>
                <a:latin typeface="Google Sans"/>
              </a:rPr>
              <a:t> and close once full. Keep your public profile URL and the referral code ready.</a:t>
            </a:r>
          </a:p>
        </p:txBody>
      </p:sp>
      <p:sp>
        <p:nvSpPr>
          <p:cNvPr id="8" name="Rectangle 7"/>
          <p:cNvSpPr/>
          <p:nvPr/>
        </p:nvSpPr>
        <p:spPr>
          <a:xfrm>
            <a:off x="813816" y="2103120"/>
            <a:ext cx="2532888" cy="17830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42416" y="2340863"/>
            <a:ext cx="210312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042416"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Open the form</a:t>
            </a:r>
          </a:p>
        </p:txBody>
      </p:sp>
      <p:sp>
        <p:nvSpPr>
          <p:cNvPr id="12" name="TextBox 11"/>
          <p:cNvSpPr txBox="1"/>
          <p:nvPr/>
        </p:nvSpPr>
        <p:spPr>
          <a:xfrm>
            <a:off x="1042416" y="3154679"/>
            <a:ext cx="2103120" cy="640080"/>
          </a:xfrm>
          <a:prstGeom prst="rect">
            <a:avLst/>
          </a:prstGeom>
          <a:noFill/>
        </p:spPr>
        <p:txBody>
          <a:bodyPr wrap="square" lIns="0" tIns="0" rIns="0" bIns="0" anchor="t">
            <a:spAutoFit/>
          </a:bodyPr>
          <a:lstStyle/>
          <a:p>
            <a:pPr>
              <a:lnSpc>
                <a:spcPts val="1600"/>
              </a:lnSpc>
            </a:pPr>
            <a:r>
              <a:rPr sz="1000" b="0" u="sng">
                <a:solidFill>
                  <a:srgbClr val="1A73E8"/>
                </a:solidFill>
                <a:latin typeface="Google Sans"/>
                <a:hlinkClick r:id="rId7"/>
              </a:rPr>
              <a:t>forms.gle/VDXwE13LoaNhA2VeA</a:t>
            </a:r>
          </a:p>
        </p:txBody>
      </p:sp>
      <p:sp>
        <p:nvSpPr>
          <p:cNvPr id="13" name="Rectangle 12"/>
          <p:cNvSpPr/>
          <p:nvPr/>
        </p:nvSpPr>
        <p:spPr>
          <a:xfrm>
            <a:off x="3493008" y="2103120"/>
            <a:ext cx="2532888" cy="178308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3493008"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3721608" y="2340863"/>
            <a:ext cx="210312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3721608"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Submit your details</a:t>
            </a:r>
          </a:p>
        </p:txBody>
      </p:sp>
      <p:sp>
        <p:nvSpPr>
          <p:cNvPr id="17" name="TextBox 16"/>
          <p:cNvSpPr txBox="1"/>
          <p:nvPr/>
        </p:nvSpPr>
        <p:spPr>
          <a:xfrm>
            <a:off x="3721608"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Add your info and your public profile URL.</a:t>
            </a:r>
          </a:p>
        </p:txBody>
      </p:sp>
      <p:sp>
        <p:nvSpPr>
          <p:cNvPr id="18" name="Rectangle 17"/>
          <p:cNvSpPr/>
          <p:nvPr/>
        </p:nvSpPr>
        <p:spPr>
          <a:xfrm>
            <a:off x="6172200" y="2103120"/>
            <a:ext cx="2532888" cy="178308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6172200"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6400800" y="2340863"/>
            <a:ext cx="210312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6400800"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Add referral code</a:t>
            </a:r>
          </a:p>
        </p:txBody>
      </p:sp>
      <p:sp>
        <p:nvSpPr>
          <p:cNvPr id="22" name="TextBox 21"/>
          <p:cNvSpPr txBox="1"/>
          <p:nvPr/>
        </p:nvSpPr>
        <p:spPr>
          <a:xfrm>
            <a:off x="6400800"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Enter GDGC-APSIT.</a:t>
            </a:r>
          </a:p>
        </p:txBody>
      </p:sp>
      <p:sp>
        <p:nvSpPr>
          <p:cNvPr id="23" name="Rectangle 22"/>
          <p:cNvSpPr/>
          <p:nvPr/>
        </p:nvSpPr>
        <p:spPr>
          <a:xfrm>
            <a:off x="8851392" y="2103120"/>
            <a:ext cx="2532888" cy="178308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8851392"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9079992" y="2340863"/>
            <a:ext cx="210312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9079992"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Lock in your seat</a:t>
            </a:r>
          </a:p>
        </p:txBody>
      </p:sp>
      <p:sp>
        <p:nvSpPr>
          <p:cNvPr id="27" name="TextBox 26"/>
          <p:cNvSpPr txBox="1"/>
          <p:nvPr/>
        </p:nvSpPr>
        <p:spPr>
          <a:xfrm>
            <a:off x="9079992"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Submit before 31 Oct 2026, or sooner if seats fill.</a:t>
            </a:r>
          </a:p>
        </p:txBody>
      </p:sp>
      <p:sp>
        <p:nvSpPr>
          <p:cNvPr id="28" name="Rectangle 27"/>
          <p:cNvSpPr/>
          <p:nvPr/>
        </p:nvSpPr>
        <p:spPr>
          <a:xfrm>
            <a:off x="813816" y="4206240"/>
            <a:ext cx="10570464" cy="2011680"/>
          </a:xfrm>
          <a:prstGeom prst="roundRect">
            <a:avLst>
              <a:gd name="adj" fmla="val 6645"/>
            </a:avLst>
          </a:prstGeom>
          <a:solidFill>
            <a:srgbClr val="FEF7E0"/>
          </a:solidFill>
          <a:ln>
            <a:noFill/>
          </a:ln>
        </p:spPr>
        <p:txBody>
          <a:bodyPr rtlCol="0" anchor="ctr"/>
          <a:lstStyle/>
          <a:p>
            <a:pPr algn="ctr"/>
            <a:endParaRPr/>
          </a:p>
        </p:txBody>
      </p:sp>
      <p:sp>
        <p:nvSpPr>
          <p:cNvPr id="29" name="Rectangle 28"/>
          <p:cNvSpPr/>
          <p:nvPr/>
        </p:nvSpPr>
        <p:spPr>
          <a:xfrm>
            <a:off x="813816" y="4206240"/>
            <a:ext cx="10570464" cy="2011680"/>
          </a:xfrm>
          <a:custGeom>
            <a:avLst/>
            <a:gdLst/>
            <a:ahLst/>
            <a:cxnLst/>
            <a:rect l="l" t="t" r="r" b="b"/>
            <a:pathLst>
              <a:path w="10570464" h="2011680">
                <a:moveTo>
                  <a:pt x="0" y="152400"/>
                </a:moveTo>
                <a:lnTo>
                  <a:pt x="0" y="152400"/>
                </a:lnTo>
                <a:arcTo wR="152400" hR="152400" stAng="10800000" swAng="5400000"/>
                <a:lnTo>
                  <a:pt x="10418064" y="0"/>
                </a:lnTo>
                <a:arcTo wR="152400" hR="152400" stAng="16200000" swAng="5400000"/>
                <a:lnTo>
                  <a:pt x="10570464"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30" name="TextBox 29"/>
          <p:cNvSpPr txBox="1"/>
          <p:nvPr/>
        </p:nvSpPr>
        <p:spPr>
          <a:xfrm>
            <a:off x="1097280" y="4434840"/>
            <a:ext cx="9966960" cy="256032"/>
          </a:xfrm>
          <a:prstGeom prst="rect">
            <a:avLst/>
          </a:prstGeom>
          <a:noFill/>
        </p:spPr>
        <p:txBody>
          <a:bodyPr wrap="square" lIns="0" tIns="0" rIns="0" bIns="0" anchor="t">
            <a:spAutoFit/>
          </a:bodyPr>
          <a:lstStyle/>
          <a:p>
            <a:pPr>
              <a:lnSpc>
                <a:spcPts val="1850"/>
              </a:lnSpc>
            </a:pPr>
            <a:r>
              <a:rPr sz="1300" b="1">
                <a:solidFill>
                  <a:srgbClr val="B06000"/>
                </a:solidFill>
                <a:latin typeface="Google Sans"/>
              </a:rPr>
              <a:t>DON'T SKIP THIS STEP</a:t>
            </a:r>
          </a:p>
        </p:txBody>
      </p:sp>
      <p:sp>
        <p:nvSpPr>
          <p:cNvPr id="33" name="Rectangle 32"/>
          <p:cNvSpPr/>
          <p:nvPr/>
        </p:nvSpPr>
        <p:spPr>
          <a:xfrm>
            <a:off x="1097280" y="4846320"/>
            <a:ext cx="4206240" cy="1097280"/>
          </a:xfrm>
          <a:prstGeom prst="roundRect">
            <a:avLst>
              <a:gd name="adj" fmla="val 30000"/>
            </a:avLst>
          </a:prstGeom>
          <a:solidFill>
            <a:srgbClr val="FFFFFF"/>
          </a:solidFill>
          <a:ln>
            <a:noFill/>
          </a:ln>
        </p:spPr>
        <p:txBody>
          <a:bodyPr rtlCol="0" anchor="ctr"/>
          <a:lstStyle/>
          <a:p>
            <a:pPr algn="ctr"/>
            <a:endParaRPr/>
          </a:p>
        </p:txBody>
      </p:sp>
      <p:sp>
        <p:nvSpPr>
          <p:cNvPr id="34" name="TextBox 33"/>
          <p:cNvSpPr txBox="1"/>
          <p:nvPr/>
        </p:nvSpPr>
        <p:spPr>
          <a:xfrm>
            <a:off x="1097280" y="4983480"/>
            <a:ext cx="4206240" cy="201168"/>
          </a:xfrm>
          <a:prstGeom prst="rect">
            <a:avLst/>
          </a:prstGeom>
          <a:noFill/>
        </p:spPr>
        <p:txBody>
          <a:bodyPr wrap="square" lIns="0" tIns="0" rIns="0" bIns="0" anchor="t">
            <a:spAutoFit/>
          </a:bodyPr>
          <a:lstStyle/>
          <a:p>
            <a:pPr algn="ctr">
              <a:lnSpc>
                <a:spcPts val="1200"/>
              </a:lnSpc>
            </a:pPr>
            <a:r>
              <a:rPr sz="1000" b="1">
                <a:solidFill>
                  <a:srgbClr val="B06000"/>
                </a:solidFill>
                <a:latin typeface="Google Sans"/>
              </a:rPr>
              <a:t>REFERRAL CODE</a:t>
            </a:r>
          </a:p>
        </p:txBody>
      </p:sp>
      <p:sp>
        <p:nvSpPr>
          <p:cNvPr id="35" name="TextBox 34"/>
          <p:cNvSpPr txBox="1"/>
          <p:nvPr/>
        </p:nvSpPr>
        <p:spPr>
          <a:xfrm>
            <a:off x="1097280" y="5285232"/>
            <a:ext cx="4206240" cy="502920"/>
          </a:xfrm>
          <a:prstGeom prst="rect">
            <a:avLst/>
          </a:prstGeom>
          <a:noFill/>
        </p:spPr>
        <p:txBody>
          <a:bodyPr wrap="square" lIns="0" tIns="0" rIns="0" bIns="0" anchor="t">
            <a:spAutoFit/>
          </a:bodyPr>
          <a:lstStyle/>
          <a:p>
            <a:pPr algn="ctr">
              <a:lnSpc>
                <a:spcPts val="4200"/>
              </a:lnSpc>
            </a:pPr>
            <a:r>
              <a:rPr sz="3600" b="1">
                <a:solidFill>
                  <a:srgbClr val="202124"/>
                </a:solidFill>
                <a:latin typeface="Google Sans"/>
              </a:rPr>
              <a:t>GDGC-APSIT</a:t>
            </a:r>
          </a:p>
        </p:txBody>
      </p:sp>
      <p:sp>
        <p:nvSpPr>
          <p:cNvPr id="90" name="Referral helper"/>
          <p:cNvSpPr txBox="1"/>
          <p:nvPr/>
        </p:nvSpPr>
        <p:spPr>
          <a:xfrm>
            <a:off x="5669280" y="4846320"/>
            <a:ext cx="5394960" cy="1097280"/>
          </a:xfrm>
          <a:prstGeom prst="rect">
            <a:avLst/>
          </a:prstGeom>
          <a:noFill/>
        </p:spPr>
        <p:txBody>
          <a:bodyPr wrap="square" lIns="0" tIns="0" rIns="0" bIns="0" anchor="ctr"/>
          <a:lstStyle/>
          <a:p>
            <a:pPr>
              <a:lnSpc>
                <a:spcPts val="2200"/>
              </a:lnSpc>
            </a:pPr>
            <a:r>
              <a:rPr lang="en-US" sz="1600" b="1">
                <a:solidFill>
                  <a:srgbClr val="202124"/>
                </a:solidFill>
                <a:latin typeface="Google Sans"/>
              </a:rPr>
              <a:t>Enter this code in the referral field of the form.</a:t>
            </a:r>
          </a:p>
          <a:p>
            <a:pPr>
              <a:lnSpc>
                <a:spcPts val="2000"/>
              </a:lnSpc>
            </a:pPr>
            <a:r>
              <a:rPr lang="en-US" sz="1400">
                <a:solidFill>
                  <a:srgbClr val="5F6368"/>
                </a:solidFill>
                <a:latin typeface="Google Sans"/>
              </a:rPr>
              <a:t>Without it, your registration cannot be credited to GDGoC APSIT.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A look inside the labs</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Two example badges, to show what a lab actually feels like.</a:t>
            </a:r>
          </a:p>
        </p:txBody>
      </p:sp>
      <p:sp>
        <p:nvSpPr>
          <p:cNvPr id="8" name="Rectangle 7"/>
          <p:cNvSpPr/>
          <p:nvPr/>
        </p:nvSpPr>
        <p:spPr>
          <a:xfrm>
            <a:off x="813816" y="2011680"/>
            <a:ext cx="5193792" cy="324612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86000"/>
            <a:ext cx="3291840"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CLOUD · INTRODUCTORY</a:t>
            </a:r>
          </a:p>
        </p:txBody>
      </p:sp>
      <p:sp>
        <p:nvSpPr>
          <p:cNvPr id="11" name="TextBox 10"/>
          <p:cNvSpPr txBox="1"/>
          <p:nvPr/>
        </p:nvSpPr>
        <p:spPr>
          <a:xfrm>
            <a:off x="4242816"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12" name="TextBox 11"/>
          <p:cNvSpPr txBox="1"/>
          <p:nvPr/>
        </p:nvSpPr>
        <p:spPr>
          <a:xfrm>
            <a:off x="1088136"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The Basics of Google Cloud Compute</a:t>
            </a:r>
          </a:p>
        </p:txBody>
      </p:sp>
      <p:sp>
        <p:nvSpPr>
          <p:cNvPr id="13" name="Oval 12"/>
          <p:cNvSpPr/>
          <p:nvPr/>
        </p:nvSpPr>
        <p:spPr>
          <a:xfrm>
            <a:off x="1106424" y="3493008"/>
            <a:ext cx="100584" cy="100584"/>
          </a:xfrm>
          <a:prstGeom prst="ellipse">
            <a:avLst/>
          </a:prstGeom>
          <a:solidFill>
            <a:srgbClr val="4285F4"/>
          </a:solidFill>
          <a:ln>
            <a:noFill/>
          </a:ln>
        </p:spPr>
        <p:txBody>
          <a:bodyPr rtlCol="0" anchor="ctr"/>
          <a:lstStyle/>
          <a:p>
            <a:pPr algn="ctr"/>
            <a:endParaRPr/>
          </a:p>
        </p:txBody>
      </p:sp>
      <p:sp>
        <p:nvSpPr>
          <p:cNvPr id="14" name="TextBox 13"/>
          <p:cNvSpPr txBox="1"/>
          <p:nvPr/>
        </p:nvSpPr>
        <p:spPr>
          <a:xfrm>
            <a:off x="1316736"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Create a virtual machine</a:t>
            </a:r>
          </a:p>
        </p:txBody>
      </p:sp>
      <p:sp>
        <p:nvSpPr>
          <p:cNvPr id="15" name="Oval 14"/>
          <p:cNvSpPr/>
          <p:nvPr/>
        </p:nvSpPr>
        <p:spPr>
          <a:xfrm>
            <a:off x="1106424" y="3858768"/>
            <a:ext cx="100584" cy="100584"/>
          </a:xfrm>
          <a:prstGeom prst="ellipse">
            <a:avLst/>
          </a:prstGeom>
          <a:solidFill>
            <a:srgbClr val="4285F4"/>
          </a:solidFill>
          <a:ln>
            <a:noFill/>
          </a:ln>
        </p:spPr>
        <p:txBody>
          <a:bodyPr rtlCol="0" anchor="ctr"/>
          <a:lstStyle/>
          <a:p>
            <a:pPr algn="ctr"/>
            <a:endParaRPr/>
          </a:p>
        </p:txBody>
      </p:sp>
      <p:sp>
        <p:nvSpPr>
          <p:cNvPr id="16" name="TextBox 15"/>
          <p:cNvSpPr txBox="1"/>
          <p:nvPr/>
        </p:nvSpPr>
        <p:spPr>
          <a:xfrm>
            <a:off x="1316736"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Attach a persistent disk</a:t>
            </a:r>
          </a:p>
        </p:txBody>
      </p:sp>
      <p:sp>
        <p:nvSpPr>
          <p:cNvPr id="17" name="Oval 16"/>
          <p:cNvSpPr/>
          <p:nvPr/>
        </p:nvSpPr>
        <p:spPr>
          <a:xfrm>
            <a:off x="1106424" y="4224528"/>
            <a:ext cx="100584" cy="100584"/>
          </a:xfrm>
          <a:prstGeom prst="ellipse">
            <a:avLst/>
          </a:prstGeom>
          <a:solidFill>
            <a:srgbClr val="4285F4"/>
          </a:solidFill>
          <a:ln>
            <a:noFill/>
          </a:ln>
        </p:spPr>
        <p:txBody>
          <a:bodyPr rtlCol="0" anchor="ctr"/>
          <a:lstStyle/>
          <a:p>
            <a:pPr algn="ctr"/>
            <a:endParaRPr/>
          </a:p>
        </p:txBody>
      </p:sp>
      <p:sp>
        <p:nvSpPr>
          <p:cNvPr id="18" name="TextBox 17"/>
          <p:cNvSpPr txBox="1"/>
          <p:nvPr/>
        </p:nvSpPr>
        <p:spPr>
          <a:xfrm>
            <a:off x="1316736"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Host a web app on Compute Engine</a:t>
            </a:r>
          </a:p>
        </p:txBody>
      </p:sp>
      <p:sp>
        <p:nvSpPr>
          <p:cNvPr id="19" name="TextBox 18"/>
          <p:cNvSpPr txBox="1"/>
          <p:nvPr/>
        </p:nvSpPr>
        <p:spPr>
          <a:xfrm>
            <a:off x="1088136"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a scenario and tasks to solve on your own.</a:t>
            </a:r>
          </a:p>
        </p:txBody>
      </p:sp>
      <p:sp>
        <p:nvSpPr>
          <p:cNvPr id="20" name="Rectangle 19"/>
          <p:cNvSpPr/>
          <p:nvPr/>
        </p:nvSpPr>
        <p:spPr>
          <a:xfrm>
            <a:off x="6190488" y="2011680"/>
            <a:ext cx="5193792" cy="3246120"/>
          </a:xfrm>
          <a:prstGeom prst="roundRect">
            <a:avLst>
              <a:gd name="adj" fmla="val 6645"/>
            </a:avLst>
          </a:prstGeom>
          <a:solidFill>
            <a:srgbClr val="E6F4EA"/>
          </a:solidFill>
          <a:ln>
            <a:noFill/>
          </a:ln>
        </p:spPr>
        <p:txBody>
          <a:bodyPr rtlCol="0" anchor="ctr"/>
          <a:lstStyle/>
          <a:p>
            <a:pPr algn="ctr"/>
            <a:endParaRPr/>
          </a:p>
        </p:txBody>
      </p:sp>
      <p:sp>
        <p:nvSpPr>
          <p:cNvPr id="21" name="Rectangle 20"/>
          <p:cNvSpPr/>
          <p:nvPr/>
        </p:nvSpPr>
        <p:spPr>
          <a:xfrm>
            <a:off x="6190488"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2" name="TextBox 21"/>
          <p:cNvSpPr txBox="1"/>
          <p:nvPr/>
        </p:nvSpPr>
        <p:spPr>
          <a:xfrm>
            <a:off x="6464807" y="2286000"/>
            <a:ext cx="3291840"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AI · INTRODUCTORY</a:t>
            </a:r>
          </a:p>
        </p:txBody>
      </p:sp>
      <p:sp>
        <p:nvSpPr>
          <p:cNvPr id="23" name="TextBox 22"/>
          <p:cNvSpPr txBox="1"/>
          <p:nvPr/>
        </p:nvSpPr>
        <p:spPr>
          <a:xfrm>
            <a:off x="9619488"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24" name="TextBox 23"/>
          <p:cNvSpPr txBox="1"/>
          <p:nvPr/>
        </p:nvSpPr>
        <p:spPr>
          <a:xfrm>
            <a:off x="6464807"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Develop AI-Powered Prototypes in Google AI Studio</a:t>
            </a:r>
          </a:p>
        </p:txBody>
      </p:sp>
      <p:sp>
        <p:nvSpPr>
          <p:cNvPr id="25" name="Oval 24"/>
          <p:cNvSpPr/>
          <p:nvPr/>
        </p:nvSpPr>
        <p:spPr>
          <a:xfrm>
            <a:off x="6483096" y="3493008"/>
            <a:ext cx="100584" cy="100584"/>
          </a:xfrm>
          <a:prstGeom prst="ellipse">
            <a:avLst/>
          </a:prstGeom>
          <a:solidFill>
            <a:srgbClr val="34A853"/>
          </a:solidFill>
          <a:ln>
            <a:noFill/>
          </a:ln>
        </p:spPr>
        <p:txBody>
          <a:bodyPr rtlCol="0" anchor="ctr"/>
          <a:lstStyle/>
          <a:p>
            <a:pPr algn="ctr"/>
            <a:endParaRPr/>
          </a:p>
        </p:txBody>
      </p:sp>
      <p:sp>
        <p:nvSpPr>
          <p:cNvPr id="26" name="TextBox 25"/>
          <p:cNvSpPr txBox="1"/>
          <p:nvPr/>
        </p:nvSpPr>
        <p:spPr>
          <a:xfrm>
            <a:off x="6693407"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Write prompts and tune model settings</a:t>
            </a:r>
          </a:p>
        </p:txBody>
      </p:sp>
      <p:sp>
        <p:nvSpPr>
          <p:cNvPr id="27" name="Oval 26"/>
          <p:cNvSpPr/>
          <p:nvPr/>
        </p:nvSpPr>
        <p:spPr>
          <a:xfrm>
            <a:off x="6483096" y="3858768"/>
            <a:ext cx="100584" cy="100584"/>
          </a:xfrm>
          <a:prstGeom prst="ellipse">
            <a:avLst/>
          </a:prstGeom>
          <a:solidFill>
            <a:srgbClr val="34A853"/>
          </a:solidFill>
          <a:ln>
            <a:noFill/>
          </a:ln>
        </p:spPr>
        <p:txBody>
          <a:bodyPr rtlCol="0" anchor="ctr"/>
          <a:lstStyle/>
          <a:p>
            <a:pPr algn="ctr"/>
            <a:endParaRPr/>
          </a:p>
        </p:txBody>
      </p:sp>
      <p:sp>
        <p:nvSpPr>
          <p:cNvPr id="28" name="TextBox 27"/>
          <p:cNvSpPr txBox="1"/>
          <p:nvPr/>
        </p:nvSpPr>
        <p:spPr>
          <a:xfrm>
            <a:off x="6693407"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Analyze images and video with Gemini</a:t>
            </a:r>
          </a:p>
        </p:txBody>
      </p:sp>
      <p:sp>
        <p:nvSpPr>
          <p:cNvPr id="29" name="Oval 28"/>
          <p:cNvSpPr/>
          <p:nvPr/>
        </p:nvSpPr>
        <p:spPr>
          <a:xfrm>
            <a:off x="6483096" y="4224528"/>
            <a:ext cx="100584" cy="100584"/>
          </a:xfrm>
          <a:prstGeom prst="ellipse">
            <a:avLst/>
          </a:prstGeom>
          <a:solidFill>
            <a:srgbClr val="34A853"/>
          </a:solidFill>
          <a:ln>
            <a:noFill/>
          </a:ln>
        </p:spPr>
        <p:txBody>
          <a:bodyPr rtlCol="0" anchor="ctr"/>
          <a:lstStyle/>
          <a:p>
            <a:pPr algn="ctr"/>
            <a:endParaRPr/>
          </a:p>
        </p:txBody>
      </p:sp>
      <p:sp>
        <p:nvSpPr>
          <p:cNvPr id="30" name="TextBox 29"/>
          <p:cNvSpPr txBox="1"/>
          <p:nvPr/>
        </p:nvSpPr>
        <p:spPr>
          <a:xfrm>
            <a:off x="6693407"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Build an app prototype, call it via API key</a:t>
            </a:r>
          </a:p>
        </p:txBody>
      </p:sp>
      <p:sp>
        <p:nvSpPr>
          <p:cNvPr id="31" name="TextBox 30"/>
          <p:cNvSpPr txBox="1"/>
          <p:nvPr/>
        </p:nvSpPr>
        <p:spPr>
          <a:xfrm>
            <a:off x="6464807"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to earn the badge.</a:t>
            </a:r>
          </a:p>
        </p:txBody>
      </p:sp>
      <p:sp>
        <p:nvSpPr>
          <p:cNvPr id="32" name="Rectangle 31"/>
          <p:cNvSpPr/>
          <p:nvPr/>
        </p:nvSpPr>
        <p:spPr>
          <a:xfrm>
            <a:off x="813816" y="5486400"/>
            <a:ext cx="10570464" cy="685800"/>
          </a:xfrm>
          <a:prstGeom prst="roundRect">
            <a:avLst>
              <a:gd name="adj" fmla="val 17000"/>
            </a:avLst>
          </a:prstGeom>
          <a:solidFill>
            <a:srgbClr val="F8F9FA"/>
          </a:solidFill>
          <a:ln>
            <a:noFill/>
          </a:ln>
        </p:spPr>
        <p:txBody>
          <a:bodyPr rtlCol="0" anchor="ctr"/>
          <a:lstStyle/>
          <a:p>
            <a:pPr algn="ctr"/>
            <a:endParaRPr/>
          </a:p>
        </p:txBody>
      </p:sp>
      <p:sp>
        <p:nvSpPr>
          <p:cNvPr id="33" name="TextBox 32"/>
          <p:cNvSpPr txBox="1"/>
          <p:nvPr/>
        </p:nvSpPr>
        <p:spPr>
          <a:xfrm>
            <a:off x="1097280" y="5486400"/>
            <a:ext cx="10058400" cy="68580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How labs run: </a:t>
            </a:r>
            <a:r>
              <a:rPr sz="1200" b="0">
                <a:solidFill>
                  <a:srgbClr val="3C4043"/>
                </a:solidFill>
                <a:latin typeface="Google Sans"/>
              </a:rPr>
              <a:t>you get temporary credentials to real Google Cloud resources. Labs are timed and can't be paused, so set aside the time before you start.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Deadline: 31 October 2026, or until seats fill</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Register early. Start learning.</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Registration form</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Sign up with your profile URL and referral code.</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forms.gle/VDXwE13LoaNhA2VeA</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Google Skills</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Create your account and do the labs and badges here.</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endParaRPr lang="en-US" sz="1200" dirty="0"/>
          </a:p>
        </p:txBody>
      </p:sp>
      <p:sp>
        <p:nvSpPr>
          <p:cNvPr id="15" name="Shape 10"/>
          <p:cNvSpPr/>
          <p:nvPr/>
        </p:nvSpPr>
        <p:spPr>
          <a:xfrm>
            <a:off x="81278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101593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Public profile how-to</a:t>
            </a:r>
            <a:endParaRPr lang="en-US" sz="1500" dirty="0"/>
          </a:p>
        </p:txBody>
      </p:sp>
      <p:sp>
        <p:nvSpPr>
          <p:cNvPr id="17" name="Text 12"/>
          <p:cNvSpPr/>
          <p:nvPr/>
        </p:nvSpPr>
        <p:spPr>
          <a:xfrm>
            <a:off x="101593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Video on making your profile public and finding its URL.</a:t>
            </a:r>
            <a:endParaRPr lang="en-US" sz="1200" dirty="0"/>
          </a:p>
        </p:txBody>
      </p:sp>
      <p:sp>
        <p:nvSpPr>
          <p:cNvPr id="18" name="Text 13"/>
          <p:cNvSpPr/>
          <p:nvPr/>
        </p:nvSpPr>
        <p:spPr>
          <a:xfrm>
            <a:off x="101593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on YouTube</a:t>
            </a:r>
            <a:endParaRPr lang="en-US" sz="1200" dirty="0"/>
          </a:p>
        </p:txBody>
      </p:sp>
      <p:sp>
        <p:nvSpPr>
          <p:cNvPr id="19" name="Shape 14"/>
          <p:cNvSpPr/>
          <p:nvPr/>
        </p:nvSpPr>
        <p:spPr>
          <a:xfrm>
            <a:off x="5524438" y="3286497"/>
            <a:ext cx="4559349" cy="1112490"/>
          </a:xfrm>
          <a:prstGeom prst="roundRect">
            <a:avLst>
              <a:gd name="adj" fmla="val 11416"/>
            </a:avLst>
          </a:prstGeom>
          <a:solidFill>
            <a:srgbClr val="FFFFFF"/>
          </a:solidFill>
          <a:ln/>
        </p:spPr>
        <p:txBody>
          <a:bodyPr/>
          <a:lstStyle/>
          <a:p>
            <a:endParaRPr/>
          </a:p>
        </p:txBody>
      </p:sp>
      <p:sp>
        <p:nvSpPr>
          <p:cNvPr id="20" name="Text 15"/>
          <p:cNvSpPr/>
          <p:nvPr/>
        </p:nvSpPr>
        <p:spPr>
          <a:xfrm>
            <a:off x="5727588" y="3464285"/>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Referral code</a:t>
            </a:r>
            <a:endParaRPr lang="en-US" sz="1500" dirty="0"/>
          </a:p>
        </p:txBody>
      </p:sp>
      <p:sp>
        <p:nvSpPr>
          <p:cNvPr id="21" name="Text 16"/>
          <p:cNvSpPr/>
          <p:nvPr/>
        </p:nvSpPr>
        <p:spPr>
          <a:xfrm>
            <a:off x="5727588" y="3743647"/>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Your code: GDGC-APSIT</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Questions about labs or the program? Email </a:t>
            </a:r>
            <a:r>
              <a:rPr lang="en-US" sz="1300" b="1" dirty="0">
                <a:solidFill>
                  <a:srgbClr val="FFFFFF"/>
                </a:solidFill>
                <a:latin typeface="Google Sans" pitchFamily="34" charset="0"/>
                <a:ea typeface="Google Sans" pitchFamily="34" charset="-122"/>
                <a:cs typeface="Google Sans" pitchFamily="34" charset="-120"/>
              </a:rPr>
              <a:t>learnwithcommunities-support@google.com</a:t>
            </a:r>
            <a:r>
              <a:rPr lang="en-US" sz="1300" dirty="0">
                <a:solidFill>
                  <a:srgbClr val="E8F0FE"/>
                </a:solidFill>
                <a:latin typeface="Google Sans" pitchFamily="34" charset="0"/>
                <a:ea typeface="Google Sans" pitchFamily="34" charset="-122"/>
                <a:cs typeface="Google Sans" pitchFamily="34" charset="-120"/>
              </a:rPr>
              <a:t>, or reach the GDGoC APSIT team.</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Missed the </a:t>
            </a:r>
            <a:r>
              <a:rPr lang="en-US" sz="6400" b="1" i="0" dirty="0">
                <a:solidFill>
                  <a:srgbClr val="4285F4"/>
                </a:solidFill>
                <a:latin typeface="Google Sans" pitchFamily="34" charset="0"/>
                <a:ea typeface="Google Sans" pitchFamily="34" charset="-122"/>
                <a:cs typeface="Google Sans" pitchFamily="34" charset="-120"/>
              </a:rPr>
              <a:t>session?</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Skill Boost registration guide, </a:t>
            </a:r>
            <a:r>
              <a:rPr lang="en-US" sz="2200" b="1" dirty="0">
                <a:solidFill>
                  <a:srgbClr val="34A853"/>
                </a:solidFill>
                <a:latin typeface="Google Sans" pitchFamily="34" charset="0"/>
                <a:ea typeface="Google Sans" pitchFamily="34" charset="-122"/>
                <a:cs typeface="Google Sans" pitchFamily="34" charset="-120"/>
              </a:rPr>
              <a:t>step by step</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This guide shares the Skill Boost registration process for everyone who missed the session. Follow the screenshots to fill in both forms.</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Short steps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Screenshots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Both forms covered</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 Create a fresh Google account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Start with a new account made for this program, so only your new badges count.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sign-up page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accounts.google.com and choose Create account, then For my personal use.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name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first and last name, then click Next, as shown on the right.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Finish the setup properly</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Add birthday, pick a username and a strong password, and verify your phone. Note them down.</a:t>
            </a:r>
            <a:endParaRPr lang="en-US" sz="1200" dirty="0"/>
          </a:p>
        </p:txBody>
      </p:sp>
      <p:sp>
        <p:nvSpPr>
          <p:cNvPr id="99" name="Screenshot frame"/>
          <p:cNvSpPr/>
          <p:nvPr/>
        </p:nvSpPr>
        <p:spPr>
          <a:xfrm>
            <a:off x="7040880" y="2011680"/>
            <a:ext cx="4343400" cy="2441448"/>
          </a:xfrm>
          <a:prstGeom prst="roundRect">
            <a:avLst>
              <a:gd name="adj" fmla="val 16484"/>
            </a:avLst>
          </a:prstGeom>
          <a:solidFill>
            <a:srgbClr val="E8F0FE"/>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2: Go to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Google Skills is the new name for Google Cloud Skills Boost. Use the account you just created.</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Google Skills</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skills.google in your browser. This is where all labs and badges live.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Join</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Use Join at the top right, or Get started, to open the sign-up page.</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Sign up with your new account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Sign up with the Google account you just created, not an old one.</a:t>
            </a:r>
            <a:endParaRPr lang="en-US" sz="1200" dirty="0"/>
          </a:p>
        </p:txBody>
      </p:sp>
      <p:pic>
        <p:nvPicPr>
          <p:cNvPr id="99" name="Google Skills home page" descr="Google Skills home page with the Join and Sign in buttons at the top right"/>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Tree>
  </p:cSld>
  <p:clrMapOvr>
    <a:masterClrMapping/>
  </p:clrMapOvr>
</p:sld>
</file>

<file path=ppt/theme/theme1.xml><?xml version="1.0" encoding="utf-8"?>
<a:theme xmlns:a="http://schemas.openxmlformats.org/drawingml/2006/main" name="Learn with Communities · GDGoC APSIT 2026-27">
  <a:themeElements>
    <a:clrScheme name="Learn with Communities · GDGoC APSIT 2026-27">
      <a:dk1>
        <a:srgbClr val="3C4043"/>
      </a:dk1>
      <a:lt1>
        <a:srgbClr val="FFFFFF"/>
      </a:lt1>
      <a:dk2>
        <a:srgbClr val="6D7072"/>
      </a:dk2>
      <a:lt2>
        <a:srgbClr val="ECECEC"/>
      </a:lt2>
      <a:accent1>
        <a:srgbClr val="1A73E8"/>
      </a:accent1>
      <a:accent2>
        <a:srgbClr val="137333"/>
      </a:accent2>
      <a:accent3>
        <a:srgbClr val="C5221F"/>
      </a:accent3>
      <a:accent4>
        <a:srgbClr val="B06000"/>
      </a:accent4>
      <a:accent5>
        <a:srgbClr val="E37400"/>
      </a:accent5>
      <a:accent6>
        <a:srgbClr val="202124"/>
      </a:accent6>
      <a:hlink>
        <a:srgbClr val="0563C1"/>
      </a:hlink>
      <a:folHlink>
        <a:srgbClr val="954F72"/>
      </a:folHlink>
    </a:clrScheme>
    <a:fontScheme name="Learn with Communities · GDGoC APSIT 2026-27">
      <a:majorFont>
        <a:latin typeface="Google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ogle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TotalTime>
  <Words>1017</Words>
  <Application>Microsoft Office PowerPoint</Application>
  <PresentationFormat>Widescreen</PresentationFormat>
  <Paragraphs>122</Paragraphs>
  <Slides>9</Slides>
  <Notes>8</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Google Sans</vt:lpstr>
      <vt:lpstr>Poppins Bold</vt:lpstr>
      <vt:lpstr>Learn with Communities · GDGoC APSIT 2026-27</vt:lpstr>
      <vt:lpstr>PowerPoint Presentation</vt:lpstr>
      <vt:lpstr>Learn with Communities</vt:lpstr>
      <vt:lpstr>What is Learn with Communities?</vt:lpstr>
      <vt:lpstr>Why you should register</vt:lpstr>
      <vt:lpstr>Rewards &amp; milestones</vt:lpstr>
      <vt:lpstr>Before you register: set up Google Skills</vt:lpstr>
      <vt:lpstr>How to register (limited seats)</vt:lpstr>
      <vt:lpstr>A look inside the labs</vt:lpstr>
      <vt:lpstr>Register early. Start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 with Communities · GDGoC APSIT 2026-27</dc:title>
  <dc:subject/>
  <dc:creator>LOQ</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Roboto
Copyright 2011 The Roboto Project Authors (https://github.com/googlefonts/roboto-classic)
This Font Software is licensed under the SIL Open Font License, Version 1.1.
This license is copied below, and is also available with a FAQ at:
https://openfontlicense.org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dc:description>
  <cp:lastModifiedBy>Nishit Jain</cp:lastModifiedBy>
  <cp:revision>7</cp:revision>
  <dcterms:created xsi:type="dcterms:W3CDTF">2026-10-24T14:14:01Z</dcterms:created>
  <dcterms:modified xsi:type="dcterms:W3CDTF">2026-10-25T10:28:21Z</dcterms:modified>
</cp:coreProperties>
</file>