
<file path=[Content_Types].xml><?xml version="1.0" encoding="utf-8"?>
<Types xmlns="http://schemas.openxmlformats.org/package/2006/content-types">
  <Default Extension="fntdata" ContentType="application/x-fontdata"/>
  <Default Extension="gif" ContentType="image/gif"/>
  <Default Extension="jpeg" ContentType="image/jpe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11"/>
  </p:notesMasterIdLst>
  <p:sldIdLst>
    <p:sldId id="268" r:id="rId2"/>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56" r:id="rId3"/>
    <p:sldId id="257" r:id="rId4"/>
    <p:sldId id="266" r:id="rId5"/>
    <p:sldId id="259" r:id="rId6"/>
    <p:sldId id="261" r:id="rId7"/>
    <p:sldId id="262" r:id="rId8"/>
    <p:sldId id="267" r:id="rId9"/>
    <p:sldId id="265" r:id="rId10"/>
  </p:sldIdLst>
  <p:sldSz cx="12192000" cy="6858000"/>
  <p:notesSz cx="6858000" cy="12192000"/>
  <p:embeddedFontLst>
    <p:embeddedFont>
      <p:font typeface="Poppins Bold" panose="020B0604020202020204" charset="0"/>
      <p:regular r:id="rId1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2" d="100"/>
          <a:sy n="82" d="100"/>
        </p:scale>
        <p:origin x="691"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font" Target="fonts/font1.fntdata"/><Relationship Id="rId17"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  <Relationship Id="rId18" Type="http://schemas.openxmlformats.org/officeDocument/2006/relationships/slide" Target="slides/slide10.xml"/>
  <Relationship Id="rId19" Type="http://schemas.openxmlformats.org/officeDocument/2006/relationships/slide" Target="slides/slide11.xml"/>
  <Relationship Id="rId20" Type="http://schemas.openxmlformats.org/officeDocument/2006/relationships/slide" Target="slides/slide12.xml"/>
  <Relationship Id="rId21" Type="http://schemas.openxmlformats.org/officeDocument/2006/relationships/slide" Target="slides/slide13.xml"/>
  <Relationship Id="rId22" Type="http://schemas.openxmlformats.org/officeDocument/2006/relationships/slide" Target="slides/slide14.xml"/>
  <Relationship Id="rId23" Type="http://schemas.openxmlformats.org/officeDocument/2006/relationships/slide" Target="slides/slide15.xml"/>
  <Relationship Id="rId24" Type="http://schemas.openxmlformats.org/officeDocument/2006/relationships/slide" Target="slides/slide16.xml"/>
  <Relationship Id="rId25" Type="http://schemas.openxmlformats.org/officeDocument/2006/relationships/slide" Target="slides/slide17.xml"/>
  <Relationship Id="rId26" Type="http://schemas.openxmlformats.org/officeDocument/2006/relationships/slide" Target="slides/slide18.xml"/>
  <Relationship Id="rId27" Type="http://schemas.openxmlformats.org/officeDocument/2006/relationships/slide" Target="slides/slide19.xml"/>
  <Relationship Id="rId28" Type="http://schemas.openxmlformats.org/officeDocument/2006/relationships/slide" Target="slides/slide20.xml"/>
  <Relationship Id="rId29" Type="http://schemas.openxmlformats.org/officeDocument/2006/relationships/slide" Target="slides/slide21.xml"/>
  <Relationship Id="rId30" Type="http://schemas.openxmlformats.org/officeDocument/2006/relationships/slide" Target="slides/slide22.xml"/>
  <Relationship Id="rId31" Type="http://schemas.openxmlformats.org/officeDocument/2006/relationships/slide" Target="slides/slide23.xml"/>
  <Relationship Id="rId32" Type="http://schemas.openxmlformats.org/officeDocument/2006/relationships/slide" Target="slides/slide24.xml"/>
  <Relationship Id="rId33" Type="http://schemas.openxmlformats.org/officeDocument/2006/relationships/slide" Target="slides/slide25.xml"/>
  <Relationship Id="rId34" Type="http://schemas.openxmlformats.org/officeDocument/2006/relationships/slide" Target="slides/slide26.xml"/>
  <Relationship Id="rId35" Type="http://schemas.openxmlformats.org/officeDocument/2006/relationships/slide" Target="slides/slide27.xml"/>
  <Relationship Id="rId36" Type="http://schemas.openxmlformats.org/officeDocument/2006/relationships/slide" Target="slides/slide28.xml"/>
  <Relationship Id="rId37" Type="http://schemas.openxmlformats.org/officeDocument/2006/relationships/slide" Target="slides/slide29.xml"/>
  <Relationship Id="rId38" Type="http://schemas.openxmlformats.org/officeDocument/2006/relationships/slide" Target="slides/slide30.xml"/>
</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ishit Jain" userId="c2ba80963b7cb5e4" providerId="LiveId" clId="{B86CD3D9-95A3-4058-89D8-1F11307AEE5A}"/>
    <pc:docChg chg="modSld sldOrd">
      <pc:chgData name="Nishit Jain" userId="c2ba80963b7cb5e4" providerId="LiveId" clId="{B86CD3D9-95A3-4058-89D8-1F11307AEE5A}" dt="2026-10-25T10:28:21.665" v="7"/>
      <pc:docMkLst>
        <pc:docMk/>
      </pc:docMkLst>
      <pc:sldChg chg="ord">
        <pc:chgData name="Nishit Jain" userId="c2ba80963b7cb5e4" providerId="LiveId" clId="{B86CD3D9-95A3-4058-89D8-1F11307AEE5A}" dt="2026-10-25T10:28:03.896" v="3"/>
        <pc:sldMkLst>
          <pc:docMk/>
          <pc:sldMk cId="0" sldId="259"/>
        </pc:sldMkLst>
      </pc:sldChg>
      <pc:sldChg chg="ord">
        <pc:chgData name="Nishit Jain" userId="c2ba80963b7cb5e4" providerId="LiveId" clId="{B86CD3D9-95A3-4058-89D8-1F11307AEE5A}" dt="2026-10-25T10:28:10.330" v="5"/>
        <pc:sldMkLst>
          <pc:docMk/>
          <pc:sldMk cId="0" sldId="261"/>
        </pc:sldMkLst>
      </pc:sldChg>
      <pc:sldChg chg="ord">
        <pc:chgData name="Nishit Jain" userId="c2ba80963b7cb5e4" providerId="LiveId" clId="{B86CD3D9-95A3-4058-89D8-1F11307AEE5A}" dt="2026-10-25T10:28:21.665" v="7"/>
        <pc:sldMkLst>
          <pc:docMk/>
          <pc:sldMk cId="0" sldId="262"/>
        </pc:sldMkLst>
      </pc:sldChg>
      <pc:sldChg chg="ord">
        <pc:chgData name="Nishit Jain" userId="c2ba80963b7cb5e4" providerId="LiveId" clId="{B86CD3D9-95A3-4058-89D8-1F11307AEE5A}" dt="2026-10-25T10:27:33.891" v="1"/>
        <pc:sldMkLst>
          <pc:docMk/>
          <pc:sldMk cId="0" sldId="266"/>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8710405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This is the Google Cloud Learn with Communities campaign, brought to APSIT by our GDGoC chapter.</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Learn with Communities is Google Cloud's campaign for student communities, and it runs on Google Skills (formerly Google Cloud Skills Boost). Labs are free, badges are verifiable, and swag comes at 5 and 10 badges. Labs cover Cloud, Data and AI.</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Only badges earned during the program timeline count toward rewards. 5 skill badges get a Google Cloud water bottle. 10 skill badges get the Developer Kit and a T-shirt. Merch images are illustrations.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Get the profile ready first, because the registration form asks for your public Google Skills profile URL.</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Register early because seats close the moment capacity is reached. Without the referral code, registrations cannot be attributed to our chapter. After confirmation, Google Cloud emails you an access code for free lab credits.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Happy learning! Reach out to the GDGoC APSIT team with any questions.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FFFFF"/>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788" y="711150"/>
            <a:ext cx="10566424" cy="447042"/>
          </a:xfrm>
          <a:prstGeom prst="rect">
            <a:avLst/>
          </a:prstGeom>
          <a:noFill/>
          <a:ln/>
        </p:spPr>
        <p:txBody>
          <a:bodyPr wrap="square" lIns="0" tIns="0" rIns="0" bIns="0" rtlCol="0" anchor="t"/>
          <a:lstStyle>
            <a:lvl1pPr marL="0" indent="0" algn="l">
              <a:lnSpc>
                <a:spcPct val="115000"/>
              </a:lnSpc>
              <a:buNone/>
              <a:defRPr lang="en-US" sz="3200" dirty="0">
                <a:solidFill>
                  <a:srgbClr val="202124"/>
                </a:solidFill>
                <a:latin typeface="Google Sans" pitchFamily="34" charset="0"/>
                <a:ea typeface="Google Sans" pitchFamily="34" charset="-122"/>
                <a:cs typeface="Google Sans"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788" y="1462993"/>
            <a:ext cx="10566412" cy="4582207"/>
          </a:xfrm>
          <a:prstGeom prst="rect">
            <a:avLst/>
          </a:prstGeom>
          <a:noFill/>
          <a:ln/>
        </p:spPr>
        <p:txBody>
          <a:bodyPr wrap="square" lIns="0" tIns="0" rIns="0" bIns="0" rtlCol="0" anchor="t"/>
          <a:lstStyle>
            <a:lvl1pPr marL="0" indent="0" algn="l">
              <a:lnSpc>
                <a:spcPct val="140000"/>
              </a:lnSpc>
              <a:buNone/>
              <a:defRPr lang="en-US" sz="1600" dirty="0">
                <a:solidFill>
                  <a:srgbClr val="3C4043"/>
                </a:solidFill>
                <a:latin typeface="Google Sans" pitchFamily="34" charset="0"/>
                <a:ea typeface="Google Sans" pitchFamily="34" charset="-122"/>
                <a:cs typeface="Google Sans" pitchFamily="34" charset="-120"/>
              </a:defRPr>
            </a:lvl1pPr>
          </a:lstStyle>
          <a:p>
            <a:pPr marL="0" indent="0" algn="l">
              <a:lnSpc>
                <a:spcPct val="140000"/>
              </a:lnSpc>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10/25/2026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2262633017"/>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788" y="711150"/>
            <a:ext cx="10566424" cy="447042"/>
          </a:xfrm>
          <a:prstGeom prst="rect">
            <a:avLst/>
          </a:prstGeom>
          <a:noFill/>
          <a:ln/>
        </p:spPr>
        <p:txBody>
          <a:bodyPr wrap="square" lIns="0" tIns="0" rIns="0" bIns="0" rtlCol="0" anchor="t"/>
          <a:lstStyle>
            <a:lvl1pPr marL="0" indent="0" algn="l">
              <a:lnSpc>
                <a:spcPct val="115000"/>
              </a:lnSpc>
              <a:buNone/>
              <a:defRPr lang="en-US" sz="3200" dirty="0">
                <a:solidFill>
                  <a:srgbClr val="202124"/>
                </a:solidFill>
                <a:latin typeface="Google Sans" pitchFamily="34" charset="0"/>
                <a:ea typeface="Google Sans" pitchFamily="34" charset="-122"/>
                <a:cs typeface="Google Sans"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788" y="1462993"/>
            <a:ext cx="10566412" cy="4582207"/>
          </a:xfrm>
          <a:prstGeom prst="rect">
            <a:avLst/>
          </a:prstGeom>
          <a:noFill/>
          <a:ln/>
        </p:spPr>
        <p:txBody>
          <a:bodyPr wrap="square" lIns="0" tIns="0" rIns="0" bIns="0" rtlCol="0" anchor="t"/>
          <a:lstStyle>
            <a:lvl1pPr marL="0" indent="0" algn="l">
              <a:lnSpc>
                <a:spcPct val="140000"/>
              </a:lnSpc>
              <a:buNone/>
              <a:defRPr lang="en-US" sz="1600" dirty="0">
                <a:solidFill>
                  <a:srgbClr val="3C4043"/>
                </a:solidFill>
                <a:latin typeface="Google Sans" pitchFamily="34" charset="0"/>
                <a:ea typeface="Google Sans" pitchFamily="34" charset="-122"/>
                <a:cs typeface="Google Sans" pitchFamily="34" charset="-120"/>
              </a:defRPr>
            </a:lvl1pPr>
          </a:lstStyle>
          <a:p>
            <a:pPr marL="0" indent="0" algn="l">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5.gif"/><Relationship Id="rId3" Type="http://schemas.openxmlformats.org/officeDocument/2006/relationships/slideLayout" Target="../slideLayouts/slideLayout3.xml"/><Relationship Id="rId7" Type="http://schemas.openxmlformats.org/officeDocument/2006/relationships/image" Target="../media/image4.gif"/><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image" Target="../media/image3.gif"/><Relationship Id="rId5" Type="http://schemas.openxmlformats.org/officeDocument/2006/relationships/image" Target="../media/image2.png"/><Relationship Id="rId10" Type="http://schemas.openxmlformats.org/officeDocument/2006/relationships/image" Target="../media/image7.gif"/><Relationship Id="rId4" Type="http://schemas.openxmlformats.org/officeDocument/2006/relationships/image" Target="../media/image1.jpeg"/><Relationship Id="rId9" Type="http://schemas.openxmlformats.org/officeDocument/2006/relationships/image" Target="../media/image6.png"/></Relationships>
</file>

<file path=ppt/slides/_rels/slide2.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10" Type="http://schemas.openxmlformats.org/officeDocument/2006/relationships/image" Target="../media/image15.png"/><Relationship Id="rId4" Type="http://schemas.openxmlformats.org/officeDocument/2006/relationships/image" Target="../media/image9.png"/><Relationship Id="rId9" Type="http://schemas.openxmlformats.org/officeDocument/2006/relationships/image" Target="../media/image14.png"/></Relationships>
</file>

<file path=ppt/slides/_rels/slide3.xml.rels><?xml version="1.0" encoding="UTF-8" standalone="yes"?>
<Relationships xmlns="http://schemas.openxmlformats.org/package/2006/relationships"><Relationship Id="rId3" Type="http://schemas.openxmlformats.org/officeDocument/2006/relationships/image" Target="../media/image16.png"/><Relationship Id="rId7" Type="http://schemas.openxmlformats.org/officeDocument/2006/relationships/hyperlink" Target="https://www.skills.google/"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5.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image" Target="../media/image16.png"/><Relationship Id="rId7" Type="http://schemas.openxmlformats.org/officeDocument/2006/relationships/image" Target="../media/image20.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9" Type="http://schemas.openxmlformats.org/officeDocument/2006/relationships/image" Target="../media/image22.png"/></Relationships>
</file>

<file path=ppt/slides/_rels/slide6.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7.xml.rels><?xml version="1.0" encoding="UTF-8" standalone="yes"?>
<Relationships xmlns="http://schemas.openxmlformats.org/package/2006/relationships"><Relationship Id="rId3" Type="http://schemas.openxmlformats.org/officeDocument/2006/relationships/image" Target="../media/image16.png"/><Relationship Id="rId7" Type="http://schemas.openxmlformats.org/officeDocument/2006/relationships/hyperlink" Target="https://forms.gle/VDXwE13LoaNhA2VeA" TargetMode="External"/><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9.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23.png"/><Relationship Id="rId7" Type="http://schemas.openxmlformats.org/officeDocument/2006/relationships/hyperlink" Target="https://www.skills.google/" TargetMode="External"/><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hyperlink" Target="https://forms.gle/VDXwE13LoaNhA2VeA" TargetMode="External"/><Relationship Id="rId5" Type="http://schemas.openxmlformats.org/officeDocument/2006/relationships/image" Target="../media/image25.png"/><Relationship Id="rId4" Type="http://schemas.openxmlformats.org/officeDocument/2006/relationships/image" Target="../media/image24.png"/></Relationships>
</file>

<file path=ppt/slides/_rels/slide10.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png"/><Relationship Id="rId7" Type="http://schemas.openxmlformats.org/officeDocument/2006/relationships/image" Target="../media/image12.png"/><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10" Type="http://schemas.openxmlformats.org/officeDocument/2006/relationships/image" Target="../media/image15.png"/><Relationship Id="rId4" Type="http://schemas.openxmlformats.org/officeDocument/2006/relationships/image" Target="../media/image9.png"/><Relationship Id="rId9" Type="http://schemas.openxmlformats.org/officeDocument/2006/relationships/image" Target="../media/image14.png"/></Relationships>
</file>

<file path=ppt/slides/_rels/slide11.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account_create.png"/></Relationships>
</file>

<file path=ppt/slides/_rels/slide12.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skills_home.png"/></Relationships>
</file>

<file path=ppt/slides/_rels/slide13.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profile_menu.png"/></Relationships>
</file>

<file path=ppt/slides/_rels/slide14.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account_settings.png"/></Relationships>
</file>

<file path=ppt/slides/_rels/slide15.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public_link_blur.png"/></Relationships>
</file>

<file path=ppt/slides/_rels/slide16.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enrolment_form.png"/><Relationship Id="rId60" Type="http://schemas.openxmlformats.org/officeDocument/2006/relationships/hyperlink" Target="https://forms.gle/VDXwE13LoaNhA2VeA" TargetMode="External"/></Relationships>
</file>

<file path=ppt/slides/_rels/slide17.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form_email.png"/></Relationships>
</file>

<file path=ppt/slides/_rels/slide18.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form_terms.png"/></Relationships>
</file>

<file path=ppt/slides/_rels/slide19.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form_details.png"/></Relationships>
</file>

<file path=ppt/slides/_rels/slide20.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form_organiser.png"/></Relationships>
</file>

<file path=ppt/slides/_rels/slide21.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form_filled.png"/></Relationships>
</file>

<file path=ppt/slides/_rels/slide22.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form_verify.png"/></Relationships>
</file>

<file path=ppt/slides/_rels/slide23.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1" Type="http://schemas.openxmlformats.org/officeDocument/2006/relationships/image" Target="../media/profile_link_crop.png"/><Relationship Id="rId52" Type="http://schemas.openxmlformats.org/officeDocument/2006/relationships/image" Target="../media/form_url_crop.png"/></Relationships>
</file>

<file path=ppt/slides/_rels/slide24.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form_acknowledge.png"/></Relationships>
</file>

<file path=ppt/slides/_rels/slide25.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form_submit.png"/></Relationships>
</file>

<file path=ppt/slides/_rels/slide26.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png"/><Relationship Id="rId7" Type="http://schemas.openxmlformats.org/officeDocument/2006/relationships/image" Target="../media/image12.png"/><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10" Type="http://schemas.openxmlformats.org/officeDocument/2006/relationships/image" Target="../media/image15.png"/><Relationship Id="rId4" Type="http://schemas.openxmlformats.org/officeDocument/2006/relationships/image" Target="../media/image9.png"/><Relationship Id="rId9" Type="http://schemas.openxmlformats.org/officeDocument/2006/relationships/image" Target="../media/image14.png"/></Relationships>
</file>

<file path=ppt/slides/_rels/slide27.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gmail_receipt.png"/></Relationships>
</file>

<file path=ppt/slides/_rels/slide28.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second_form.png"/><Relationship Id="rId60" Type="http://schemas.openxmlformats.org/officeDocument/2006/relationships/hyperlink" Target="https://forms.gle/kkvPUmsR8FRjVuf47" TargetMode="External"/></Relationships>
</file>

<file path=ppt/slides/_rels/slide29.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whatsapp_submit.png"/></Relationships>
</file>

<file path=ppt/slides/_rels/slide30.xml.rels><?xml version="1.0" encoding="UTF-8" standalone="yes"?>
<Relationships xmlns="http://schemas.openxmlformats.org/package/2006/relationships"><Relationship Id="rId8" Type="http://schemas.openxmlformats.org/officeDocument/2006/relationships/hyperlink" Target="https://wa.me/919819616475" TargetMode="External"/><Relationship Id="rId3" Type="http://schemas.openxmlformats.org/officeDocument/2006/relationships/image" Target="../media/image23.png"/><Relationship Id="rId7" Type="http://schemas.openxmlformats.org/officeDocument/2006/relationships/hyperlink" Target="https://wa.me/918200801599" TargetMode="External"/><Relationship Id="rId1" Type="http://schemas.openxmlformats.org/officeDocument/2006/relationships/slideLayout" Target="../slideLayouts/slideLayout2.xml"/><Relationship Id="rId6" Type="http://schemas.openxmlformats.org/officeDocument/2006/relationships/hyperlink" Target="https://wa.me/917900046862" TargetMode="External"/><Relationship Id="rId5" Type="http://schemas.openxmlformats.org/officeDocument/2006/relationships/image" Target="../media/image25.png"/><Relationship Id="rId4" Type="http://schemas.openxmlformats.org/officeDocument/2006/relationships/image" Target="../media/image2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2">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4"/>
          <a:srcRect l="10010" t="28766" r="5013" b="33775"/>
          <a:stretch>
            <a:fillRect/>
          </a:stretch>
        </p:blipFill>
        <p:spPr>
          <a:xfrm>
            <a:off x="9285031" y="1"/>
            <a:ext cx="2906969" cy="720799"/>
          </a:xfrm>
          <a:prstGeom prst="rect">
            <a:avLst/>
          </a:prstGeom>
        </p:spPr>
      </p:pic>
      <p:grpSp>
        <p:nvGrpSpPr>
          <p:cNvPr id="3" name="Group 3"/>
          <p:cNvGrpSpPr/>
          <p:nvPr/>
        </p:nvGrpSpPr>
        <p:grpSpPr>
          <a:xfrm>
            <a:off x="8942568" y="685800"/>
            <a:ext cx="3249433" cy="684926"/>
            <a:chOff x="0" y="0"/>
            <a:chExt cx="1283726" cy="270588"/>
          </a:xfrm>
        </p:grpSpPr>
        <p:sp>
          <p:nvSpPr>
            <p:cNvPr id="4" name="Freeform 4"/>
            <p:cNvSpPr/>
            <p:nvPr/>
          </p:nvSpPr>
          <p:spPr>
            <a:xfrm>
              <a:off x="0" y="0"/>
              <a:ext cx="1283726" cy="270588"/>
            </a:xfrm>
            <a:custGeom>
              <a:avLst/>
              <a:gdLst/>
              <a:ahLst/>
              <a:cxnLst/>
              <a:rect l="l" t="t" r="r" b="b"/>
              <a:pathLst>
                <a:path w="1283726" h="270588">
                  <a:moveTo>
                    <a:pt x="0" y="0"/>
                  </a:moveTo>
                  <a:lnTo>
                    <a:pt x="1283726" y="0"/>
                  </a:lnTo>
                  <a:lnTo>
                    <a:pt x="1283726" y="270588"/>
                  </a:lnTo>
                  <a:lnTo>
                    <a:pt x="0" y="270588"/>
                  </a:lnTo>
                  <a:close/>
                </a:path>
              </a:pathLst>
            </a:custGeom>
            <a:solidFill>
              <a:srgbClr val="F0F3F4"/>
            </a:solidFill>
          </p:spPr>
        </p:sp>
        <p:sp>
          <p:nvSpPr>
            <p:cNvPr id="5" name="TextBox 5"/>
            <p:cNvSpPr txBox="1"/>
            <p:nvPr/>
          </p:nvSpPr>
          <p:spPr>
            <a:xfrm>
              <a:off x="0" y="-38100"/>
              <a:ext cx="1283726" cy="308688"/>
            </a:xfrm>
            <a:prstGeom prst="rect">
              <a:avLst/>
            </a:prstGeom>
          </p:spPr>
          <p:txBody>
            <a:bodyPr lIns="33867" tIns="33867" rIns="33867" bIns="33867" rtlCol="0" anchor="ctr"/>
            <a:lstStyle/>
            <a:p>
              <a:pPr algn="ctr">
                <a:lnSpc>
                  <a:spcPts val="1773"/>
                </a:lnSpc>
                <a:spcBef>
                  <a:spcPct val="0"/>
                </a:spcBef>
              </a:pPr>
              <a:endParaRPr sz="1200"/>
            </a:p>
          </p:txBody>
        </p:sp>
      </p:grpSp>
      <p:grpSp>
        <p:nvGrpSpPr>
          <p:cNvPr id="6" name="Group 6"/>
          <p:cNvGrpSpPr/>
          <p:nvPr/>
        </p:nvGrpSpPr>
        <p:grpSpPr>
          <a:xfrm rot="5400000">
            <a:off x="4299615" y="-4299616"/>
            <a:ext cx="685800" cy="9285031"/>
            <a:chOff x="0" y="0"/>
            <a:chExt cx="270933" cy="3668160"/>
          </a:xfrm>
        </p:grpSpPr>
        <p:sp>
          <p:nvSpPr>
            <p:cNvPr id="7" name="Freeform 7"/>
            <p:cNvSpPr/>
            <p:nvPr/>
          </p:nvSpPr>
          <p:spPr>
            <a:xfrm>
              <a:off x="0" y="0"/>
              <a:ext cx="270933" cy="3668160"/>
            </a:xfrm>
            <a:custGeom>
              <a:avLst/>
              <a:gdLst/>
              <a:ahLst/>
              <a:cxnLst/>
              <a:rect l="l" t="t" r="r" b="b"/>
              <a:pathLst>
                <a:path w="270933" h="3668160">
                  <a:moveTo>
                    <a:pt x="0" y="0"/>
                  </a:moveTo>
                  <a:lnTo>
                    <a:pt x="270933" y="0"/>
                  </a:lnTo>
                  <a:lnTo>
                    <a:pt x="270933" y="3668160"/>
                  </a:lnTo>
                  <a:lnTo>
                    <a:pt x="0" y="3668160"/>
                  </a:lnTo>
                  <a:close/>
                </a:path>
              </a:pathLst>
            </a:custGeom>
            <a:solidFill>
              <a:srgbClr val="FFFFFF"/>
            </a:solidFill>
          </p:spPr>
        </p:sp>
        <p:sp>
          <p:nvSpPr>
            <p:cNvPr id="8" name="TextBox 8"/>
            <p:cNvSpPr txBox="1"/>
            <p:nvPr/>
          </p:nvSpPr>
          <p:spPr>
            <a:xfrm>
              <a:off x="0" y="-38100"/>
              <a:ext cx="270933" cy="3706260"/>
            </a:xfrm>
            <a:prstGeom prst="rect">
              <a:avLst/>
            </a:prstGeom>
          </p:spPr>
          <p:txBody>
            <a:bodyPr lIns="33867" tIns="33867" rIns="33867" bIns="33867" rtlCol="0" anchor="ctr"/>
            <a:lstStyle/>
            <a:p>
              <a:pPr algn="ctr">
                <a:lnSpc>
                  <a:spcPts val="1773"/>
                </a:lnSpc>
                <a:spcBef>
                  <a:spcPct val="0"/>
                </a:spcBef>
              </a:pPr>
              <a:endParaRPr sz="1200"/>
            </a:p>
          </p:txBody>
        </p:sp>
      </p:grpSp>
      <p:sp>
        <p:nvSpPr>
          <p:cNvPr id="9" name="Freeform 9"/>
          <p:cNvSpPr/>
          <p:nvPr/>
        </p:nvSpPr>
        <p:spPr>
          <a:xfrm>
            <a:off x="31427" y="1019249"/>
            <a:ext cx="11582210" cy="5944304"/>
          </a:xfrm>
          <a:custGeom>
            <a:avLst/>
            <a:gdLst/>
            <a:ahLst/>
            <a:cxnLst/>
            <a:rect l="l" t="t" r="r" b="b"/>
            <a:pathLst>
              <a:path w="17373315" h="8916456">
                <a:moveTo>
                  <a:pt x="0" y="0"/>
                </a:moveTo>
                <a:lnTo>
                  <a:pt x="17373315" y="0"/>
                </a:lnTo>
                <a:lnTo>
                  <a:pt x="17373315" y="8916456"/>
                </a:lnTo>
                <a:lnTo>
                  <a:pt x="0" y="8916456"/>
                </a:lnTo>
                <a:lnTo>
                  <a:pt x="0" y="0"/>
                </a:lnTo>
                <a:close/>
              </a:path>
            </a:pathLst>
          </a:custGeom>
          <a:blipFill>
            <a:blip r:embed="rId5"/>
            <a:stretch>
              <a:fillRect t="-41354" b="-33651"/>
            </a:stretch>
          </a:blipFill>
        </p:spPr>
      </p:sp>
      <p:pic>
        <p:nvPicPr>
          <p:cNvPr id="10" name="Picture 10"/>
          <p:cNvPicPr>
            <a:picLocks noChangeAspect="1"/>
          </p:cNvPicPr>
          <p:nvPr/>
        </p:nvPicPr>
        <p:blipFill>
          <a:blip r:embed="rId6">
            <a:alphaModFix amt="88000"/>
          </a:blip>
          <a:srcRect/>
          <a:stretch>
            <a:fillRect/>
          </a:stretch>
        </p:blipFill>
        <p:spPr>
          <a:xfrm>
            <a:off x="8680172" y="3991402"/>
            <a:ext cx="3683325" cy="2762494"/>
          </a:xfrm>
          <a:prstGeom prst="rect">
            <a:avLst/>
          </a:prstGeom>
        </p:spPr>
      </p:pic>
      <p:pic>
        <p:nvPicPr>
          <p:cNvPr id="11" name="Picture 11"/>
          <p:cNvPicPr>
            <a:picLocks noChangeAspect="1"/>
          </p:cNvPicPr>
          <p:nvPr/>
        </p:nvPicPr>
        <p:blipFill>
          <a:blip r:embed="rId7">
            <a:alphaModFix amt="78000"/>
          </a:blip>
          <a:srcRect/>
          <a:stretch>
            <a:fillRect/>
          </a:stretch>
        </p:blipFill>
        <p:spPr>
          <a:xfrm>
            <a:off x="0" y="3138085"/>
            <a:ext cx="7516123" cy="4241073"/>
          </a:xfrm>
          <a:prstGeom prst="rect">
            <a:avLst/>
          </a:prstGeom>
        </p:spPr>
      </p:pic>
      <p:pic>
        <p:nvPicPr>
          <p:cNvPr id="12" name="Picture 12"/>
          <p:cNvPicPr>
            <a:picLocks noChangeAspect="1"/>
          </p:cNvPicPr>
          <p:nvPr/>
        </p:nvPicPr>
        <p:blipFill>
          <a:blip r:embed="rId8"/>
          <a:srcRect/>
          <a:stretch>
            <a:fillRect/>
          </a:stretch>
        </p:blipFill>
        <p:spPr>
          <a:xfrm>
            <a:off x="5002608" y="3429000"/>
            <a:ext cx="2186784" cy="1640088"/>
          </a:xfrm>
          <a:prstGeom prst="rect">
            <a:avLst/>
          </a:prstGeom>
        </p:spPr>
      </p:pic>
      <p:sp>
        <p:nvSpPr>
          <p:cNvPr id="13" name="TextBox 13"/>
          <p:cNvSpPr txBox="1"/>
          <p:nvPr/>
        </p:nvSpPr>
        <p:spPr>
          <a:xfrm>
            <a:off x="685800" y="2633636"/>
            <a:ext cx="10820400" cy="882165"/>
          </a:xfrm>
          <a:prstGeom prst="rect">
            <a:avLst/>
          </a:prstGeom>
        </p:spPr>
        <p:txBody>
          <a:bodyPr lIns="0" tIns="0" rIns="0" bIns="0" rtlCol="0" anchor="t">
            <a:spAutoFit/>
          </a:bodyPr>
          <a:lstStyle/>
          <a:p>
            <a:pPr algn="ctr">
              <a:lnSpc>
                <a:spcPts val="6069"/>
              </a:lnSpc>
            </a:pPr>
            <a:r>
              <a:rPr lang="en-US" sz="10115" b="1" spc="-769">
                <a:solidFill>
                  <a:srgbClr val="354EAB"/>
                </a:solidFill>
                <a:latin typeface="Poppins Bold"/>
                <a:ea typeface="Poppins Bold"/>
                <a:cs typeface="Poppins Bold"/>
                <a:sym typeface="Poppins Bold"/>
              </a:rPr>
              <a:t>Starting soon‎ ‎ ‎ ‎ </a:t>
            </a:r>
          </a:p>
        </p:txBody>
      </p:sp>
      <p:sp>
        <p:nvSpPr>
          <p:cNvPr id="14" name="Freeform 14"/>
          <p:cNvSpPr/>
          <p:nvPr/>
        </p:nvSpPr>
        <p:spPr>
          <a:xfrm>
            <a:off x="0" y="0"/>
            <a:ext cx="3758061" cy="763356"/>
          </a:xfrm>
          <a:custGeom>
            <a:avLst/>
            <a:gdLst/>
            <a:ahLst/>
            <a:cxnLst/>
            <a:rect l="l" t="t" r="r" b="b"/>
            <a:pathLst>
              <a:path w="5637092" h="1145034">
                <a:moveTo>
                  <a:pt x="0" y="0"/>
                </a:moveTo>
                <a:lnTo>
                  <a:pt x="5637092" y="0"/>
                </a:lnTo>
                <a:lnTo>
                  <a:pt x="5637092" y="1145034"/>
                </a:lnTo>
                <a:lnTo>
                  <a:pt x="0" y="1145034"/>
                </a:lnTo>
                <a:lnTo>
                  <a:pt x="0" y="0"/>
                </a:lnTo>
                <a:close/>
              </a:path>
            </a:pathLst>
          </a:custGeom>
          <a:blipFill>
            <a:blip r:embed="rId9"/>
            <a:stretch>
              <a:fillRect/>
            </a:stretch>
          </a:blipFill>
        </p:spPr>
      </p:sp>
      <p:pic>
        <p:nvPicPr>
          <p:cNvPr id="21" name="Picture 20">
            <a:extLst>
              <a:ext uri="{FF2B5EF4-FFF2-40B4-BE49-F238E27FC236}">
                <a16:creationId xmlns:a16="http://schemas.microsoft.com/office/drawing/2014/main" id="{E380B17C-D2E7-C396-AA32-32E6AD746942}"/>
              </a:ext>
            </a:extLst>
          </p:cNvPr>
          <p:cNvPicPr>
            <a:picLocks noChangeAspect="1"/>
          </p:cNvPicPr>
          <p:nvPr/>
        </p:nvPicPr>
        <p:blipFill>
          <a:blip r:embed="rId10"/>
          <a:srcRect l="9938" t="32920" r="14807" b="30032"/>
          <a:stretch>
            <a:fillRect/>
          </a:stretch>
        </p:blipFill>
        <p:spPr>
          <a:xfrm>
            <a:off x="9441589" y="20569"/>
            <a:ext cx="2593851" cy="718265"/>
          </a:xfrm>
          <a:prstGeom prst="rect">
            <a:avLst/>
          </a:prstGeom>
        </p:spPr>
      </p:pic>
    </p:spTree>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2"/>
                    </p:tgtEl>
                  </p:cond>
                </p:stCondLst>
                <p:endSync evt="end" delay="0">
                  <p:rtn val="all"/>
                </p:endSync>
                <p:childTnLst>
                  <p:par>
                    <p:cTn id="3" fill="hold">
                      <p:stCondLst>
                        <p:cond delay="0"/>
                      </p:stCondLst>
                      <p:childTnLst>
                        <p:par>
                          <p:cTn id="4" fill="hold">
                            <p:stCondLst>
                              <p:cond delay="0"/>
                            </p:stCondLst>
                            <p:childTnLst>
                              <p:par>
                                <p:cTn id="5" presetID="2" presetClass="mediacall" presetSubtype="0" fill="hold" nodeType="clickEffect">
                                  <p:stCondLst>
                                    <p:cond delay="0"/>
                                  </p:stCondLst>
                                  <p:childTnLst>
                                    <p:cmd type="call" cmd="togglePause">
                                      <p:cBhvr>
                                        <p:cTn id="6" dur="1" fill="hold"/>
                                        <p:tgtEl>
                                          <p:spTgt spid="2"/>
                                        </p:tgtEl>
                                      </p:cBhvr>
                                    </p:cmd>
                                  </p:childTnLst>
                                </p:cTn>
                              </p:par>
                            </p:childTnLst>
                          </p:cTn>
                        </p:par>
                      </p:childTnLst>
                    </p:cTn>
                  </p:par>
                </p:childTnLst>
              </p:cTn>
              <p:nextCondLst>
                <p:cond evt="onClick" delay="0">
                  <p:tgtEl>
                    <p:spTgt spid="2"/>
                  </p:tgtEl>
                </p:cond>
              </p:nextCondLst>
            </p:seq>
            <p:video>
              <p:cMediaNode vol="0">
                <p:cTn id="7" fill="hold" display="0">
                  <p:stCondLst>
                    <p:cond delay="indefinite"/>
                  </p:stCondLst>
                </p:cTn>
                <p:tgtEl>
                  <p:spTgt spid="2"/>
                </p:tgtEl>
              </p:cMediaNode>
            </p:video>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1">
    <p:bg>
      <p:bgPr>
        <a:solidFill>
          <a:srgbClr val="F8F9FA"/>
        </a:solidFill>
        <a:effectLst/>
      </p:bgPr>
    </p:bg>
    <p:spTree>
      <p:nvGrpSpPr>
        <p:cNvPr id="1" name=""/>
        <p:cNvGrpSpPr/>
        <p:nvPr/>
      </p:nvGrpSpPr>
      <p:grpSpPr>
        <a:xfrm>
          <a:off x="0" y="0"/>
          <a:ext cx="0" cy="0"/>
          <a:chOff x="0" y="0"/>
          <a:chExt cx="0" cy="0"/>
        </a:xfrm>
      </p:grpSpPr>
      <p:pic>
        <p:nvPicPr>
          <p:cNvPr id="2" name="Image 0" descr="ellipse"/>
          <p:cNvPicPr>
            <a:picLocks noChangeAspect="1"/>
          </p:cNvPicPr>
          <p:nvPr/>
        </p:nvPicPr>
        <p:blipFill>
          <a:blip r:embed="rId3"/>
          <a:srcRect/>
          <a:stretch/>
        </p:blipFill>
        <p:spPr>
          <a:xfrm>
            <a:off x="9524999" y="0"/>
            <a:ext cx="3302000" cy="3302000"/>
          </a:xfrm>
          <a:prstGeom prst="rect">
            <a:avLst/>
          </a:prstGeom>
        </p:spPr>
      </p:pic>
      <p:pic>
        <p:nvPicPr>
          <p:cNvPr id="3" name="Image 1" descr="ellipse"/>
          <p:cNvPicPr>
            <a:picLocks noChangeAspect="1"/>
          </p:cNvPicPr>
          <p:nvPr/>
        </p:nvPicPr>
        <p:blipFill>
          <a:blip r:embed="rId4"/>
          <a:srcRect/>
          <a:stretch/>
        </p:blipFill>
        <p:spPr>
          <a:xfrm>
            <a:off x="10794999" y="2667000"/>
            <a:ext cx="1905000" cy="1905000"/>
          </a:xfrm>
          <a:prstGeom prst="rect">
            <a:avLst/>
          </a:prstGeom>
        </p:spPr>
      </p:pic>
      <p:pic>
        <p:nvPicPr>
          <p:cNvPr id="4" name="Image 2" descr="ellipse"/>
          <p:cNvPicPr>
            <a:picLocks noChangeAspect="1"/>
          </p:cNvPicPr>
          <p:nvPr/>
        </p:nvPicPr>
        <p:blipFill>
          <a:blip r:embed="rId5"/>
          <a:srcRect/>
          <a:stretch/>
        </p:blipFill>
        <p:spPr>
          <a:xfrm>
            <a:off x="9016999" y="4445000"/>
            <a:ext cx="1524000" cy="1524000"/>
          </a:xfrm>
          <a:prstGeom prst="rect">
            <a:avLst/>
          </a:prstGeom>
        </p:spPr>
      </p:pic>
      <p:pic>
        <p:nvPicPr>
          <p:cNvPr id="5" name="Image 3" descr="ellipse"/>
          <p:cNvPicPr>
            <a:picLocks noChangeAspect="1"/>
          </p:cNvPicPr>
          <p:nvPr/>
        </p:nvPicPr>
        <p:blipFill>
          <a:blip r:embed="rId6"/>
          <a:srcRect/>
          <a:stretch/>
        </p:blipFill>
        <p:spPr>
          <a:xfrm>
            <a:off x="10921999" y="5461000"/>
            <a:ext cx="2159000" cy="2159000"/>
          </a:xfrm>
          <a:prstGeom prst="rect">
            <a:avLst/>
          </a:prstGeom>
        </p:spPr>
      </p:pic>
      <p:pic>
        <p:nvPicPr>
          <p:cNvPr id="6" name="Image 4" descr="ellipse"/>
          <p:cNvPicPr>
            <a:picLocks noChangeAspect="1"/>
          </p:cNvPicPr>
          <p:nvPr/>
        </p:nvPicPr>
        <p:blipFill>
          <a:blip r:embed="rId7"/>
          <a:srcRect/>
          <a:stretch/>
        </p:blipFill>
        <p:spPr>
          <a:xfrm>
            <a:off x="812788" y="1397124"/>
            <a:ext cx="152363" cy="152363"/>
          </a:xfrm>
          <a:prstGeom prst="rect">
            <a:avLst/>
          </a:prstGeom>
        </p:spPr>
      </p:pic>
      <p:pic>
        <p:nvPicPr>
          <p:cNvPr id="7" name="Image 5" descr="ellipse"/>
          <p:cNvPicPr>
            <a:picLocks noChangeAspect="1"/>
          </p:cNvPicPr>
          <p:nvPr/>
        </p:nvPicPr>
        <p:blipFill>
          <a:blip r:embed="rId8"/>
          <a:srcRect/>
          <a:stretch/>
        </p:blipFill>
        <p:spPr>
          <a:xfrm>
            <a:off x="1066725" y="1397124"/>
            <a:ext cx="152363" cy="152363"/>
          </a:xfrm>
          <a:prstGeom prst="rect">
            <a:avLst/>
          </a:prstGeom>
        </p:spPr>
      </p:pic>
      <p:pic>
        <p:nvPicPr>
          <p:cNvPr id="8" name="Image 6" descr="ellipse"/>
          <p:cNvPicPr>
            <a:picLocks noChangeAspect="1"/>
          </p:cNvPicPr>
          <p:nvPr/>
        </p:nvPicPr>
        <p:blipFill>
          <a:blip r:embed="rId9"/>
          <a:srcRect/>
          <a:stretch/>
        </p:blipFill>
        <p:spPr>
          <a:xfrm>
            <a:off x="1320663" y="1397124"/>
            <a:ext cx="152363" cy="152363"/>
          </a:xfrm>
          <a:prstGeom prst="rect">
            <a:avLst/>
          </a:prstGeom>
        </p:spPr>
      </p:pic>
      <p:pic>
        <p:nvPicPr>
          <p:cNvPr id="9" name="Image 7" descr="ellipse"/>
          <p:cNvPicPr>
            <a:picLocks noChangeAspect="1"/>
          </p:cNvPicPr>
          <p:nvPr/>
        </p:nvPicPr>
        <p:blipFill>
          <a:blip r:embed="rId10"/>
          <a:srcRect/>
          <a:stretch/>
        </p:blipFill>
        <p:spPr>
          <a:xfrm>
            <a:off x="1574601" y="1397124"/>
            <a:ext cx="152363" cy="152363"/>
          </a:xfrm>
          <a:prstGeom prst="rect">
            <a:avLst/>
          </a:prstGeom>
        </p:spPr>
      </p:pic>
      <p:sp>
        <p:nvSpPr>
          <p:cNvPr id="10" name="Text 0"/>
          <p:cNvSpPr/>
          <p:nvPr/>
        </p:nvSpPr>
        <p:spPr>
          <a:xfrm>
            <a:off x="1828539" y="1340011"/>
            <a:ext cx="7289899" cy="292050"/>
          </a:xfrm>
          <a:prstGeom prst="rect">
            <a:avLst/>
          </a:prstGeom>
          <a:noFill/>
          <a:ln/>
        </p:spPr>
        <p:txBody>
          <a:bodyPr wrap="square" lIns="0" tIns="0" rIns="0" bIns="0" rtlCol="0" anchor="t"/>
          <a:lstStyle/>
          <a:p>
            <a:pPr marL="0" indent="0" algn="l">
              <a:lnSpc>
                <a:spcPts val="2100"/>
              </a:lnSpc>
              <a:buNone/>
            </a:pPr>
            <a:r>
              <a:rPr lang="en-US" sz="1500" dirty="0">
                <a:solidFill>
                  <a:srgbClr val="5F6368"/>
                </a:solidFill>
                <a:latin typeface="Google Sans" pitchFamily="34" charset="0"/>
                <a:ea typeface="Google Sans" pitchFamily="34" charset="-122"/>
                <a:cs typeface="Google Sans" pitchFamily="34" charset="-120"/>
              </a:rPr>
              <a:t>Google Developer Groups on Campus · A. P. Shah Institute of Technology</a:t>
            </a:r>
            <a:endParaRPr lang="en-US" sz="1500" dirty="0"/>
          </a:p>
        </p:txBody>
      </p:sp>
      <p:sp>
        <p:nvSpPr>
          <p:cNvPr id="11" name="Text 1"/>
          <p:cNvSpPr>
            <a:spLocks noGrp="1"/>
          </p:cNvSpPr>
          <p:nvPr>
            <p:ph type="title"/>
          </p:nvPr>
        </p:nvSpPr>
        <p:spPr>
          <a:xfrm>
            <a:off x="812788" y="1835237"/>
            <a:ext cx="8110219" cy="1732210"/>
          </a:xfrm>
          <a:prstGeom prst="rect">
            <a:avLst/>
          </a:prstGeom>
          <a:noFill/>
          <a:ln/>
        </p:spPr>
        <p:txBody>
          <a:bodyPr wrap="square" lIns="0" tIns="0" rIns="0" bIns="0" rtlCol="0" anchor="t"/>
          <a:lstStyle/>
          <a:p>
            <a:pPr marL="0" indent="0" algn="l">
              <a:lnSpc>
                <a:spcPts val="6720"/>
              </a:lnSpc>
              <a:buNone/>
            </a:pPr>
            <a:r>
              <a:rPr lang="en-US" sz="6400" b="1" i="0" dirty="0">
                <a:solidFill>
                  <a:srgbClr val="202124"/>
                </a:solidFill>
                <a:latin typeface="Google Sans" pitchFamily="34" charset="0"/>
                <a:ea typeface="Google Sans" pitchFamily="34" charset="-122"/>
                <a:cs typeface="Google Sans" pitchFamily="34" charset="-120"/>
              </a:rPr>
              <a:t>Learn with </a:t>
            </a:r>
            <a:r>
              <a:rPr lang="en-US" sz="6400" b="1" i="0" dirty="0">
                <a:solidFill>
                  <a:srgbClr val="4285F4"/>
                </a:solidFill>
                <a:latin typeface="Google Sans" pitchFamily="34" charset="0"/>
                <a:ea typeface="Google Sans" pitchFamily="34" charset="-122"/>
                <a:cs typeface="Google Sans" pitchFamily="34" charset="-120"/>
              </a:rPr>
              <a:t>Communities</a:t>
            </a:r>
            <a:endParaRPr lang="en-US" sz="6400" dirty="0"/>
          </a:p>
        </p:txBody>
      </p:sp>
      <p:sp>
        <p:nvSpPr>
          <p:cNvPr id="12" name="Text 2"/>
          <p:cNvSpPr/>
          <p:nvPr/>
        </p:nvSpPr>
        <p:spPr>
          <a:xfrm>
            <a:off x="812788" y="3770622"/>
            <a:ext cx="7848599" cy="416570"/>
          </a:xfrm>
          <a:prstGeom prst="rect">
            <a:avLst/>
          </a:prstGeom>
          <a:noFill/>
          <a:ln/>
        </p:spPr>
        <p:txBody>
          <a:bodyPr wrap="square" lIns="0" tIns="0" rIns="0" bIns="0" rtlCol="0" anchor="t"/>
          <a:lstStyle/>
          <a:p>
            <a:pPr marL="0" indent="0" algn="l">
              <a:lnSpc>
                <a:spcPts val="3080"/>
              </a:lnSpc>
              <a:buNone/>
            </a:pPr>
            <a:r>
              <a:rPr lang="en-US" sz="2200" dirty="0">
                <a:solidFill>
                  <a:srgbClr val="3C4043"/>
                </a:solidFill>
                <a:latin typeface="Google Sans" pitchFamily="34" charset="0"/>
                <a:ea typeface="Google Sans" pitchFamily="34" charset="-122"/>
                <a:cs typeface="Google Sans" pitchFamily="34" charset="-120"/>
              </a:rPr>
              <a:t>with GDGoC APSIT for </a:t>
            </a:r>
            <a:r>
              <a:rPr lang="en-US" sz="2200" b="1" dirty="0">
                <a:solidFill>
                  <a:srgbClr val="34A853"/>
                </a:solidFill>
                <a:latin typeface="Google Sans" pitchFamily="34" charset="0"/>
                <a:ea typeface="Google Sans" pitchFamily="34" charset="-122"/>
                <a:cs typeface="Google Sans" pitchFamily="34" charset="-120"/>
              </a:rPr>
              <a:t>2026-27</a:t>
            </a:r>
            <a:endParaRPr lang="en-US" sz="2200" dirty="0"/>
          </a:p>
        </p:txBody>
      </p:sp>
      <p:sp>
        <p:nvSpPr>
          <p:cNvPr id="13" name="Text 3"/>
          <p:cNvSpPr/>
          <p:nvPr/>
        </p:nvSpPr>
        <p:spPr>
          <a:xfrm>
            <a:off x="812788" y="4390367"/>
            <a:ext cx="8046720" cy="777240"/>
          </a:xfrm>
          <a:prstGeom prst="rect">
            <a:avLst/>
          </a:prstGeom>
          <a:noFill/>
          <a:ln/>
        </p:spPr>
        <p:txBody>
          <a:bodyPr wrap="square" lIns="0" tIns="0" rIns="0" bIns="0" rtlCol="0" anchor="t"/>
          <a:lstStyle/>
          <a:p>
            <a:pPr marL="0" indent="0" algn="l">
              <a:lnSpc>
                <a:spcPts val="2100"/>
              </a:lnSpc>
              <a:buNone/>
            </a:pPr>
            <a:r>
              <a:rPr lang="en-US" sz="1400" dirty="0">
                <a:solidFill>
                  <a:srgbClr val="5F6368"/>
                </a:solidFill>
                <a:latin typeface="Google Sans" pitchFamily="34" charset="0"/>
                <a:ea typeface="Google Sans" pitchFamily="34" charset="-122"/>
                <a:cs typeface="Google Sans" pitchFamily="34" charset="-120"/>
              </a:rPr>
              <a:t>A Google Cloud campaign that gives students free, hands-on labs in Cloud, Data and AI on Google Skills. You earn verifiable skill badges and unlock official swag along the way.</a:t>
            </a:r>
            <a:endParaRPr lang="en-US" sz="1400" dirty="0"/>
          </a:p>
        </p:txBody>
      </p:sp>
      <p:sp>
        <p:nvSpPr>
          <p:cNvPr id="14" name="Text 4"/>
          <p:cNvSpPr/>
          <p:nvPr/>
        </p:nvSpPr>
        <p:spPr>
          <a:xfrm>
            <a:off x="812788" y="5152243"/>
            <a:ext cx="1403015" cy="365683"/>
          </a:xfrm>
          <a:prstGeom prst="roundRect">
            <a:avLst>
              <a:gd name="adj" fmla="val 50000"/>
            </a:avLst>
          </a:prstGeom>
          <a:solidFill>
            <a:srgbClr val="E8F0FE"/>
          </a:solidFill>
          <a:ln/>
        </p:spPr>
        <p:txBody>
          <a:bodyPr wrap="none" lIns="0" tIns="0" rIns="0" bIns="0" rtlCol="0" anchor="ctr"/>
          <a:lstStyle/>
          <a:p>
            <a:pPr marL="0" indent="0" algn="ctr">
              <a:lnSpc>
                <a:spcPts val="1680"/>
              </a:lnSpc>
              <a:buNone/>
            </a:pPr>
            <a:r>
              <a:rPr lang="en-US" sz="1200" dirty="0">
                <a:solidFill>
                  <a:srgbClr val="1A73E8"/>
                </a:solidFill>
                <a:latin typeface="Google Sans" pitchFamily="34" charset="0"/>
                <a:ea typeface="Google Sans" pitchFamily="34" charset="-122"/>
                <a:cs typeface="Google Sans" pitchFamily="34" charset="-120"/>
              </a:rPr>
              <a:t>Free lab credits</a:t>
            </a:r>
            <a:endParaRPr lang="en-US" sz="1200" dirty="0"/>
          </a:p>
        </p:txBody>
      </p:sp>
      <p:sp>
        <p:nvSpPr>
          <p:cNvPr id="15" name="Text 5"/>
          <p:cNvSpPr/>
          <p:nvPr/>
        </p:nvSpPr>
        <p:spPr>
          <a:xfrm>
            <a:off x="2317378" y="5152243"/>
            <a:ext cx="1181695" cy="365683"/>
          </a:xfrm>
          <a:prstGeom prst="roundRect">
            <a:avLst>
              <a:gd name="adj" fmla="val 50000"/>
            </a:avLst>
          </a:prstGeom>
          <a:solidFill>
            <a:srgbClr val="FCE8E6"/>
          </a:solidFill>
          <a:ln/>
        </p:spPr>
        <p:txBody>
          <a:bodyPr wrap="none" lIns="0" tIns="0" rIns="0" bIns="0" rtlCol="0" anchor="ctr"/>
          <a:lstStyle/>
          <a:p>
            <a:pPr marL="0" indent="0" algn="ctr">
              <a:lnSpc>
                <a:spcPts val="1680"/>
              </a:lnSpc>
              <a:buNone/>
            </a:pPr>
            <a:r>
              <a:rPr lang="en-US" sz="1200" dirty="0">
                <a:solidFill>
                  <a:srgbClr val="C5221F"/>
                </a:solidFill>
                <a:latin typeface="Google Sans" pitchFamily="34" charset="0"/>
                <a:ea typeface="Google Sans" pitchFamily="34" charset="-122"/>
                <a:cs typeface="Google Sans" pitchFamily="34" charset="-120"/>
              </a:rPr>
              <a:t>Skill badges</a:t>
            </a:r>
            <a:endParaRPr lang="en-US" sz="1200" dirty="0"/>
          </a:p>
        </p:txBody>
      </p:sp>
      <p:sp>
        <p:nvSpPr>
          <p:cNvPr id="16" name="Text 6"/>
          <p:cNvSpPr/>
          <p:nvPr/>
        </p:nvSpPr>
        <p:spPr>
          <a:xfrm>
            <a:off x="3600648" y="5152243"/>
            <a:ext cx="1909155" cy="365683"/>
          </a:xfrm>
          <a:prstGeom prst="roundRect">
            <a:avLst>
              <a:gd name="adj" fmla="val 50000"/>
            </a:avLst>
          </a:prstGeom>
          <a:solidFill>
            <a:srgbClr val="E6F4EA"/>
          </a:solidFill>
          <a:ln/>
        </p:spPr>
        <p:txBody>
          <a:bodyPr wrap="none" lIns="0" tIns="0" rIns="0" bIns="0" rtlCol="0" anchor="ctr"/>
          <a:lstStyle/>
          <a:p>
            <a:pPr marL="0" indent="0" algn="ctr">
              <a:lnSpc>
                <a:spcPts val="1680"/>
              </a:lnSpc>
              <a:buNone/>
            </a:pPr>
            <a:r>
              <a:rPr lang="en-US" sz="1200" dirty="0">
                <a:solidFill>
                  <a:srgbClr val="137333"/>
                </a:solidFill>
                <a:latin typeface="Google Sans" pitchFamily="34" charset="0"/>
                <a:ea typeface="Google Sans" pitchFamily="34" charset="-122"/>
                <a:cs typeface="Google Sans" pitchFamily="34" charset="-120"/>
              </a:rPr>
              <a:t>Swag at 5 &amp; 10 badges</a:t>
            </a:r>
            <a:endParaRPr lang="en-US" sz="1200" dirty="0"/>
          </a:p>
        </p:txBody>
      </p:sp>
      <p:sp>
        <p:nvSpPr>
          <p:cNvPr id="17" name="Text 7"/>
          <p:cNvSpPr/>
          <p:nvPr/>
        </p:nvSpPr>
        <p:spPr>
          <a:xfrm>
            <a:off x="5611378" y="5152243"/>
            <a:ext cx="1988654" cy="365683"/>
          </a:xfrm>
          <a:prstGeom prst="roundRect">
            <a:avLst>
              <a:gd name="adj" fmla="val 50000"/>
            </a:avLst>
          </a:prstGeom>
          <a:solidFill>
            <a:srgbClr val="FEF7E0"/>
          </a:solidFill>
          <a:ln/>
        </p:spPr>
        <p:txBody>
          <a:bodyPr wrap="none" lIns="0" tIns="0" rIns="0" bIns="0" rtlCol="0" anchor="ctr"/>
          <a:lstStyle/>
          <a:p>
            <a:pPr marL="0" indent="0" algn="ctr">
              <a:lnSpc>
                <a:spcPts val="1680"/>
              </a:lnSpc>
              <a:buNone/>
            </a:pPr>
            <a:r>
              <a:rPr lang="en-US" sz="1200" dirty="0">
                <a:solidFill>
                  <a:srgbClr val="B06000"/>
                </a:solidFill>
                <a:latin typeface="Google Sans" pitchFamily="34" charset="0"/>
                <a:ea typeface="Google Sans" pitchFamily="34" charset="-122"/>
                <a:cs typeface="Google Sans" pitchFamily="34" charset="-120"/>
              </a:rPr>
              <a:t>Register by 31 Oct 2026</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What is Learn with Communities?</a:t>
            </a:r>
            <a:endParaRPr lang="en-US" sz="3200" dirty="0"/>
          </a:p>
        </p:txBody>
      </p:sp>
      <p:sp>
        <p:nvSpPr>
          <p:cNvPr id="7" name="TextBox 6"/>
          <p:cNvSpPr txBox="1"/>
          <p:nvPr/>
        </p:nvSpPr>
        <p:spPr>
          <a:xfrm>
            <a:off x="813816" y="1371600"/>
            <a:ext cx="10570464" cy="731520"/>
          </a:xfrm>
          <a:prstGeom prst="rect">
            <a:avLst/>
          </a:prstGeom>
          <a:noFill/>
        </p:spPr>
        <p:txBody>
          <a:bodyPr wrap="square" lIns="0" tIns="0" rIns="0" bIns="0" anchor="t">
            <a:spAutoFit/>
          </a:bodyPr>
          <a:lstStyle/>
          <a:p>
            <a:pPr>
              <a:lnSpc>
                <a:spcPts val="2100"/>
              </a:lnSpc>
            </a:pPr>
            <a:r>
              <a:rPr sz="1500" b="1">
                <a:solidFill>
                  <a:srgbClr val="3C4043"/>
                </a:solidFill>
                <a:latin typeface="Google Sans"/>
              </a:rPr>
              <a:t>Google Cloud's campaign for student communities.</a:t>
            </a:r>
            <a:r>
              <a:rPr sz="1500" b="0">
                <a:solidFill>
                  <a:srgbClr val="3C4043"/>
                </a:solidFill>
                <a:latin typeface="Google Sans"/>
              </a:rPr>
              <a:t> Get </a:t>
            </a:r>
            <a:r>
              <a:rPr sz="1500" b="1">
                <a:solidFill>
                  <a:srgbClr val="1A73E8"/>
                </a:solidFill>
                <a:latin typeface="Google Sans"/>
              </a:rPr>
              <a:t>free, hands-on labs</a:t>
            </a:r>
            <a:r>
              <a:rPr sz="1500" b="0">
                <a:solidFill>
                  <a:srgbClr val="3C4043"/>
                </a:solidFill>
                <a:latin typeface="Google Sans"/>
              </a:rPr>
              <a:t> on Google Skills, earn official skill badges and unlock swag. Open to every APSIT student.</a:t>
            </a:r>
          </a:p>
        </p:txBody>
      </p:sp>
      <p:sp>
        <p:nvSpPr>
          <p:cNvPr id="8" name="Rectangle 7"/>
          <p:cNvSpPr/>
          <p:nvPr/>
        </p:nvSpPr>
        <p:spPr>
          <a:xfrm>
            <a:off x="813816" y="2377440"/>
            <a:ext cx="3401568" cy="2194560"/>
          </a:xfrm>
          <a:prstGeom prst="roundRect">
            <a:avLst>
              <a:gd name="adj" fmla="val 6645"/>
            </a:avLst>
          </a:prstGeom>
          <a:solidFill>
            <a:srgbClr val="E8F0FE"/>
          </a:solidFill>
          <a:ln>
            <a:noFill/>
          </a:ln>
        </p:spPr>
        <p:txBody>
          <a:bodyPr rtlCol="0" anchor="ctr"/>
          <a:lstStyle/>
          <a:p>
            <a:pPr algn="ctr"/>
            <a:endParaRPr/>
          </a:p>
        </p:txBody>
      </p:sp>
      <p:sp>
        <p:nvSpPr>
          <p:cNvPr id="9" name="Rectangle 8"/>
          <p:cNvSpPr/>
          <p:nvPr/>
        </p:nvSpPr>
        <p:spPr>
          <a:xfrm>
            <a:off x="813816" y="2377440"/>
            <a:ext cx="3401568" cy="2194560"/>
          </a:xfrm>
          <a:custGeom>
            <a:avLst/>
            <a:gdLst/>
            <a:ahLst/>
            <a:cxnLst/>
            <a:rect l="l" t="t" r="r" b="b"/>
            <a:pathLst>
              <a:path w="3401568" h="2194560">
                <a:moveTo>
                  <a:pt x="0" y="152400"/>
                </a:moveTo>
                <a:lnTo>
                  <a:pt x="0" y="152400"/>
                </a:lnTo>
                <a:arcTo wR="152400" hR="152400" stAng="10800000" swAng="5400000"/>
                <a:lnTo>
                  <a:pt x="3249168" y="0"/>
                </a:lnTo>
                <a:arcTo wR="152400" hR="152400" stAng="16200000" swAng="5400000"/>
                <a:lnTo>
                  <a:pt x="3401568" y="152400"/>
                </a:lnTo>
                <a:arcTo wR="152400" hR="88900" stAng="0" swAng="-5400000"/>
                <a:lnTo>
                  <a:pt x="152400" y="63500"/>
                </a:lnTo>
                <a:arcTo wR="152400" hR="88900" stAng="16200000" swAng="-5400000"/>
                <a:close/>
              </a:path>
            </a:pathLst>
          </a:custGeom>
          <a:solidFill>
            <a:srgbClr val="4285F4"/>
          </a:solidFill>
          <a:ln>
            <a:noFill/>
          </a:ln>
        </p:spPr>
        <p:txBody>
          <a:bodyPr rtlCol="0" anchor="ctr"/>
          <a:lstStyle/>
          <a:p>
            <a:pPr algn="ctr"/>
            <a:endParaRPr/>
          </a:p>
        </p:txBody>
      </p:sp>
      <p:sp>
        <p:nvSpPr>
          <p:cNvPr id="10" name="TextBox 9"/>
          <p:cNvSpPr txBox="1"/>
          <p:nvPr/>
        </p:nvSpPr>
        <p:spPr>
          <a:xfrm>
            <a:off x="1088136" y="2688336"/>
            <a:ext cx="2852928" cy="256032"/>
          </a:xfrm>
          <a:prstGeom prst="rect">
            <a:avLst/>
          </a:prstGeom>
          <a:noFill/>
        </p:spPr>
        <p:txBody>
          <a:bodyPr wrap="square" lIns="0" tIns="0" rIns="0" bIns="0" anchor="t">
            <a:spAutoFit/>
          </a:bodyPr>
          <a:lstStyle/>
          <a:p>
            <a:pPr>
              <a:lnSpc>
                <a:spcPts val="1850"/>
              </a:lnSpc>
            </a:pPr>
            <a:r>
              <a:rPr sz="1300" b="1">
                <a:solidFill>
                  <a:srgbClr val="1A73E8"/>
                </a:solidFill>
                <a:latin typeface="Google Sans"/>
              </a:rPr>
              <a:t>01 · LEARN</a:t>
            </a:r>
          </a:p>
        </p:txBody>
      </p:sp>
      <p:sp>
        <p:nvSpPr>
          <p:cNvPr id="11" name="TextBox 10"/>
          <p:cNvSpPr txBox="1"/>
          <p:nvPr/>
        </p:nvSpPr>
        <p:spPr>
          <a:xfrm>
            <a:off x="1088136" y="3035808"/>
            <a:ext cx="2852928"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Hands-on labs</a:t>
            </a:r>
          </a:p>
        </p:txBody>
      </p:sp>
      <p:sp>
        <p:nvSpPr>
          <p:cNvPr id="12" name="TextBox 11"/>
          <p:cNvSpPr txBox="1"/>
          <p:nvPr/>
        </p:nvSpPr>
        <p:spPr>
          <a:xfrm>
            <a:off x="1088136" y="3474720"/>
            <a:ext cx="2852928" cy="914400"/>
          </a:xfrm>
          <a:prstGeom prst="rect">
            <a:avLst/>
          </a:prstGeom>
          <a:noFill/>
        </p:spPr>
        <p:txBody>
          <a:bodyPr wrap="square" lIns="0" tIns="0" rIns="0" bIns="0" anchor="t">
            <a:spAutoFit/>
          </a:bodyPr>
          <a:lstStyle/>
          <a:p>
            <a:pPr>
              <a:lnSpc>
                <a:spcPts val="1800"/>
              </a:lnSpc>
            </a:pPr>
            <a:r>
              <a:rPr sz="1300" b="0">
                <a:solidFill>
                  <a:srgbClr val="3C4043"/>
                </a:solidFill>
                <a:latin typeface="Google Sans"/>
              </a:rPr>
              <a:t>Work in a real Google Cloud console at your own pace. Free credits arrive by email.</a:t>
            </a:r>
          </a:p>
        </p:txBody>
      </p:sp>
      <p:sp>
        <p:nvSpPr>
          <p:cNvPr id="13" name="Rectangle 12"/>
          <p:cNvSpPr/>
          <p:nvPr/>
        </p:nvSpPr>
        <p:spPr>
          <a:xfrm>
            <a:off x="4398264" y="2377440"/>
            <a:ext cx="3401568" cy="2194560"/>
          </a:xfrm>
          <a:prstGeom prst="roundRect">
            <a:avLst>
              <a:gd name="adj" fmla="val 6645"/>
            </a:avLst>
          </a:prstGeom>
          <a:solidFill>
            <a:srgbClr val="FCE8E6"/>
          </a:solidFill>
          <a:ln>
            <a:noFill/>
          </a:ln>
        </p:spPr>
        <p:txBody>
          <a:bodyPr rtlCol="0" anchor="ctr"/>
          <a:lstStyle/>
          <a:p>
            <a:pPr algn="ctr"/>
            <a:endParaRPr/>
          </a:p>
        </p:txBody>
      </p:sp>
      <p:sp>
        <p:nvSpPr>
          <p:cNvPr id="14" name="Rectangle 13"/>
          <p:cNvSpPr/>
          <p:nvPr/>
        </p:nvSpPr>
        <p:spPr>
          <a:xfrm>
            <a:off x="4398264" y="2377440"/>
            <a:ext cx="3401568" cy="2194560"/>
          </a:xfrm>
          <a:custGeom>
            <a:avLst/>
            <a:gdLst/>
            <a:ahLst/>
            <a:cxnLst/>
            <a:rect l="l" t="t" r="r" b="b"/>
            <a:pathLst>
              <a:path w="3401568" h="2194560">
                <a:moveTo>
                  <a:pt x="0" y="152400"/>
                </a:moveTo>
                <a:lnTo>
                  <a:pt x="0" y="152400"/>
                </a:lnTo>
                <a:arcTo wR="152400" hR="152400" stAng="10800000" swAng="5400000"/>
                <a:lnTo>
                  <a:pt x="3249168" y="0"/>
                </a:lnTo>
                <a:arcTo wR="152400" hR="152400" stAng="16200000" swAng="5400000"/>
                <a:lnTo>
                  <a:pt x="3401568" y="152400"/>
                </a:lnTo>
                <a:arcTo wR="152400" hR="88900" stAng="0" swAng="-5400000"/>
                <a:lnTo>
                  <a:pt x="152400" y="63500"/>
                </a:lnTo>
                <a:arcTo wR="152400" hR="88900" stAng="16200000" swAng="-5400000"/>
                <a:close/>
              </a:path>
            </a:pathLst>
          </a:custGeom>
          <a:solidFill>
            <a:srgbClr val="EA4335"/>
          </a:solidFill>
          <a:ln>
            <a:noFill/>
          </a:ln>
        </p:spPr>
        <p:txBody>
          <a:bodyPr rtlCol="0" anchor="ctr"/>
          <a:lstStyle/>
          <a:p>
            <a:pPr algn="ctr"/>
            <a:endParaRPr/>
          </a:p>
        </p:txBody>
      </p:sp>
      <p:sp>
        <p:nvSpPr>
          <p:cNvPr id="15" name="TextBox 14"/>
          <p:cNvSpPr txBox="1"/>
          <p:nvPr/>
        </p:nvSpPr>
        <p:spPr>
          <a:xfrm>
            <a:off x="4672583" y="2688336"/>
            <a:ext cx="2852928" cy="256032"/>
          </a:xfrm>
          <a:prstGeom prst="rect">
            <a:avLst/>
          </a:prstGeom>
          <a:noFill/>
        </p:spPr>
        <p:txBody>
          <a:bodyPr wrap="square" lIns="0" tIns="0" rIns="0" bIns="0" anchor="t">
            <a:spAutoFit/>
          </a:bodyPr>
          <a:lstStyle/>
          <a:p>
            <a:pPr>
              <a:lnSpc>
                <a:spcPts val="1850"/>
              </a:lnSpc>
            </a:pPr>
            <a:r>
              <a:rPr sz="1300" b="1">
                <a:solidFill>
                  <a:srgbClr val="C5221F"/>
                </a:solidFill>
                <a:latin typeface="Google Sans"/>
              </a:rPr>
              <a:t>02 · PROVE</a:t>
            </a:r>
          </a:p>
        </p:txBody>
      </p:sp>
      <p:sp>
        <p:nvSpPr>
          <p:cNvPr id="16" name="TextBox 15"/>
          <p:cNvSpPr txBox="1"/>
          <p:nvPr/>
        </p:nvSpPr>
        <p:spPr>
          <a:xfrm>
            <a:off x="4672583" y="3035808"/>
            <a:ext cx="2852928"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Skill badges</a:t>
            </a:r>
          </a:p>
        </p:txBody>
      </p:sp>
      <p:sp>
        <p:nvSpPr>
          <p:cNvPr id="17" name="TextBox 16"/>
          <p:cNvSpPr txBox="1"/>
          <p:nvPr/>
        </p:nvSpPr>
        <p:spPr>
          <a:xfrm>
            <a:off x="4672583" y="3474720"/>
            <a:ext cx="2852928" cy="914400"/>
          </a:xfrm>
          <a:prstGeom prst="rect">
            <a:avLst/>
          </a:prstGeom>
          <a:noFill/>
        </p:spPr>
        <p:txBody>
          <a:bodyPr wrap="square" lIns="0" tIns="0" rIns="0" bIns="0" anchor="t">
            <a:spAutoFit/>
          </a:bodyPr>
          <a:lstStyle/>
          <a:p>
            <a:pPr>
              <a:lnSpc>
                <a:spcPts val="1800"/>
              </a:lnSpc>
            </a:pPr>
            <a:r>
              <a:rPr sz="1300" b="0">
                <a:solidFill>
                  <a:srgbClr val="3C4043"/>
                </a:solidFill>
                <a:latin typeface="Google Sans"/>
              </a:rPr>
              <a:t>Pass a challenge lab to earn a verifiable badge for your resume and LinkedIn.</a:t>
            </a:r>
          </a:p>
        </p:txBody>
      </p:sp>
      <p:sp>
        <p:nvSpPr>
          <p:cNvPr id="18" name="Rectangle 17"/>
          <p:cNvSpPr/>
          <p:nvPr/>
        </p:nvSpPr>
        <p:spPr>
          <a:xfrm>
            <a:off x="7982712" y="2377440"/>
            <a:ext cx="3401568" cy="2194560"/>
          </a:xfrm>
          <a:prstGeom prst="roundRect">
            <a:avLst>
              <a:gd name="adj" fmla="val 6645"/>
            </a:avLst>
          </a:prstGeom>
          <a:solidFill>
            <a:srgbClr val="E6F4EA"/>
          </a:solidFill>
          <a:ln>
            <a:noFill/>
          </a:ln>
        </p:spPr>
        <p:txBody>
          <a:bodyPr rtlCol="0" anchor="ctr"/>
          <a:lstStyle/>
          <a:p>
            <a:pPr algn="ctr"/>
            <a:endParaRPr/>
          </a:p>
        </p:txBody>
      </p:sp>
      <p:sp>
        <p:nvSpPr>
          <p:cNvPr id="19" name="Rectangle 18"/>
          <p:cNvSpPr/>
          <p:nvPr/>
        </p:nvSpPr>
        <p:spPr>
          <a:xfrm>
            <a:off x="7982712" y="2377440"/>
            <a:ext cx="3401568" cy="2194560"/>
          </a:xfrm>
          <a:custGeom>
            <a:avLst/>
            <a:gdLst/>
            <a:ahLst/>
            <a:cxnLst/>
            <a:rect l="l" t="t" r="r" b="b"/>
            <a:pathLst>
              <a:path w="3401568" h="2194560">
                <a:moveTo>
                  <a:pt x="0" y="152400"/>
                </a:moveTo>
                <a:lnTo>
                  <a:pt x="0" y="152400"/>
                </a:lnTo>
                <a:arcTo wR="152400" hR="152400" stAng="10800000" swAng="5400000"/>
                <a:lnTo>
                  <a:pt x="3249168" y="0"/>
                </a:lnTo>
                <a:arcTo wR="152400" hR="152400" stAng="16200000" swAng="5400000"/>
                <a:lnTo>
                  <a:pt x="3401568" y="152400"/>
                </a:lnTo>
                <a:arcTo wR="152400" hR="88900" stAng="0" swAng="-5400000"/>
                <a:lnTo>
                  <a:pt x="152400" y="63500"/>
                </a:lnTo>
                <a:arcTo wR="152400" hR="88900" stAng="16200000" swAng="-5400000"/>
                <a:close/>
              </a:path>
            </a:pathLst>
          </a:custGeom>
          <a:solidFill>
            <a:srgbClr val="34A853"/>
          </a:solidFill>
          <a:ln>
            <a:noFill/>
          </a:ln>
        </p:spPr>
        <p:txBody>
          <a:bodyPr rtlCol="0" anchor="ctr"/>
          <a:lstStyle/>
          <a:p>
            <a:pPr algn="ctr"/>
            <a:endParaRPr/>
          </a:p>
        </p:txBody>
      </p:sp>
      <p:sp>
        <p:nvSpPr>
          <p:cNvPr id="20" name="TextBox 19"/>
          <p:cNvSpPr txBox="1"/>
          <p:nvPr/>
        </p:nvSpPr>
        <p:spPr>
          <a:xfrm>
            <a:off x="8257032" y="2688336"/>
            <a:ext cx="2852928" cy="256032"/>
          </a:xfrm>
          <a:prstGeom prst="rect">
            <a:avLst/>
          </a:prstGeom>
          <a:noFill/>
        </p:spPr>
        <p:txBody>
          <a:bodyPr wrap="square" lIns="0" tIns="0" rIns="0" bIns="0" anchor="t">
            <a:spAutoFit/>
          </a:bodyPr>
          <a:lstStyle/>
          <a:p>
            <a:pPr>
              <a:lnSpc>
                <a:spcPts val="1850"/>
              </a:lnSpc>
            </a:pPr>
            <a:r>
              <a:rPr sz="1300" b="1">
                <a:solidFill>
                  <a:srgbClr val="137333"/>
                </a:solidFill>
                <a:latin typeface="Google Sans"/>
              </a:rPr>
              <a:t>03 · EARN</a:t>
            </a:r>
          </a:p>
        </p:txBody>
      </p:sp>
      <p:sp>
        <p:nvSpPr>
          <p:cNvPr id="21" name="TextBox 20"/>
          <p:cNvSpPr txBox="1"/>
          <p:nvPr/>
        </p:nvSpPr>
        <p:spPr>
          <a:xfrm>
            <a:off x="8257032" y="3035808"/>
            <a:ext cx="2852928"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Campaign swag</a:t>
            </a:r>
          </a:p>
        </p:txBody>
      </p:sp>
      <p:sp>
        <p:nvSpPr>
          <p:cNvPr id="22" name="TextBox 21"/>
          <p:cNvSpPr txBox="1"/>
          <p:nvPr/>
        </p:nvSpPr>
        <p:spPr>
          <a:xfrm>
            <a:off x="8257032" y="3474720"/>
            <a:ext cx="2852928" cy="914400"/>
          </a:xfrm>
          <a:prstGeom prst="rect">
            <a:avLst/>
          </a:prstGeom>
          <a:noFill/>
        </p:spPr>
        <p:txBody>
          <a:bodyPr wrap="square" lIns="0" tIns="0" rIns="0" bIns="0" anchor="t">
            <a:spAutoFit/>
          </a:bodyPr>
          <a:lstStyle/>
          <a:p>
            <a:pPr>
              <a:lnSpc>
                <a:spcPts val="1800"/>
              </a:lnSpc>
            </a:pPr>
            <a:r>
              <a:rPr sz="1300" b="0">
                <a:solidFill>
                  <a:srgbClr val="3C4043"/>
                </a:solidFill>
                <a:latin typeface="Google Sans"/>
              </a:rPr>
              <a:t>5 badges: water bottle. 10 badges: Developer Kit and T-shirt.</a:t>
            </a:r>
          </a:p>
        </p:txBody>
      </p:sp>
      <p:sp>
        <p:nvSpPr>
          <p:cNvPr id="23" name="Rectangle 22"/>
          <p:cNvSpPr/>
          <p:nvPr/>
        </p:nvSpPr>
        <p:spPr>
          <a:xfrm>
            <a:off x="813816" y="4892040"/>
            <a:ext cx="10570464" cy="914400"/>
          </a:xfrm>
          <a:prstGeom prst="roundRect">
            <a:avLst>
              <a:gd name="adj" fmla="val 14000"/>
            </a:avLst>
          </a:prstGeom>
          <a:solidFill>
            <a:srgbClr val="F8F9FA"/>
          </a:solidFill>
          <a:ln>
            <a:noFill/>
          </a:ln>
        </p:spPr>
        <p:txBody>
          <a:bodyPr rtlCol="0" anchor="ctr"/>
          <a:lstStyle/>
          <a:p>
            <a:pPr algn="ctr"/>
            <a:endParaRPr/>
          </a:p>
        </p:txBody>
      </p:sp>
      <p:sp>
        <p:nvSpPr>
          <p:cNvPr id="24" name="TextBox 23"/>
          <p:cNvSpPr txBox="1"/>
          <p:nvPr/>
        </p:nvSpPr>
        <p:spPr>
          <a:xfrm>
            <a:off x="1097280" y="5074920"/>
            <a:ext cx="3840480" cy="310896"/>
          </a:xfrm>
          <a:prstGeom prst="rect">
            <a:avLst/>
          </a:prstGeom>
          <a:noFill/>
        </p:spPr>
        <p:txBody>
          <a:bodyPr wrap="square" lIns="0" tIns="0" rIns="0" bIns="0" anchor="t">
            <a:spAutoFit/>
          </a:bodyPr>
          <a:lstStyle/>
          <a:p>
            <a:pPr>
              <a:lnSpc>
                <a:spcPts val="2550"/>
              </a:lnSpc>
            </a:pPr>
            <a:r>
              <a:rPr sz="1800" b="1" u="sng">
                <a:solidFill>
                  <a:srgbClr val="1A73E8"/>
                </a:solidFill>
                <a:latin typeface="Google Sans"/>
                <a:hlinkClick r:id="rId7"/>
              </a:rPr>
              <a:t>Google Skills</a:t>
            </a:r>
          </a:p>
        </p:txBody>
      </p:sp>
      <p:sp>
        <p:nvSpPr>
          <p:cNvPr id="25" name="TextBox 24"/>
          <p:cNvSpPr txBox="1"/>
          <p:nvPr/>
        </p:nvSpPr>
        <p:spPr>
          <a:xfrm>
            <a:off x="1097280" y="5422392"/>
            <a:ext cx="3840480" cy="237744"/>
          </a:xfrm>
          <a:prstGeom prst="rect">
            <a:avLst/>
          </a:prstGeom>
          <a:noFill/>
        </p:spPr>
        <p:txBody>
          <a:bodyPr wrap="square" lIns="0" tIns="0" rIns="0" bIns="0" anchor="t">
            <a:spAutoFit/>
          </a:bodyPr>
          <a:lstStyle/>
          <a:p>
            <a:pPr>
              <a:lnSpc>
                <a:spcPts val="1700"/>
              </a:lnSpc>
            </a:pPr>
            <a:r>
              <a:rPr sz="1200" b="0">
                <a:solidFill>
                  <a:srgbClr val="5F6368"/>
                </a:solidFill>
                <a:latin typeface="Google Sans"/>
              </a:rPr>
              <a:t>Formerly Google Cloud Skills Boost</a:t>
            </a:r>
          </a:p>
        </p:txBody>
      </p:sp>
      <p:sp>
        <p:nvSpPr>
          <p:cNvPr id="26" name="Rectangle 25"/>
          <p:cNvSpPr/>
          <p:nvPr/>
        </p:nvSpPr>
        <p:spPr>
          <a:xfrm>
            <a:off x="5532120" y="5120640"/>
            <a:ext cx="1737360" cy="457200"/>
          </a:xfrm>
          <a:prstGeom prst="roundRect">
            <a:avLst>
              <a:gd name="adj" fmla="val 50000"/>
            </a:avLst>
          </a:prstGeom>
          <a:solidFill>
            <a:srgbClr val="E8F0FE"/>
          </a:solidFill>
          <a:ln>
            <a:noFill/>
          </a:ln>
        </p:spPr>
        <p:txBody>
          <a:bodyPr rtlCol="0" anchor="ctr"/>
          <a:lstStyle/>
          <a:p>
            <a:pPr algn="ctr"/>
            <a:endParaRPr/>
          </a:p>
        </p:txBody>
      </p:sp>
      <p:sp>
        <p:nvSpPr>
          <p:cNvPr id="27" name="TextBox 26"/>
          <p:cNvSpPr txBox="1"/>
          <p:nvPr/>
        </p:nvSpPr>
        <p:spPr>
          <a:xfrm>
            <a:off x="5532120" y="5120640"/>
            <a:ext cx="1737360" cy="457200"/>
          </a:xfrm>
          <a:prstGeom prst="rect">
            <a:avLst/>
          </a:prstGeom>
          <a:noFill/>
        </p:spPr>
        <p:txBody>
          <a:bodyPr wrap="square" lIns="0" tIns="0" rIns="0" bIns="0" anchor="ctr">
            <a:spAutoFit/>
          </a:bodyPr>
          <a:lstStyle/>
          <a:p>
            <a:pPr algn="ctr">
              <a:lnSpc>
                <a:spcPts val="2000"/>
              </a:lnSpc>
            </a:pPr>
            <a:r>
              <a:rPr sz="1400" b="1">
                <a:solidFill>
                  <a:srgbClr val="1A73E8"/>
                </a:solidFill>
                <a:latin typeface="Google Sans"/>
              </a:rPr>
              <a:t>Cloud</a:t>
            </a:r>
          </a:p>
        </p:txBody>
      </p:sp>
      <p:sp>
        <p:nvSpPr>
          <p:cNvPr id="28" name="Rectangle 27"/>
          <p:cNvSpPr/>
          <p:nvPr/>
        </p:nvSpPr>
        <p:spPr>
          <a:xfrm>
            <a:off x="7452360" y="5120640"/>
            <a:ext cx="1737360" cy="457200"/>
          </a:xfrm>
          <a:prstGeom prst="roundRect">
            <a:avLst>
              <a:gd name="adj" fmla="val 50000"/>
            </a:avLst>
          </a:prstGeom>
          <a:solidFill>
            <a:srgbClr val="FEF7E0"/>
          </a:solidFill>
          <a:ln>
            <a:noFill/>
          </a:ln>
        </p:spPr>
        <p:txBody>
          <a:bodyPr rtlCol="0" anchor="ctr"/>
          <a:lstStyle/>
          <a:p>
            <a:pPr algn="ctr"/>
            <a:endParaRPr/>
          </a:p>
        </p:txBody>
      </p:sp>
      <p:sp>
        <p:nvSpPr>
          <p:cNvPr id="29" name="TextBox 28"/>
          <p:cNvSpPr txBox="1"/>
          <p:nvPr/>
        </p:nvSpPr>
        <p:spPr>
          <a:xfrm>
            <a:off x="7452360" y="5120640"/>
            <a:ext cx="1737360" cy="457200"/>
          </a:xfrm>
          <a:prstGeom prst="rect">
            <a:avLst/>
          </a:prstGeom>
          <a:noFill/>
        </p:spPr>
        <p:txBody>
          <a:bodyPr wrap="square" lIns="0" tIns="0" rIns="0" bIns="0" anchor="ctr">
            <a:spAutoFit/>
          </a:bodyPr>
          <a:lstStyle/>
          <a:p>
            <a:pPr algn="ctr">
              <a:lnSpc>
                <a:spcPts val="2000"/>
              </a:lnSpc>
            </a:pPr>
            <a:r>
              <a:rPr sz="1400" b="1">
                <a:solidFill>
                  <a:srgbClr val="B06000"/>
                </a:solidFill>
                <a:latin typeface="Google Sans"/>
              </a:rPr>
              <a:t>Data</a:t>
            </a:r>
          </a:p>
        </p:txBody>
      </p:sp>
      <p:sp>
        <p:nvSpPr>
          <p:cNvPr id="30" name="Rectangle 29"/>
          <p:cNvSpPr/>
          <p:nvPr/>
        </p:nvSpPr>
        <p:spPr>
          <a:xfrm>
            <a:off x="9372600" y="5120640"/>
            <a:ext cx="1737360" cy="457200"/>
          </a:xfrm>
          <a:prstGeom prst="roundRect">
            <a:avLst>
              <a:gd name="adj" fmla="val 50000"/>
            </a:avLst>
          </a:prstGeom>
          <a:solidFill>
            <a:srgbClr val="E6F4EA"/>
          </a:solidFill>
          <a:ln>
            <a:noFill/>
          </a:ln>
        </p:spPr>
        <p:txBody>
          <a:bodyPr rtlCol="0" anchor="ctr"/>
          <a:lstStyle/>
          <a:p>
            <a:pPr algn="ctr"/>
            <a:endParaRPr/>
          </a:p>
        </p:txBody>
      </p:sp>
      <p:sp>
        <p:nvSpPr>
          <p:cNvPr id="31" name="TextBox 30"/>
          <p:cNvSpPr txBox="1"/>
          <p:nvPr/>
        </p:nvSpPr>
        <p:spPr>
          <a:xfrm>
            <a:off x="9372600" y="5120640"/>
            <a:ext cx="1737360" cy="457200"/>
          </a:xfrm>
          <a:prstGeom prst="rect">
            <a:avLst/>
          </a:prstGeom>
          <a:noFill/>
        </p:spPr>
        <p:txBody>
          <a:bodyPr wrap="square" lIns="0" tIns="0" rIns="0" bIns="0" anchor="ctr">
            <a:spAutoFit/>
          </a:bodyPr>
          <a:lstStyle/>
          <a:p>
            <a:pPr algn="ctr">
              <a:lnSpc>
                <a:spcPts val="2000"/>
              </a:lnSpc>
            </a:pPr>
            <a:r>
              <a:rPr sz="1400" b="1">
                <a:solidFill>
                  <a:srgbClr val="137333"/>
                </a:solidFill>
                <a:latin typeface="Google Sans"/>
              </a:rPr>
              <a:t>AI</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Why you should register</a:t>
            </a:r>
            <a:endParaRPr lang="en-US" sz="3200" dirty="0"/>
          </a:p>
        </p:txBody>
      </p:sp>
      <p:sp>
        <p:nvSpPr>
          <p:cNvPr id="7" name="TextBox 6"/>
          <p:cNvSpPr txBox="1"/>
          <p:nvPr/>
        </p:nvSpPr>
        <p:spPr>
          <a:xfrm>
            <a:off x="813816" y="1371600"/>
            <a:ext cx="10570464" cy="457200"/>
          </a:xfrm>
          <a:prstGeom prst="rect">
            <a:avLst/>
          </a:prstGeom>
          <a:noFill/>
        </p:spPr>
        <p:txBody>
          <a:bodyPr wrap="square" lIns="0" tIns="0" rIns="0" bIns="0" anchor="t">
            <a:spAutoFit/>
          </a:bodyPr>
          <a:lstStyle/>
          <a:p>
            <a:pPr>
              <a:lnSpc>
                <a:spcPts val="1950"/>
              </a:lnSpc>
            </a:pPr>
            <a:r>
              <a:rPr sz="1400" b="0">
                <a:solidFill>
                  <a:srgbClr val="3C4043"/>
                </a:solidFill>
                <a:latin typeface="Google Sans"/>
              </a:rPr>
              <a:t>Four good reasons to grab a seat before they run out.</a:t>
            </a:r>
          </a:p>
        </p:txBody>
      </p:sp>
      <p:sp>
        <p:nvSpPr>
          <p:cNvPr id="8" name="Rectangle 7"/>
          <p:cNvSpPr/>
          <p:nvPr/>
        </p:nvSpPr>
        <p:spPr>
          <a:xfrm>
            <a:off x="813816" y="1965960"/>
            <a:ext cx="5193792" cy="1508760"/>
          </a:xfrm>
          <a:prstGeom prst="roundRect">
            <a:avLst>
              <a:gd name="adj" fmla="val 6645"/>
            </a:avLst>
          </a:prstGeom>
          <a:solidFill>
            <a:srgbClr val="E8F0FE"/>
          </a:solidFill>
          <a:ln>
            <a:noFill/>
          </a:ln>
        </p:spPr>
        <p:txBody>
          <a:bodyPr rtlCol="0" anchor="ctr"/>
          <a:lstStyle/>
          <a:p>
            <a:pPr algn="ctr"/>
            <a:endParaRPr/>
          </a:p>
        </p:txBody>
      </p:sp>
      <p:sp>
        <p:nvSpPr>
          <p:cNvPr id="9" name="Rectangle 8"/>
          <p:cNvSpPr/>
          <p:nvPr/>
        </p:nvSpPr>
        <p:spPr>
          <a:xfrm>
            <a:off x="813816" y="1965960"/>
            <a:ext cx="5193792" cy="1508760"/>
          </a:xfrm>
          <a:custGeom>
            <a:avLst/>
            <a:gdLst/>
            <a:ahLst/>
            <a:cxnLst/>
            <a:rect l="l" t="t" r="r" b="b"/>
            <a:pathLst>
              <a:path w="5193792" h="1508760">
                <a:moveTo>
                  <a:pt x="0" y="152400"/>
                </a:moveTo>
                <a:lnTo>
                  <a:pt x="0" y="152400"/>
                </a:lnTo>
                <a:arcTo wR="152400" hR="152400" stAng="10800000" swAng="5400000"/>
                <a:lnTo>
                  <a:pt x="5041392" y="0"/>
                </a:lnTo>
                <a:arcTo wR="152400" hR="152400" stAng="16200000" swAng="5400000"/>
                <a:lnTo>
                  <a:pt x="5193792" y="152400"/>
                </a:lnTo>
                <a:arcTo wR="152400" hR="88900" stAng="0" swAng="-5400000"/>
                <a:lnTo>
                  <a:pt x="152400" y="63500"/>
                </a:lnTo>
                <a:arcTo wR="152400" hR="88900" stAng="16200000" swAng="-5400000"/>
                <a:close/>
              </a:path>
            </a:pathLst>
          </a:custGeom>
          <a:solidFill>
            <a:srgbClr val="4285F4"/>
          </a:solidFill>
          <a:ln>
            <a:noFill/>
          </a:ln>
        </p:spPr>
        <p:txBody>
          <a:bodyPr rtlCol="0" anchor="ctr"/>
          <a:lstStyle/>
          <a:p>
            <a:pPr algn="ctr"/>
            <a:endParaRPr/>
          </a:p>
        </p:txBody>
      </p:sp>
      <p:sp>
        <p:nvSpPr>
          <p:cNvPr id="10" name="TextBox 9"/>
          <p:cNvSpPr txBox="1"/>
          <p:nvPr/>
        </p:nvSpPr>
        <p:spPr>
          <a:xfrm>
            <a:off x="1088136" y="2258568"/>
            <a:ext cx="640080" cy="411480"/>
          </a:xfrm>
          <a:prstGeom prst="rect">
            <a:avLst/>
          </a:prstGeom>
          <a:noFill/>
        </p:spPr>
        <p:txBody>
          <a:bodyPr wrap="square" lIns="0" tIns="0" rIns="0" bIns="0" anchor="t">
            <a:spAutoFit/>
          </a:bodyPr>
          <a:lstStyle/>
          <a:p>
            <a:pPr>
              <a:lnSpc>
                <a:spcPts val="3400"/>
              </a:lnSpc>
            </a:pPr>
            <a:r>
              <a:rPr sz="2400" b="1">
                <a:solidFill>
                  <a:srgbClr val="1A73E8"/>
                </a:solidFill>
                <a:latin typeface="Google Sans"/>
              </a:rPr>
              <a:t>01</a:t>
            </a:r>
          </a:p>
        </p:txBody>
      </p:sp>
      <p:sp>
        <p:nvSpPr>
          <p:cNvPr id="11" name="TextBox 10"/>
          <p:cNvSpPr txBox="1"/>
          <p:nvPr/>
        </p:nvSpPr>
        <p:spPr>
          <a:xfrm>
            <a:off x="1773936" y="2276856"/>
            <a:ext cx="3977639"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It's free</a:t>
            </a:r>
          </a:p>
        </p:txBody>
      </p:sp>
      <p:sp>
        <p:nvSpPr>
          <p:cNvPr id="12" name="TextBox 11"/>
          <p:cNvSpPr txBox="1"/>
          <p:nvPr/>
        </p:nvSpPr>
        <p:spPr>
          <a:xfrm>
            <a:off x="1773936" y="2697480"/>
            <a:ext cx="3977639" cy="685800"/>
          </a:xfrm>
          <a:prstGeom prst="rect">
            <a:avLst/>
          </a:prstGeom>
          <a:noFill/>
        </p:spPr>
        <p:txBody>
          <a:bodyPr wrap="square" lIns="0" tIns="0" rIns="0" bIns="0" anchor="t">
            <a:spAutoFit/>
          </a:bodyPr>
          <a:lstStyle/>
          <a:p>
            <a:pPr>
              <a:lnSpc>
                <a:spcPts val="1800"/>
              </a:lnSpc>
            </a:pPr>
            <a:r>
              <a:rPr sz="1300" b="0">
                <a:solidFill>
                  <a:srgbClr val="3C4043"/>
                </a:solidFill>
                <a:latin typeface="Google Sans"/>
              </a:rPr>
              <a:t>Register and Google emails you an access code for free lab credits. Nothing to pay.</a:t>
            </a:r>
          </a:p>
        </p:txBody>
      </p:sp>
      <p:sp>
        <p:nvSpPr>
          <p:cNvPr id="13" name="Rectangle 12"/>
          <p:cNvSpPr/>
          <p:nvPr/>
        </p:nvSpPr>
        <p:spPr>
          <a:xfrm>
            <a:off x="6190488" y="1965960"/>
            <a:ext cx="5193792" cy="1508760"/>
          </a:xfrm>
          <a:prstGeom prst="roundRect">
            <a:avLst>
              <a:gd name="adj" fmla="val 6645"/>
            </a:avLst>
          </a:prstGeom>
          <a:solidFill>
            <a:srgbClr val="FCE8E6"/>
          </a:solidFill>
          <a:ln>
            <a:noFill/>
          </a:ln>
        </p:spPr>
        <p:txBody>
          <a:bodyPr rtlCol="0" anchor="ctr"/>
          <a:lstStyle/>
          <a:p>
            <a:pPr algn="ctr"/>
            <a:endParaRPr/>
          </a:p>
        </p:txBody>
      </p:sp>
      <p:sp>
        <p:nvSpPr>
          <p:cNvPr id="14" name="Rectangle 13"/>
          <p:cNvSpPr/>
          <p:nvPr/>
        </p:nvSpPr>
        <p:spPr>
          <a:xfrm>
            <a:off x="6190488" y="1965960"/>
            <a:ext cx="5193792" cy="1508760"/>
          </a:xfrm>
          <a:custGeom>
            <a:avLst/>
            <a:gdLst/>
            <a:ahLst/>
            <a:cxnLst/>
            <a:rect l="l" t="t" r="r" b="b"/>
            <a:pathLst>
              <a:path w="5193792" h="1508760">
                <a:moveTo>
                  <a:pt x="0" y="152400"/>
                </a:moveTo>
                <a:lnTo>
                  <a:pt x="0" y="152400"/>
                </a:lnTo>
                <a:arcTo wR="152400" hR="152400" stAng="10800000" swAng="5400000"/>
                <a:lnTo>
                  <a:pt x="5041392" y="0"/>
                </a:lnTo>
                <a:arcTo wR="152400" hR="152400" stAng="16200000" swAng="5400000"/>
                <a:lnTo>
                  <a:pt x="5193792" y="152400"/>
                </a:lnTo>
                <a:arcTo wR="152400" hR="88900" stAng="0" swAng="-5400000"/>
                <a:lnTo>
                  <a:pt x="152400" y="63500"/>
                </a:lnTo>
                <a:arcTo wR="152400" hR="88900" stAng="16200000" swAng="-5400000"/>
                <a:close/>
              </a:path>
            </a:pathLst>
          </a:custGeom>
          <a:solidFill>
            <a:srgbClr val="EA4335"/>
          </a:solidFill>
          <a:ln>
            <a:noFill/>
          </a:ln>
        </p:spPr>
        <p:txBody>
          <a:bodyPr rtlCol="0" anchor="ctr"/>
          <a:lstStyle/>
          <a:p>
            <a:pPr algn="ctr"/>
            <a:endParaRPr/>
          </a:p>
        </p:txBody>
      </p:sp>
      <p:sp>
        <p:nvSpPr>
          <p:cNvPr id="15" name="TextBox 14"/>
          <p:cNvSpPr txBox="1"/>
          <p:nvPr/>
        </p:nvSpPr>
        <p:spPr>
          <a:xfrm>
            <a:off x="6464807" y="2258568"/>
            <a:ext cx="640080" cy="411480"/>
          </a:xfrm>
          <a:prstGeom prst="rect">
            <a:avLst/>
          </a:prstGeom>
          <a:noFill/>
        </p:spPr>
        <p:txBody>
          <a:bodyPr wrap="square" lIns="0" tIns="0" rIns="0" bIns="0" anchor="t">
            <a:spAutoFit/>
          </a:bodyPr>
          <a:lstStyle/>
          <a:p>
            <a:pPr>
              <a:lnSpc>
                <a:spcPts val="3400"/>
              </a:lnSpc>
            </a:pPr>
            <a:r>
              <a:rPr sz="2400" b="1">
                <a:solidFill>
                  <a:srgbClr val="C5221F"/>
                </a:solidFill>
                <a:latin typeface="Google Sans"/>
              </a:rPr>
              <a:t>02</a:t>
            </a:r>
          </a:p>
        </p:txBody>
      </p:sp>
      <p:sp>
        <p:nvSpPr>
          <p:cNvPr id="16" name="TextBox 15"/>
          <p:cNvSpPr txBox="1"/>
          <p:nvPr/>
        </p:nvSpPr>
        <p:spPr>
          <a:xfrm>
            <a:off x="7150607" y="2276856"/>
            <a:ext cx="3977639"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Real hands-on practice</a:t>
            </a:r>
          </a:p>
        </p:txBody>
      </p:sp>
      <p:sp>
        <p:nvSpPr>
          <p:cNvPr id="17" name="TextBox 16"/>
          <p:cNvSpPr txBox="1"/>
          <p:nvPr/>
        </p:nvSpPr>
        <p:spPr>
          <a:xfrm>
            <a:off x="7150607" y="2697480"/>
            <a:ext cx="3977639" cy="685800"/>
          </a:xfrm>
          <a:prstGeom prst="rect">
            <a:avLst/>
          </a:prstGeom>
          <a:noFill/>
        </p:spPr>
        <p:txBody>
          <a:bodyPr wrap="square" lIns="0" tIns="0" rIns="0" bIns="0" anchor="t">
            <a:spAutoFit/>
          </a:bodyPr>
          <a:lstStyle/>
          <a:p>
            <a:pPr>
              <a:lnSpc>
                <a:spcPts val="1800"/>
              </a:lnSpc>
            </a:pPr>
            <a:r>
              <a:rPr sz="1300" b="0">
                <a:solidFill>
                  <a:srgbClr val="3C4043"/>
                </a:solidFill>
                <a:latin typeface="Google Sans"/>
              </a:rPr>
              <a:t>Work in live Google Cloud consoles across Cloud, Data and AI, not just videos.</a:t>
            </a:r>
          </a:p>
        </p:txBody>
      </p:sp>
      <p:sp>
        <p:nvSpPr>
          <p:cNvPr id="18" name="Rectangle 17"/>
          <p:cNvSpPr/>
          <p:nvPr/>
        </p:nvSpPr>
        <p:spPr>
          <a:xfrm>
            <a:off x="813816" y="3657600"/>
            <a:ext cx="5193792" cy="1508760"/>
          </a:xfrm>
          <a:prstGeom prst="roundRect">
            <a:avLst>
              <a:gd name="adj" fmla="val 6645"/>
            </a:avLst>
          </a:prstGeom>
          <a:solidFill>
            <a:srgbClr val="FEF7E0"/>
          </a:solidFill>
          <a:ln>
            <a:noFill/>
          </a:ln>
        </p:spPr>
        <p:txBody>
          <a:bodyPr rtlCol="0" anchor="ctr"/>
          <a:lstStyle/>
          <a:p>
            <a:pPr algn="ctr"/>
            <a:endParaRPr/>
          </a:p>
        </p:txBody>
      </p:sp>
      <p:sp>
        <p:nvSpPr>
          <p:cNvPr id="19" name="Rectangle 18"/>
          <p:cNvSpPr/>
          <p:nvPr/>
        </p:nvSpPr>
        <p:spPr>
          <a:xfrm>
            <a:off x="813816" y="3657600"/>
            <a:ext cx="5193792" cy="1508760"/>
          </a:xfrm>
          <a:custGeom>
            <a:avLst/>
            <a:gdLst/>
            <a:ahLst/>
            <a:cxnLst/>
            <a:rect l="l" t="t" r="r" b="b"/>
            <a:pathLst>
              <a:path w="5193792" h="1508760">
                <a:moveTo>
                  <a:pt x="0" y="152400"/>
                </a:moveTo>
                <a:lnTo>
                  <a:pt x="0" y="152400"/>
                </a:lnTo>
                <a:arcTo wR="152400" hR="152400" stAng="10800000" swAng="5400000"/>
                <a:lnTo>
                  <a:pt x="5041392" y="0"/>
                </a:lnTo>
                <a:arcTo wR="152400" hR="152400" stAng="16200000" swAng="5400000"/>
                <a:lnTo>
                  <a:pt x="5193792" y="152400"/>
                </a:lnTo>
                <a:arcTo wR="152400" hR="88900" stAng="0" swAng="-5400000"/>
                <a:lnTo>
                  <a:pt x="152400" y="63500"/>
                </a:lnTo>
                <a:arcTo wR="152400" hR="88900" stAng="16200000" swAng="-5400000"/>
                <a:close/>
              </a:path>
            </a:pathLst>
          </a:custGeom>
          <a:solidFill>
            <a:srgbClr val="FBBC04"/>
          </a:solidFill>
          <a:ln>
            <a:noFill/>
          </a:ln>
        </p:spPr>
        <p:txBody>
          <a:bodyPr rtlCol="0" anchor="ctr"/>
          <a:lstStyle/>
          <a:p>
            <a:pPr algn="ctr"/>
            <a:endParaRPr/>
          </a:p>
        </p:txBody>
      </p:sp>
      <p:sp>
        <p:nvSpPr>
          <p:cNvPr id="20" name="TextBox 19"/>
          <p:cNvSpPr txBox="1"/>
          <p:nvPr/>
        </p:nvSpPr>
        <p:spPr>
          <a:xfrm>
            <a:off x="1088136" y="3950208"/>
            <a:ext cx="640080" cy="411480"/>
          </a:xfrm>
          <a:prstGeom prst="rect">
            <a:avLst/>
          </a:prstGeom>
          <a:noFill/>
        </p:spPr>
        <p:txBody>
          <a:bodyPr wrap="square" lIns="0" tIns="0" rIns="0" bIns="0" anchor="t">
            <a:spAutoFit/>
          </a:bodyPr>
          <a:lstStyle/>
          <a:p>
            <a:pPr>
              <a:lnSpc>
                <a:spcPts val="3400"/>
              </a:lnSpc>
            </a:pPr>
            <a:r>
              <a:rPr sz="2400" b="1">
                <a:solidFill>
                  <a:srgbClr val="E37400"/>
                </a:solidFill>
                <a:latin typeface="Google Sans"/>
              </a:rPr>
              <a:t>03</a:t>
            </a:r>
          </a:p>
        </p:txBody>
      </p:sp>
      <p:sp>
        <p:nvSpPr>
          <p:cNvPr id="21" name="TextBox 20"/>
          <p:cNvSpPr txBox="1"/>
          <p:nvPr/>
        </p:nvSpPr>
        <p:spPr>
          <a:xfrm>
            <a:off x="1773936" y="3968496"/>
            <a:ext cx="3977639"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Proof recruiters can check</a:t>
            </a:r>
          </a:p>
        </p:txBody>
      </p:sp>
      <p:sp>
        <p:nvSpPr>
          <p:cNvPr id="22" name="TextBox 21"/>
          <p:cNvSpPr txBox="1"/>
          <p:nvPr/>
        </p:nvSpPr>
        <p:spPr>
          <a:xfrm>
            <a:off x="1773936" y="4389120"/>
            <a:ext cx="3977639" cy="685800"/>
          </a:xfrm>
          <a:prstGeom prst="rect">
            <a:avLst/>
          </a:prstGeom>
          <a:noFill/>
        </p:spPr>
        <p:txBody>
          <a:bodyPr wrap="square" lIns="0" tIns="0" rIns="0" bIns="0" anchor="t">
            <a:spAutoFit/>
          </a:bodyPr>
          <a:lstStyle/>
          <a:p>
            <a:pPr>
              <a:lnSpc>
                <a:spcPts val="1800"/>
              </a:lnSpc>
            </a:pPr>
            <a:r>
              <a:rPr sz="1300" b="0">
                <a:solidFill>
                  <a:srgbClr val="3C4043"/>
                </a:solidFill>
                <a:latin typeface="Google Sans"/>
              </a:rPr>
              <a:t>Verifiable skill badges for your resume and LinkedIn, shown on your public profile.</a:t>
            </a:r>
          </a:p>
        </p:txBody>
      </p:sp>
      <p:sp>
        <p:nvSpPr>
          <p:cNvPr id="23" name="Rectangle 22"/>
          <p:cNvSpPr/>
          <p:nvPr/>
        </p:nvSpPr>
        <p:spPr>
          <a:xfrm>
            <a:off x="6190488" y="3657600"/>
            <a:ext cx="5193792" cy="1508760"/>
          </a:xfrm>
          <a:prstGeom prst="roundRect">
            <a:avLst>
              <a:gd name="adj" fmla="val 6645"/>
            </a:avLst>
          </a:prstGeom>
          <a:solidFill>
            <a:srgbClr val="E6F4EA"/>
          </a:solidFill>
          <a:ln>
            <a:noFill/>
          </a:ln>
        </p:spPr>
        <p:txBody>
          <a:bodyPr rtlCol="0" anchor="ctr"/>
          <a:lstStyle/>
          <a:p>
            <a:pPr algn="ctr"/>
            <a:endParaRPr/>
          </a:p>
        </p:txBody>
      </p:sp>
      <p:sp>
        <p:nvSpPr>
          <p:cNvPr id="24" name="Rectangle 23"/>
          <p:cNvSpPr/>
          <p:nvPr/>
        </p:nvSpPr>
        <p:spPr>
          <a:xfrm>
            <a:off x="6190488" y="3657600"/>
            <a:ext cx="5193792" cy="1508760"/>
          </a:xfrm>
          <a:custGeom>
            <a:avLst/>
            <a:gdLst/>
            <a:ahLst/>
            <a:cxnLst/>
            <a:rect l="l" t="t" r="r" b="b"/>
            <a:pathLst>
              <a:path w="5193792" h="1508760">
                <a:moveTo>
                  <a:pt x="0" y="152400"/>
                </a:moveTo>
                <a:lnTo>
                  <a:pt x="0" y="152400"/>
                </a:lnTo>
                <a:arcTo wR="152400" hR="152400" stAng="10800000" swAng="5400000"/>
                <a:lnTo>
                  <a:pt x="5041392" y="0"/>
                </a:lnTo>
                <a:arcTo wR="152400" hR="152400" stAng="16200000" swAng="5400000"/>
                <a:lnTo>
                  <a:pt x="5193792" y="152400"/>
                </a:lnTo>
                <a:arcTo wR="152400" hR="88900" stAng="0" swAng="-5400000"/>
                <a:lnTo>
                  <a:pt x="152400" y="63500"/>
                </a:lnTo>
                <a:arcTo wR="152400" hR="88900" stAng="16200000" swAng="-5400000"/>
                <a:close/>
              </a:path>
            </a:pathLst>
          </a:custGeom>
          <a:solidFill>
            <a:srgbClr val="34A853"/>
          </a:solidFill>
          <a:ln>
            <a:noFill/>
          </a:ln>
        </p:spPr>
        <p:txBody>
          <a:bodyPr rtlCol="0" anchor="ctr"/>
          <a:lstStyle/>
          <a:p>
            <a:pPr algn="ctr"/>
            <a:endParaRPr/>
          </a:p>
        </p:txBody>
      </p:sp>
      <p:sp>
        <p:nvSpPr>
          <p:cNvPr id="25" name="TextBox 24"/>
          <p:cNvSpPr txBox="1"/>
          <p:nvPr/>
        </p:nvSpPr>
        <p:spPr>
          <a:xfrm>
            <a:off x="6464807" y="3950208"/>
            <a:ext cx="640080" cy="411480"/>
          </a:xfrm>
          <a:prstGeom prst="rect">
            <a:avLst/>
          </a:prstGeom>
          <a:noFill/>
        </p:spPr>
        <p:txBody>
          <a:bodyPr wrap="square" lIns="0" tIns="0" rIns="0" bIns="0" anchor="t">
            <a:spAutoFit/>
          </a:bodyPr>
          <a:lstStyle/>
          <a:p>
            <a:pPr>
              <a:lnSpc>
                <a:spcPts val="3400"/>
              </a:lnSpc>
            </a:pPr>
            <a:r>
              <a:rPr sz="2400" b="1">
                <a:solidFill>
                  <a:srgbClr val="137333"/>
                </a:solidFill>
                <a:latin typeface="Google Sans"/>
              </a:rPr>
              <a:t>04</a:t>
            </a:r>
          </a:p>
        </p:txBody>
      </p:sp>
      <p:sp>
        <p:nvSpPr>
          <p:cNvPr id="26" name="TextBox 25"/>
          <p:cNvSpPr txBox="1"/>
          <p:nvPr/>
        </p:nvSpPr>
        <p:spPr>
          <a:xfrm>
            <a:off x="7150607" y="3968496"/>
            <a:ext cx="3977639"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Swag along the way</a:t>
            </a:r>
          </a:p>
        </p:txBody>
      </p:sp>
      <p:sp>
        <p:nvSpPr>
          <p:cNvPr id="27" name="TextBox 26"/>
          <p:cNvSpPr txBox="1"/>
          <p:nvPr/>
        </p:nvSpPr>
        <p:spPr>
          <a:xfrm>
            <a:off x="7150607" y="4389120"/>
            <a:ext cx="3977639" cy="685800"/>
          </a:xfrm>
          <a:prstGeom prst="rect">
            <a:avLst/>
          </a:prstGeom>
          <a:noFill/>
        </p:spPr>
        <p:txBody>
          <a:bodyPr wrap="square" lIns="0" tIns="0" rIns="0" bIns="0" anchor="t">
            <a:spAutoFit/>
          </a:bodyPr>
          <a:lstStyle/>
          <a:p>
            <a:pPr>
              <a:lnSpc>
                <a:spcPts val="1800"/>
              </a:lnSpc>
            </a:pPr>
            <a:r>
              <a:rPr sz="1300" b="0">
                <a:solidFill>
                  <a:srgbClr val="3C4043"/>
                </a:solidFill>
                <a:latin typeface="Google Sans"/>
              </a:rPr>
              <a:t>A water bottle at 5 badges, and a Developer Kit with a T-shirt at 10.</a:t>
            </a:r>
          </a:p>
        </p:txBody>
      </p:sp>
      <p:sp>
        <p:nvSpPr>
          <p:cNvPr id="28" name="Rectangle 27"/>
          <p:cNvSpPr/>
          <p:nvPr/>
        </p:nvSpPr>
        <p:spPr>
          <a:xfrm>
            <a:off x="813816" y="5440680"/>
            <a:ext cx="10570464" cy="640080"/>
          </a:xfrm>
          <a:prstGeom prst="roundRect">
            <a:avLst>
              <a:gd name="adj" fmla="val 17000"/>
            </a:avLst>
          </a:prstGeom>
          <a:solidFill>
            <a:srgbClr val="E8F0FE"/>
          </a:solidFill>
          <a:ln>
            <a:noFill/>
          </a:ln>
        </p:spPr>
        <p:txBody>
          <a:bodyPr rtlCol="0" anchor="ctr"/>
          <a:lstStyle/>
          <a:p>
            <a:pPr algn="ctr"/>
            <a:endParaRPr/>
          </a:p>
        </p:txBody>
      </p:sp>
      <p:sp>
        <p:nvSpPr>
          <p:cNvPr id="29" name="TextBox 28"/>
          <p:cNvSpPr txBox="1"/>
          <p:nvPr/>
        </p:nvSpPr>
        <p:spPr>
          <a:xfrm>
            <a:off x="1097280" y="5440680"/>
            <a:ext cx="10058400" cy="640080"/>
          </a:xfrm>
          <a:prstGeom prst="rect">
            <a:avLst/>
          </a:prstGeom>
          <a:noFill/>
        </p:spPr>
        <p:txBody>
          <a:bodyPr wrap="square" lIns="0" tIns="0" rIns="0" bIns="0" anchor="ctr">
            <a:spAutoFit/>
          </a:bodyPr>
          <a:lstStyle/>
          <a:p>
            <a:pPr>
              <a:lnSpc>
                <a:spcPts val="1900"/>
              </a:lnSpc>
            </a:pPr>
            <a:r>
              <a:rPr sz="1400" b="1">
                <a:solidFill>
                  <a:srgbClr val="1A73E8"/>
                </a:solidFill>
                <a:latin typeface="Google Sans"/>
              </a:rPr>
              <a:t>Seats are limited and close once full. </a:t>
            </a:r>
            <a:r>
              <a:rPr sz="1400" b="0">
                <a:solidFill>
                  <a:srgbClr val="3C4043"/>
                </a:solidFill>
                <a:latin typeface="Google Sans"/>
              </a:rPr>
              <a:t>Register by 31 Oct 2026.</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8F9FA"/>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Rewards &amp; milestones</a:t>
            </a:r>
            <a:endParaRPr lang="en-US" sz="3200" dirty="0"/>
          </a:p>
        </p:txBody>
      </p:sp>
      <p:sp>
        <p:nvSpPr>
          <p:cNvPr id="7" name="TextBox 6"/>
          <p:cNvSpPr txBox="1"/>
          <p:nvPr/>
        </p:nvSpPr>
        <p:spPr>
          <a:xfrm>
            <a:off x="813816" y="1371600"/>
            <a:ext cx="10570464" cy="502920"/>
          </a:xfrm>
          <a:prstGeom prst="rect">
            <a:avLst/>
          </a:prstGeom>
          <a:noFill/>
        </p:spPr>
        <p:txBody>
          <a:bodyPr wrap="square" lIns="0" tIns="0" rIns="0" bIns="0" anchor="t">
            <a:spAutoFit/>
          </a:bodyPr>
          <a:lstStyle/>
          <a:p>
            <a:pPr>
              <a:lnSpc>
                <a:spcPts val="1950"/>
              </a:lnSpc>
            </a:pPr>
            <a:r>
              <a:rPr sz="1400" b="0">
                <a:solidFill>
                  <a:srgbClr val="3C4043"/>
                </a:solidFill>
                <a:latin typeface="Google Sans"/>
              </a:rPr>
              <a:t>Every skill badge counts. Keep your Google Skills profile </a:t>
            </a:r>
            <a:r>
              <a:rPr sz="1400" b="1">
                <a:solidFill>
                  <a:srgbClr val="3C4043"/>
                </a:solidFill>
                <a:latin typeface="Google Sans"/>
              </a:rPr>
              <a:t>public</a:t>
            </a:r>
            <a:r>
              <a:rPr sz="1400" b="0">
                <a:solidFill>
                  <a:srgbClr val="3C4043"/>
                </a:solidFill>
                <a:latin typeface="Google Sans"/>
              </a:rPr>
              <a:t> for the whole program.</a:t>
            </a:r>
          </a:p>
        </p:txBody>
      </p:sp>
      <p:sp>
        <p:nvSpPr>
          <p:cNvPr id="8" name="Rectangle 7"/>
          <p:cNvSpPr/>
          <p:nvPr/>
        </p:nvSpPr>
        <p:spPr>
          <a:xfrm>
            <a:off x="813816" y="2011680"/>
            <a:ext cx="4754880" cy="3383280"/>
          </a:xfrm>
          <a:prstGeom prst="roundRect">
            <a:avLst>
              <a:gd name="adj" fmla="val 6645"/>
            </a:avLst>
          </a:prstGeom>
          <a:solidFill>
            <a:srgbClr val="E8F0FE"/>
          </a:solidFill>
          <a:ln>
            <a:noFill/>
          </a:ln>
        </p:spPr>
        <p:txBody>
          <a:bodyPr rtlCol="0" anchor="ctr"/>
          <a:lstStyle/>
          <a:p>
            <a:pPr algn="ctr"/>
            <a:endParaRPr/>
          </a:p>
        </p:txBody>
      </p:sp>
      <p:sp>
        <p:nvSpPr>
          <p:cNvPr id="9" name="Rectangle 8"/>
          <p:cNvSpPr/>
          <p:nvPr/>
        </p:nvSpPr>
        <p:spPr>
          <a:xfrm>
            <a:off x="813816" y="2011680"/>
            <a:ext cx="4754880" cy="3383280"/>
          </a:xfrm>
          <a:custGeom>
            <a:avLst/>
            <a:gdLst/>
            <a:ahLst/>
            <a:cxnLst/>
            <a:rect l="l" t="t" r="r" b="b"/>
            <a:pathLst>
              <a:path w="4754880" h="3383280">
                <a:moveTo>
                  <a:pt x="0" y="152400"/>
                </a:moveTo>
                <a:lnTo>
                  <a:pt x="0" y="152400"/>
                </a:lnTo>
                <a:arcTo wR="152400" hR="152400" stAng="10800000" swAng="5400000"/>
                <a:lnTo>
                  <a:pt x="4602480" y="0"/>
                </a:lnTo>
                <a:arcTo wR="152400" hR="152400" stAng="16200000" swAng="5400000"/>
                <a:lnTo>
                  <a:pt x="4754880" y="152400"/>
                </a:lnTo>
                <a:arcTo wR="152400" hR="88900" stAng="0" swAng="-5400000"/>
                <a:lnTo>
                  <a:pt x="152400" y="63500"/>
                </a:lnTo>
                <a:arcTo wR="152400" hR="88900" stAng="16200000" swAng="-5400000"/>
                <a:close/>
              </a:path>
            </a:pathLst>
          </a:custGeom>
          <a:solidFill>
            <a:srgbClr val="4285F4"/>
          </a:solidFill>
          <a:ln>
            <a:noFill/>
          </a:ln>
        </p:spPr>
        <p:txBody>
          <a:bodyPr rtlCol="0" anchor="ctr"/>
          <a:lstStyle/>
          <a:p>
            <a:pPr algn="ctr"/>
            <a:endParaRPr/>
          </a:p>
        </p:txBody>
      </p:sp>
      <p:sp>
        <p:nvSpPr>
          <p:cNvPr id="10" name="Rectangle 9"/>
          <p:cNvSpPr/>
          <p:nvPr/>
        </p:nvSpPr>
        <p:spPr>
          <a:xfrm>
            <a:off x="5751576" y="2011680"/>
            <a:ext cx="5632704" cy="3383280"/>
          </a:xfrm>
          <a:prstGeom prst="roundRect">
            <a:avLst>
              <a:gd name="adj" fmla="val 6645"/>
            </a:avLst>
          </a:prstGeom>
          <a:solidFill>
            <a:srgbClr val="E6F4EA"/>
          </a:solidFill>
          <a:ln>
            <a:noFill/>
          </a:ln>
        </p:spPr>
        <p:txBody>
          <a:bodyPr rtlCol="0" anchor="ctr"/>
          <a:lstStyle/>
          <a:p>
            <a:pPr algn="ctr"/>
            <a:endParaRPr/>
          </a:p>
        </p:txBody>
      </p:sp>
      <p:sp>
        <p:nvSpPr>
          <p:cNvPr id="11" name="Rectangle 10"/>
          <p:cNvSpPr/>
          <p:nvPr/>
        </p:nvSpPr>
        <p:spPr>
          <a:xfrm>
            <a:off x="5751576" y="2011680"/>
            <a:ext cx="5632704" cy="3383280"/>
          </a:xfrm>
          <a:custGeom>
            <a:avLst/>
            <a:gdLst/>
            <a:ahLst/>
            <a:cxnLst/>
            <a:rect l="l" t="t" r="r" b="b"/>
            <a:pathLst>
              <a:path w="5632704" h="3383280">
                <a:moveTo>
                  <a:pt x="0" y="152400"/>
                </a:moveTo>
                <a:lnTo>
                  <a:pt x="0" y="152400"/>
                </a:lnTo>
                <a:arcTo wR="152400" hR="152400" stAng="10800000" swAng="5400000"/>
                <a:lnTo>
                  <a:pt x="5480304" y="0"/>
                </a:lnTo>
                <a:arcTo wR="152400" hR="152400" stAng="16200000" swAng="5400000"/>
                <a:lnTo>
                  <a:pt x="5632704" y="152400"/>
                </a:lnTo>
                <a:arcTo wR="152400" hR="88900" stAng="0" swAng="-5400000"/>
                <a:lnTo>
                  <a:pt x="152400" y="63500"/>
                </a:lnTo>
                <a:arcTo wR="152400" hR="88900" stAng="16200000" swAng="-5400000"/>
                <a:close/>
              </a:path>
            </a:pathLst>
          </a:custGeom>
          <a:solidFill>
            <a:srgbClr val="34A853"/>
          </a:solidFill>
          <a:ln>
            <a:noFill/>
          </a:ln>
        </p:spPr>
        <p:txBody>
          <a:bodyPr rtlCol="0" anchor="ctr"/>
          <a:lstStyle/>
          <a:p>
            <a:pPr algn="ctr"/>
            <a:endParaRPr/>
          </a:p>
        </p:txBody>
      </p:sp>
      <p:pic>
        <p:nvPicPr>
          <p:cNvPr id="12" name="Picture 11" descr="Illustration of a Google Cloud water bottle"/>
          <p:cNvPicPr>
            <a:picLocks noChangeAspect="1"/>
          </p:cNvPicPr>
          <p:nvPr/>
        </p:nvPicPr>
        <p:blipFill>
          <a:blip r:embed="rId7"/>
          <a:stretch>
            <a:fillRect/>
          </a:stretch>
        </p:blipFill>
        <p:spPr>
          <a:xfrm>
            <a:off x="2756916" y="2286000"/>
            <a:ext cx="938463" cy="1783080"/>
          </a:xfrm>
          <a:prstGeom prst="rect">
            <a:avLst/>
          </a:prstGeom>
        </p:spPr>
      </p:pic>
      <p:pic>
        <p:nvPicPr>
          <p:cNvPr id="13" name="Picture 12" descr="Illustration of a Developer Kit box"/>
          <p:cNvPicPr>
            <a:picLocks noChangeAspect="1"/>
          </p:cNvPicPr>
          <p:nvPr/>
        </p:nvPicPr>
        <p:blipFill>
          <a:blip r:embed="rId8"/>
          <a:stretch>
            <a:fillRect/>
          </a:stretch>
        </p:blipFill>
        <p:spPr>
          <a:xfrm>
            <a:off x="6254496" y="2423160"/>
            <a:ext cx="1809607" cy="1508760"/>
          </a:xfrm>
          <a:prstGeom prst="rect">
            <a:avLst/>
          </a:prstGeom>
        </p:spPr>
      </p:pic>
      <p:pic>
        <p:nvPicPr>
          <p:cNvPr id="14" name="Picture 13" descr="Illustration of a T-shirt"/>
          <p:cNvPicPr>
            <a:picLocks noChangeAspect="1"/>
          </p:cNvPicPr>
          <p:nvPr/>
        </p:nvPicPr>
        <p:blipFill>
          <a:blip r:embed="rId9"/>
          <a:stretch>
            <a:fillRect/>
          </a:stretch>
        </p:blipFill>
        <p:spPr>
          <a:xfrm>
            <a:off x="8494776" y="2377440"/>
            <a:ext cx="1693333" cy="1600200"/>
          </a:xfrm>
          <a:prstGeom prst="rect">
            <a:avLst/>
          </a:prstGeom>
        </p:spPr>
      </p:pic>
      <p:sp>
        <p:nvSpPr>
          <p:cNvPr id="15" name="TextBox 14"/>
          <p:cNvSpPr txBox="1"/>
          <p:nvPr/>
        </p:nvSpPr>
        <p:spPr>
          <a:xfrm>
            <a:off x="1133856" y="4297680"/>
            <a:ext cx="914400" cy="731520"/>
          </a:xfrm>
          <a:prstGeom prst="rect">
            <a:avLst/>
          </a:prstGeom>
          <a:noFill/>
        </p:spPr>
        <p:txBody>
          <a:bodyPr wrap="square" lIns="0" tIns="0" rIns="0" bIns="0" anchor="t">
            <a:spAutoFit/>
          </a:bodyPr>
          <a:lstStyle/>
          <a:p>
            <a:pPr>
              <a:lnSpc>
                <a:spcPts val="4850"/>
              </a:lnSpc>
            </a:pPr>
            <a:r>
              <a:rPr sz="4400" b="1">
                <a:solidFill>
                  <a:srgbClr val="1A73E8"/>
                </a:solidFill>
                <a:latin typeface="Google Sans"/>
              </a:rPr>
              <a:t>5</a:t>
            </a:r>
          </a:p>
        </p:txBody>
      </p:sp>
      <p:sp>
        <p:nvSpPr>
          <p:cNvPr id="16" name="TextBox 15"/>
          <p:cNvSpPr txBox="1"/>
          <p:nvPr/>
        </p:nvSpPr>
        <p:spPr>
          <a:xfrm>
            <a:off x="2002536" y="4370832"/>
            <a:ext cx="3291840"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Water bottle</a:t>
            </a:r>
          </a:p>
        </p:txBody>
      </p:sp>
      <p:sp>
        <p:nvSpPr>
          <p:cNvPr id="17" name="TextBox 16"/>
          <p:cNvSpPr txBox="1"/>
          <p:nvPr/>
        </p:nvSpPr>
        <p:spPr>
          <a:xfrm>
            <a:off x="2002536" y="4736592"/>
            <a:ext cx="3291840" cy="457200"/>
          </a:xfrm>
          <a:prstGeom prst="rect">
            <a:avLst/>
          </a:prstGeom>
          <a:noFill/>
        </p:spPr>
        <p:txBody>
          <a:bodyPr wrap="square" lIns="0" tIns="0" rIns="0" bIns="0" anchor="t">
            <a:spAutoFit/>
          </a:bodyPr>
          <a:lstStyle/>
          <a:p>
            <a:pPr>
              <a:lnSpc>
                <a:spcPts val="1600"/>
              </a:lnSpc>
            </a:pPr>
            <a:r>
              <a:rPr sz="1200" b="0">
                <a:solidFill>
                  <a:srgbClr val="3C4043"/>
                </a:solidFill>
                <a:latin typeface="Google Sans"/>
              </a:rPr>
              <a:t>Your first milestone, a branded Google Cloud bottle.</a:t>
            </a:r>
          </a:p>
        </p:txBody>
      </p:sp>
      <p:sp>
        <p:nvSpPr>
          <p:cNvPr id="18" name="TextBox 17"/>
          <p:cNvSpPr txBox="1"/>
          <p:nvPr/>
        </p:nvSpPr>
        <p:spPr>
          <a:xfrm>
            <a:off x="6071616" y="4297680"/>
            <a:ext cx="1097280" cy="731520"/>
          </a:xfrm>
          <a:prstGeom prst="rect">
            <a:avLst/>
          </a:prstGeom>
          <a:noFill/>
        </p:spPr>
        <p:txBody>
          <a:bodyPr wrap="square" lIns="0" tIns="0" rIns="0" bIns="0" anchor="t">
            <a:spAutoFit/>
          </a:bodyPr>
          <a:lstStyle/>
          <a:p>
            <a:pPr>
              <a:lnSpc>
                <a:spcPts val="4850"/>
              </a:lnSpc>
            </a:pPr>
            <a:r>
              <a:rPr sz="4400" b="1">
                <a:solidFill>
                  <a:srgbClr val="137333"/>
                </a:solidFill>
                <a:latin typeface="Google Sans"/>
              </a:rPr>
              <a:t>10</a:t>
            </a:r>
          </a:p>
        </p:txBody>
      </p:sp>
      <p:sp>
        <p:nvSpPr>
          <p:cNvPr id="19" name="TextBox 18"/>
          <p:cNvSpPr txBox="1"/>
          <p:nvPr/>
        </p:nvSpPr>
        <p:spPr>
          <a:xfrm>
            <a:off x="7123176" y="4370832"/>
            <a:ext cx="4023360"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Developer Kit + T-shirt</a:t>
            </a:r>
          </a:p>
        </p:txBody>
      </p:sp>
      <p:sp>
        <p:nvSpPr>
          <p:cNvPr id="20" name="TextBox 19"/>
          <p:cNvSpPr txBox="1"/>
          <p:nvPr/>
        </p:nvSpPr>
        <p:spPr>
          <a:xfrm>
            <a:off x="7123176" y="4736592"/>
            <a:ext cx="4023360" cy="457200"/>
          </a:xfrm>
          <a:prstGeom prst="rect">
            <a:avLst/>
          </a:prstGeom>
          <a:noFill/>
        </p:spPr>
        <p:txBody>
          <a:bodyPr wrap="square" lIns="0" tIns="0" rIns="0" bIns="0" anchor="t">
            <a:spAutoFit/>
          </a:bodyPr>
          <a:lstStyle/>
          <a:p>
            <a:pPr>
              <a:lnSpc>
                <a:spcPts val="1600"/>
              </a:lnSpc>
            </a:pPr>
            <a:r>
              <a:rPr sz="1200" b="0">
                <a:solidFill>
                  <a:srgbClr val="3C4043"/>
                </a:solidFill>
                <a:latin typeface="Google Sans"/>
              </a:rPr>
              <a:t>The exclusive kit, with a T-shirt, for 10 badges.</a:t>
            </a:r>
          </a:p>
        </p:txBody>
      </p:sp>
      <p:sp>
        <p:nvSpPr>
          <p:cNvPr id="21" name="Rectangle 20"/>
          <p:cNvSpPr/>
          <p:nvPr/>
        </p:nvSpPr>
        <p:spPr>
          <a:xfrm>
            <a:off x="813816" y="5623560"/>
            <a:ext cx="10570464" cy="640080"/>
          </a:xfrm>
          <a:prstGeom prst="roundRect">
            <a:avLst>
              <a:gd name="adj" fmla="val 17000"/>
            </a:avLst>
          </a:prstGeom>
          <a:solidFill>
            <a:srgbClr val="F8F9FA"/>
          </a:solidFill>
          <a:ln>
            <a:noFill/>
          </a:ln>
        </p:spPr>
        <p:txBody>
          <a:bodyPr rtlCol="0" anchor="ctr"/>
          <a:lstStyle/>
          <a:p>
            <a:pPr algn="ctr"/>
            <a:endParaRPr/>
          </a:p>
        </p:txBody>
      </p:sp>
      <p:sp>
        <p:nvSpPr>
          <p:cNvPr id="22" name="TextBox 21"/>
          <p:cNvSpPr txBox="1"/>
          <p:nvPr/>
        </p:nvSpPr>
        <p:spPr>
          <a:xfrm>
            <a:off x="1097280" y="5623560"/>
            <a:ext cx="10058400" cy="640080"/>
          </a:xfrm>
          <a:prstGeom prst="rect">
            <a:avLst/>
          </a:prstGeom>
          <a:noFill/>
        </p:spPr>
        <p:txBody>
          <a:bodyPr wrap="square" lIns="0" tIns="0" rIns="0" bIns="0" anchor="ctr">
            <a:spAutoFit/>
          </a:bodyPr>
          <a:lstStyle/>
          <a:p>
            <a:pPr>
              <a:lnSpc>
                <a:spcPts val="1600"/>
              </a:lnSpc>
            </a:pPr>
            <a:r>
              <a:rPr sz="1200" b="1">
                <a:solidFill>
                  <a:srgbClr val="202124"/>
                </a:solidFill>
                <a:latin typeface="Google Sans"/>
              </a:rPr>
              <a:t>Every badge is a verifiable credential </a:t>
            </a:r>
            <a:r>
              <a:rPr sz="1200" b="0">
                <a:solidFill>
                  <a:srgbClr val="3C4043"/>
                </a:solidFill>
                <a:latin typeface="Google Sans"/>
              </a:rPr>
              <a:t>for your resume and LinkedIn. Only badges earned during the program count.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Before you register: set up Google Skills</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The registration form asks for your </a:t>
            </a:r>
            <a:r>
              <a:rPr lang="en-US" sz="1400" b="1" dirty="0">
                <a:solidFill>
                  <a:srgbClr val="3C4043"/>
                </a:solidFill>
                <a:latin typeface="Google Sans" pitchFamily="34" charset="0"/>
                <a:ea typeface="Google Sans" pitchFamily="34" charset="-122"/>
                <a:cs typeface="Google Sans" pitchFamily="34" charset="-120"/>
              </a:rPr>
              <a:t>public Google Skills profile URL</a:t>
            </a:r>
            <a:r>
              <a:rPr lang="en-US" sz="1400" dirty="0">
                <a:solidFill>
                  <a:srgbClr val="3C4043"/>
                </a:solidFill>
                <a:latin typeface="Google Sans" pitchFamily="34" charset="0"/>
                <a:ea typeface="Google Sans" pitchFamily="34" charset="-122"/>
                <a:cs typeface="Google Sans" pitchFamily="34" charset="-120"/>
              </a:rPr>
              <a:t>, so finish these steps first. It takes about five minutes.</a:t>
            </a:r>
            <a:endParaRPr lang="en-US" sz="1400" dirty="0"/>
          </a:p>
        </p:txBody>
      </p:sp>
      <p:sp>
        <p:nvSpPr>
          <p:cNvPr id="8" name="Shape 2"/>
          <p:cNvSpPr/>
          <p:nvPr/>
        </p:nvSpPr>
        <p:spPr>
          <a:xfrm>
            <a:off x="812788" y="2011680"/>
            <a:ext cx="10566424" cy="1005840"/>
          </a:xfrm>
          <a:prstGeom prst="roundRect">
            <a:avLst>
              <a:gd name="adj" fmla="val 16484"/>
            </a:avLst>
          </a:prstGeom>
          <a:solidFill>
            <a:srgbClr val="E8F0FE"/>
          </a:solidFill>
          <a:ln/>
        </p:spPr>
      </p:sp>
      <p:sp>
        <p:nvSpPr>
          <p:cNvPr id="9" name="Text 3"/>
          <p:cNvSpPr/>
          <p:nvPr/>
        </p:nvSpPr>
        <p:spPr>
          <a:xfrm>
            <a:off x="1066788" y="2212848"/>
            <a:ext cx="457163" cy="594357"/>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76301" y="2194560"/>
            <a:ext cx="8865123" cy="26923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Create or sign in to your account</a:t>
            </a:r>
            <a:endParaRPr lang="en-US" sz="1600" dirty="0"/>
          </a:p>
        </p:txBody>
      </p:sp>
      <p:sp>
        <p:nvSpPr>
          <p:cNvPr id="11" name="Text 5"/>
          <p:cNvSpPr/>
          <p:nvPr/>
        </p:nvSpPr>
        <p:spPr>
          <a:xfrm>
            <a:off x="1676301" y="2514600"/>
            <a:ext cx="9702911" cy="4572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Go to </a:t>
            </a:r>
            <a:r>
              <a:rPr lang="en-US" sz="1200" u="sng" dirty="0">
                <a:solidFill>
                  <a:srgbClr val="1A73E8"/>
                </a:solidFill>
                <a:latin typeface="Google Sans" pitchFamily="34" charset="0"/>
                <a:ea typeface="Google Sans" pitchFamily="34" charset="-122"/>
                <a:cs typeface="Google Sans" pitchFamily="34" charset="-120"/>
                <a:hlinkClick r:id="rId7">
                  <a:extLst>
                    <a:ext uri="{A12FA001-AC4F-418D-AE19-62706E023703}">
                      <ahyp:hlinkClr xmlns:ahyp="http://schemas.microsoft.com/office/drawing/2018/hyperlinkcolor" val="tx"/>
                    </a:ext>
                  </a:extLst>
                </a:hlinkClick>
              </a:rPr>
              <a:t>skills.google</a:t>
            </a:r>
            <a:r>
              <a:rPr lang="en-US" sz="1200" dirty="0">
                <a:solidFill>
                  <a:srgbClr val="3C4043"/>
                </a:solidFill>
                <a:latin typeface="Google Sans" pitchFamily="34" charset="0"/>
                <a:ea typeface="Google Sans" pitchFamily="34" charset="-122"/>
                <a:cs typeface="Google Sans" pitchFamily="34" charset="-120"/>
              </a:rPr>
              <a:t>. Google Skills is the new name for Google Cloud Skills Boost, where all labs and badges live.</a:t>
            </a:r>
            <a:endParaRPr lang="en-US" sz="1200" dirty="0"/>
          </a:p>
        </p:txBody>
      </p:sp>
      <p:sp>
        <p:nvSpPr>
          <p:cNvPr id="12" name="Shape 6"/>
          <p:cNvSpPr/>
          <p:nvPr/>
        </p:nvSpPr>
        <p:spPr>
          <a:xfrm>
            <a:off x="812788" y="3154680"/>
            <a:ext cx="10566424" cy="1005840"/>
          </a:xfrm>
          <a:prstGeom prst="roundRect">
            <a:avLst>
              <a:gd name="adj" fmla="val 16484"/>
            </a:avLst>
          </a:prstGeom>
          <a:solidFill>
            <a:srgbClr val="FCE8E6"/>
          </a:solidFill>
          <a:ln/>
        </p:spPr>
      </p:sp>
      <p:sp>
        <p:nvSpPr>
          <p:cNvPr id="13" name="Text 7"/>
          <p:cNvSpPr/>
          <p:nvPr/>
        </p:nvSpPr>
        <p:spPr>
          <a:xfrm>
            <a:off x="1066788" y="3355848"/>
            <a:ext cx="457163" cy="594357"/>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76301" y="3337560"/>
            <a:ext cx="7219012" cy="26923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Make your profile Public and copy the URL</a:t>
            </a:r>
            <a:endParaRPr lang="en-US" sz="1600" dirty="0"/>
          </a:p>
        </p:txBody>
      </p:sp>
      <p:sp>
        <p:nvSpPr>
          <p:cNvPr id="15" name="Text 9"/>
          <p:cNvSpPr/>
          <p:nvPr/>
        </p:nvSpPr>
        <p:spPr>
          <a:xfrm>
            <a:off x="1676301" y="3657600"/>
            <a:ext cx="8410500" cy="4572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A public profile lets Google verify your badges. Not sure where the URL is? </a:t>
            </a:r>
            <a:r>
              <a:rPr lang="en-US" sz="1200" u="sng" dirty="0">
                <a:solidFill>
                  <a:srgbClr val="C5221F"/>
                </a:solidFill>
                <a:latin typeface="Google Sans" pitchFamily="34" charset="0"/>
                <a:ea typeface="Google Sans" pitchFamily="34" charset="-122"/>
                <a:cs typeface="Google Sans" pitchFamily="34" charset="-120"/>
                <a:hlinkClick r:id="rId8">
                  <a:extLst>
                    <a:ext uri="{A12FA001-AC4F-418D-AE19-62706E023703}">
                      <ahyp:hlinkClr xmlns:ahyp="http://schemas.microsoft.com/office/drawing/2018/hyperlinkcolor" val="tx"/>
                    </a:ext>
                  </a:extLst>
                </a:hlinkClick>
              </a:rPr>
              <a:t>Watch the step-by-step video</a:t>
            </a:r>
            <a:r>
              <a:rPr lang="en-US" sz="1200" dirty="0">
                <a:solidFill>
                  <a:srgbClr val="3C4043"/>
                </a:solidFill>
                <a:latin typeface="Google Sans" pitchFamily="34" charset="0"/>
                <a:ea typeface="Google Sans" pitchFamily="34" charset="-122"/>
                <a:cs typeface="Google Sans" pitchFamily="34" charset="-120"/>
              </a:rPr>
              <a:t>.</a:t>
            </a:r>
            <a:endParaRPr lang="en-US" sz="1200" dirty="0"/>
          </a:p>
        </p:txBody>
      </p:sp>
      <p:sp>
        <p:nvSpPr>
          <p:cNvPr id="16" name="Shape 10"/>
          <p:cNvSpPr/>
          <p:nvPr/>
        </p:nvSpPr>
        <p:spPr>
          <a:xfrm>
            <a:off x="812788" y="4297680"/>
            <a:ext cx="10566424" cy="1005840"/>
          </a:xfrm>
          <a:prstGeom prst="roundRect">
            <a:avLst>
              <a:gd name="adj" fmla="val 14320"/>
            </a:avLst>
          </a:prstGeom>
          <a:solidFill>
            <a:srgbClr val="FEF7E0"/>
          </a:solidFill>
          <a:ln/>
        </p:spPr>
      </p:sp>
      <p:sp>
        <p:nvSpPr>
          <p:cNvPr id="17" name="Text 11"/>
          <p:cNvSpPr/>
          <p:nvPr/>
        </p:nvSpPr>
        <p:spPr>
          <a:xfrm>
            <a:off x="1066788" y="4498848"/>
            <a:ext cx="457163" cy="594357"/>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76301" y="4480560"/>
            <a:ext cx="9732378" cy="26923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Start fresh if you've done labs before</a:t>
            </a:r>
            <a:endParaRPr lang="en-US" sz="1600" dirty="0"/>
          </a:p>
        </p:txBody>
      </p:sp>
      <p:sp>
        <p:nvSpPr>
          <p:cNvPr id="19" name="Text 13"/>
          <p:cNvSpPr/>
          <p:nvPr/>
        </p:nvSpPr>
        <p:spPr>
          <a:xfrm>
            <a:off x="1676301" y="4800600"/>
            <a:ext cx="9732378" cy="4572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Only badges earned during the program count toward rewards. If you've already completed parts of the curriculum, Google recommends a new account.</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9FA"/>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How to register (limited seats)</a:t>
            </a:r>
            <a:endParaRPr lang="en-US" sz="3200" dirty="0"/>
          </a:p>
        </p:txBody>
      </p:sp>
      <p:sp>
        <p:nvSpPr>
          <p:cNvPr id="7" name="TextBox 6"/>
          <p:cNvSpPr txBox="1"/>
          <p:nvPr/>
        </p:nvSpPr>
        <p:spPr>
          <a:xfrm>
            <a:off x="813816" y="1371600"/>
            <a:ext cx="10570464" cy="548640"/>
          </a:xfrm>
          <a:prstGeom prst="rect">
            <a:avLst/>
          </a:prstGeom>
          <a:noFill/>
        </p:spPr>
        <p:txBody>
          <a:bodyPr wrap="square" lIns="0" tIns="0" rIns="0" bIns="0" anchor="t">
            <a:spAutoFit/>
          </a:bodyPr>
          <a:lstStyle/>
          <a:p>
            <a:pPr>
              <a:lnSpc>
                <a:spcPts val="1950"/>
              </a:lnSpc>
            </a:pPr>
            <a:r>
              <a:rPr sz="1400" b="0">
                <a:solidFill>
                  <a:srgbClr val="3C4043"/>
                </a:solidFill>
                <a:latin typeface="Google Sans"/>
              </a:rPr>
              <a:t>Seats are </a:t>
            </a:r>
            <a:r>
              <a:rPr sz="1400" b="1">
                <a:solidFill>
                  <a:srgbClr val="3C4043"/>
                </a:solidFill>
                <a:latin typeface="Google Sans"/>
              </a:rPr>
              <a:t>first come, first served</a:t>
            </a:r>
            <a:r>
              <a:rPr sz="1400" b="0">
                <a:solidFill>
                  <a:srgbClr val="3C4043"/>
                </a:solidFill>
                <a:latin typeface="Google Sans"/>
              </a:rPr>
              <a:t> and close once full. Keep your public profile URL and the referral code ready.</a:t>
            </a:r>
          </a:p>
        </p:txBody>
      </p:sp>
      <p:sp>
        <p:nvSpPr>
          <p:cNvPr id="8" name="Rectangle 7"/>
          <p:cNvSpPr/>
          <p:nvPr/>
        </p:nvSpPr>
        <p:spPr>
          <a:xfrm>
            <a:off x="813816" y="2103120"/>
            <a:ext cx="2532888" cy="1783080"/>
          </a:xfrm>
          <a:prstGeom prst="roundRect">
            <a:avLst>
              <a:gd name="adj" fmla="val 6645"/>
            </a:avLst>
          </a:prstGeom>
          <a:solidFill>
            <a:srgbClr val="E8F0FE"/>
          </a:solidFill>
          <a:ln>
            <a:noFill/>
          </a:ln>
        </p:spPr>
        <p:txBody>
          <a:bodyPr rtlCol="0" anchor="ctr"/>
          <a:lstStyle/>
          <a:p>
            <a:pPr algn="ctr"/>
            <a:endParaRPr/>
          </a:p>
        </p:txBody>
      </p:sp>
      <p:sp>
        <p:nvSpPr>
          <p:cNvPr id="9" name="Rectangle 8"/>
          <p:cNvSpPr/>
          <p:nvPr/>
        </p:nvSpPr>
        <p:spPr>
          <a:xfrm>
            <a:off x="813816" y="2103120"/>
            <a:ext cx="2532888" cy="1783080"/>
          </a:xfrm>
          <a:custGeom>
            <a:avLst/>
            <a:gdLst/>
            <a:ahLst/>
            <a:cxnLst/>
            <a:rect l="l" t="t" r="r" b="b"/>
            <a:pathLst>
              <a:path w="2532888" h="1783080">
                <a:moveTo>
                  <a:pt x="0" y="152400"/>
                </a:moveTo>
                <a:lnTo>
                  <a:pt x="0" y="152400"/>
                </a:lnTo>
                <a:arcTo wR="152400" hR="152400" stAng="10800000" swAng="5400000"/>
                <a:lnTo>
                  <a:pt x="2380488" y="0"/>
                </a:lnTo>
                <a:arcTo wR="152400" hR="152400" stAng="16200000" swAng="5400000"/>
                <a:lnTo>
                  <a:pt x="2532888" y="152400"/>
                </a:lnTo>
                <a:arcTo wR="152400" hR="88900" stAng="0" swAng="-5400000"/>
                <a:lnTo>
                  <a:pt x="152400" y="63500"/>
                </a:lnTo>
                <a:arcTo wR="152400" hR="88900" stAng="16200000" swAng="-5400000"/>
                <a:close/>
              </a:path>
            </a:pathLst>
          </a:custGeom>
          <a:solidFill>
            <a:srgbClr val="4285F4"/>
          </a:solidFill>
          <a:ln>
            <a:noFill/>
          </a:ln>
        </p:spPr>
        <p:txBody>
          <a:bodyPr rtlCol="0" anchor="ctr"/>
          <a:lstStyle/>
          <a:p>
            <a:pPr algn="ctr"/>
            <a:endParaRPr/>
          </a:p>
        </p:txBody>
      </p:sp>
      <p:sp>
        <p:nvSpPr>
          <p:cNvPr id="10" name="TextBox 9"/>
          <p:cNvSpPr txBox="1"/>
          <p:nvPr/>
        </p:nvSpPr>
        <p:spPr>
          <a:xfrm>
            <a:off x="1042416" y="2340863"/>
            <a:ext cx="2103120" cy="411480"/>
          </a:xfrm>
          <a:prstGeom prst="rect">
            <a:avLst/>
          </a:prstGeom>
          <a:noFill/>
        </p:spPr>
        <p:txBody>
          <a:bodyPr wrap="square" lIns="0" tIns="0" rIns="0" bIns="0" anchor="t">
            <a:spAutoFit/>
          </a:bodyPr>
          <a:lstStyle/>
          <a:p>
            <a:pPr>
              <a:lnSpc>
                <a:spcPts val="3400"/>
              </a:lnSpc>
            </a:pPr>
            <a:r>
              <a:rPr sz="2400" b="1">
                <a:solidFill>
                  <a:srgbClr val="1A73E8"/>
                </a:solidFill>
                <a:latin typeface="Google Sans"/>
              </a:rPr>
              <a:t>01</a:t>
            </a:r>
          </a:p>
        </p:txBody>
      </p:sp>
      <p:sp>
        <p:nvSpPr>
          <p:cNvPr id="11" name="TextBox 10"/>
          <p:cNvSpPr txBox="1"/>
          <p:nvPr/>
        </p:nvSpPr>
        <p:spPr>
          <a:xfrm>
            <a:off x="1042416" y="2816352"/>
            <a:ext cx="2148840" cy="274320"/>
          </a:xfrm>
          <a:prstGeom prst="rect">
            <a:avLst/>
          </a:prstGeom>
          <a:noFill/>
        </p:spPr>
        <p:txBody>
          <a:bodyPr wrap="square" lIns="0" tIns="0" rIns="0" bIns="0" anchor="t">
            <a:spAutoFit/>
          </a:bodyPr>
          <a:lstStyle/>
          <a:p>
            <a:pPr>
              <a:lnSpc>
                <a:spcPts val="2150"/>
              </a:lnSpc>
            </a:pPr>
            <a:r>
              <a:rPr sz="1500" b="1">
                <a:solidFill>
                  <a:srgbClr val="202124"/>
                </a:solidFill>
                <a:latin typeface="Google Sans"/>
              </a:rPr>
              <a:t>Open the form</a:t>
            </a:r>
          </a:p>
        </p:txBody>
      </p:sp>
      <p:sp>
        <p:nvSpPr>
          <p:cNvPr id="12" name="TextBox 11"/>
          <p:cNvSpPr txBox="1"/>
          <p:nvPr/>
        </p:nvSpPr>
        <p:spPr>
          <a:xfrm>
            <a:off x="1042416" y="3154679"/>
            <a:ext cx="2103120" cy="640080"/>
          </a:xfrm>
          <a:prstGeom prst="rect">
            <a:avLst/>
          </a:prstGeom>
          <a:noFill/>
        </p:spPr>
        <p:txBody>
          <a:bodyPr wrap="square" lIns="0" tIns="0" rIns="0" bIns="0" anchor="t">
            <a:spAutoFit/>
          </a:bodyPr>
          <a:lstStyle/>
          <a:p>
            <a:pPr>
              <a:lnSpc>
                <a:spcPts val="1600"/>
              </a:lnSpc>
            </a:pPr>
            <a:r>
              <a:rPr sz="1000" b="0" u="sng">
                <a:solidFill>
                  <a:srgbClr val="1A73E8"/>
                </a:solidFill>
                <a:latin typeface="Google Sans"/>
                <a:hlinkClick r:id="rId7"/>
              </a:rPr>
              <a:t>forms.gle/VDXwE13LoaNhA2VeA</a:t>
            </a:r>
          </a:p>
        </p:txBody>
      </p:sp>
      <p:sp>
        <p:nvSpPr>
          <p:cNvPr id="13" name="Rectangle 12"/>
          <p:cNvSpPr/>
          <p:nvPr/>
        </p:nvSpPr>
        <p:spPr>
          <a:xfrm>
            <a:off x="3493008" y="2103120"/>
            <a:ext cx="2532888" cy="1783080"/>
          </a:xfrm>
          <a:prstGeom prst="roundRect">
            <a:avLst>
              <a:gd name="adj" fmla="val 6645"/>
            </a:avLst>
          </a:prstGeom>
          <a:solidFill>
            <a:srgbClr val="FCE8E6"/>
          </a:solidFill>
          <a:ln>
            <a:noFill/>
          </a:ln>
        </p:spPr>
        <p:txBody>
          <a:bodyPr rtlCol="0" anchor="ctr"/>
          <a:lstStyle/>
          <a:p>
            <a:pPr algn="ctr"/>
            <a:endParaRPr/>
          </a:p>
        </p:txBody>
      </p:sp>
      <p:sp>
        <p:nvSpPr>
          <p:cNvPr id="14" name="Rectangle 13"/>
          <p:cNvSpPr/>
          <p:nvPr/>
        </p:nvSpPr>
        <p:spPr>
          <a:xfrm>
            <a:off x="3493008" y="2103120"/>
            <a:ext cx="2532888" cy="1783080"/>
          </a:xfrm>
          <a:custGeom>
            <a:avLst/>
            <a:gdLst/>
            <a:ahLst/>
            <a:cxnLst/>
            <a:rect l="l" t="t" r="r" b="b"/>
            <a:pathLst>
              <a:path w="2532888" h="1783080">
                <a:moveTo>
                  <a:pt x="0" y="152400"/>
                </a:moveTo>
                <a:lnTo>
                  <a:pt x="0" y="152400"/>
                </a:lnTo>
                <a:arcTo wR="152400" hR="152400" stAng="10800000" swAng="5400000"/>
                <a:lnTo>
                  <a:pt x="2380488" y="0"/>
                </a:lnTo>
                <a:arcTo wR="152400" hR="152400" stAng="16200000" swAng="5400000"/>
                <a:lnTo>
                  <a:pt x="2532888" y="152400"/>
                </a:lnTo>
                <a:arcTo wR="152400" hR="88900" stAng="0" swAng="-5400000"/>
                <a:lnTo>
                  <a:pt x="152400" y="63500"/>
                </a:lnTo>
                <a:arcTo wR="152400" hR="88900" stAng="16200000" swAng="-5400000"/>
                <a:close/>
              </a:path>
            </a:pathLst>
          </a:custGeom>
          <a:solidFill>
            <a:srgbClr val="EA4335"/>
          </a:solidFill>
          <a:ln>
            <a:noFill/>
          </a:ln>
        </p:spPr>
        <p:txBody>
          <a:bodyPr rtlCol="0" anchor="ctr"/>
          <a:lstStyle/>
          <a:p>
            <a:pPr algn="ctr"/>
            <a:endParaRPr/>
          </a:p>
        </p:txBody>
      </p:sp>
      <p:sp>
        <p:nvSpPr>
          <p:cNvPr id="15" name="TextBox 14"/>
          <p:cNvSpPr txBox="1"/>
          <p:nvPr/>
        </p:nvSpPr>
        <p:spPr>
          <a:xfrm>
            <a:off x="3721608" y="2340863"/>
            <a:ext cx="2103120" cy="411480"/>
          </a:xfrm>
          <a:prstGeom prst="rect">
            <a:avLst/>
          </a:prstGeom>
          <a:noFill/>
        </p:spPr>
        <p:txBody>
          <a:bodyPr wrap="square" lIns="0" tIns="0" rIns="0" bIns="0" anchor="t">
            <a:spAutoFit/>
          </a:bodyPr>
          <a:lstStyle/>
          <a:p>
            <a:pPr>
              <a:lnSpc>
                <a:spcPts val="3400"/>
              </a:lnSpc>
            </a:pPr>
            <a:r>
              <a:rPr sz="2400" b="1">
                <a:solidFill>
                  <a:srgbClr val="C5221F"/>
                </a:solidFill>
                <a:latin typeface="Google Sans"/>
              </a:rPr>
              <a:t>02</a:t>
            </a:r>
          </a:p>
        </p:txBody>
      </p:sp>
      <p:sp>
        <p:nvSpPr>
          <p:cNvPr id="16" name="TextBox 15"/>
          <p:cNvSpPr txBox="1"/>
          <p:nvPr/>
        </p:nvSpPr>
        <p:spPr>
          <a:xfrm>
            <a:off x="3721608" y="2816352"/>
            <a:ext cx="2148840" cy="274320"/>
          </a:xfrm>
          <a:prstGeom prst="rect">
            <a:avLst/>
          </a:prstGeom>
          <a:noFill/>
        </p:spPr>
        <p:txBody>
          <a:bodyPr wrap="square" lIns="0" tIns="0" rIns="0" bIns="0" anchor="t">
            <a:spAutoFit/>
          </a:bodyPr>
          <a:lstStyle/>
          <a:p>
            <a:pPr>
              <a:lnSpc>
                <a:spcPts val="2150"/>
              </a:lnSpc>
            </a:pPr>
            <a:r>
              <a:rPr sz="1500" b="1">
                <a:solidFill>
                  <a:srgbClr val="202124"/>
                </a:solidFill>
                <a:latin typeface="Google Sans"/>
              </a:rPr>
              <a:t>Submit your details</a:t>
            </a:r>
          </a:p>
        </p:txBody>
      </p:sp>
      <p:sp>
        <p:nvSpPr>
          <p:cNvPr id="17" name="TextBox 16"/>
          <p:cNvSpPr txBox="1"/>
          <p:nvPr/>
        </p:nvSpPr>
        <p:spPr>
          <a:xfrm>
            <a:off x="3721608" y="3154679"/>
            <a:ext cx="2103120" cy="640080"/>
          </a:xfrm>
          <a:prstGeom prst="rect">
            <a:avLst/>
          </a:prstGeom>
          <a:noFill/>
        </p:spPr>
        <p:txBody>
          <a:bodyPr wrap="square" lIns="0" tIns="0" rIns="0" bIns="0" anchor="t">
            <a:spAutoFit/>
          </a:bodyPr>
          <a:lstStyle/>
          <a:p>
            <a:pPr>
              <a:lnSpc>
                <a:spcPts val="1600"/>
              </a:lnSpc>
            </a:pPr>
            <a:r>
              <a:rPr sz="1200" b="0">
                <a:solidFill>
                  <a:srgbClr val="3C4043"/>
                </a:solidFill>
                <a:latin typeface="Google Sans"/>
              </a:rPr>
              <a:t>Add your info and your public profile URL.</a:t>
            </a:r>
          </a:p>
        </p:txBody>
      </p:sp>
      <p:sp>
        <p:nvSpPr>
          <p:cNvPr id="18" name="Rectangle 17"/>
          <p:cNvSpPr/>
          <p:nvPr/>
        </p:nvSpPr>
        <p:spPr>
          <a:xfrm>
            <a:off x="6172200" y="2103120"/>
            <a:ext cx="2532888" cy="1783080"/>
          </a:xfrm>
          <a:prstGeom prst="roundRect">
            <a:avLst>
              <a:gd name="adj" fmla="val 6645"/>
            </a:avLst>
          </a:prstGeom>
          <a:solidFill>
            <a:srgbClr val="FEF7E0"/>
          </a:solidFill>
          <a:ln>
            <a:noFill/>
          </a:ln>
        </p:spPr>
        <p:txBody>
          <a:bodyPr rtlCol="0" anchor="ctr"/>
          <a:lstStyle/>
          <a:p>
            <a:pPr algn="ctr"/>
            <a:endParaRPr/>
          </a:p>
        </p:txBody>
      </p:sp>
      <p:sp>
        <p:nvSpPr>
          <p:cNvPr id="19" name="Rectangle 18"/>
          <p:cNvSpPr/>
          <p:nvPr/>
        </p:nvSpPr>
        <p:spPr>
          <a:xfrm>
            <a:off x="6172200" y="2103120"/>
            <a:ext cx="2532888" cy="1783080"/>
          </a:xfrm>
          <a:custGeom>
            <a:avLst/>
            <a:gdLst/>
            <a:ahLst/>
            <a:cxnLst/>
            <a:rect l="l" t="t" r="r" b="b"/>
            <a:pathLst>
              <a:path w="2532888" h="1783080">
                <a:moveTo>
                  <a:pt x="0" y="152400"/>
                </a:moveTo>
                <a:lnTo>
                  <a:pt x="0" y="152400"/>
                </a:lnTo>
                <a:arcTo wR="152400" hR="152400" stAng="10800000" swAng="5400000"/>
                <a:lnTo>
                  <a:pt x="2380488" y="0"/>
                </a:lnTo>
                <a:arcTo wR="152400" hR="152400" stAng="16200000" swAng="5400000"/>
                <a:lnTo>
                  <a:pt x="2532888" y="152400"/>
                </a:lnTo>
                <a:arcTo wR="152400" hR="88900" stAng="0" swAng="-5400000"/>
                <a:lnTo>
                  <a:pt x="152400" y="63500"/>
                </a:lnTo>
                <a:arcTo wR="152400" hR="88900" stAng="16200000" swAng="-5400000"/>
                <a:close/>
              </a:path>
            </a:pathLst>
          </a:custGeom>
          <a:solidFill>
            <a:srgbClr val="FBBC04"/>
          </a:solidFill>
          <a:ln>
            <a:noFill/>
          </a:ln>
        </p:spPr>
        <p:txBody>
          <a:bodyPr rtlCol="0" anchor="ctr"/>
          <a:lstStyle/>
          <a:p>
            <a:pPr algn="ctr"/>
            <a:endParaRPr/>
          </a:p>
        </p:txBody>
      </p:sp>
      <p:sp>
        <p:nvSpPr>
          <p:cNvPr id="20" name="TextBox 19"/>
          <p:cNvSpPr txBox="1"/>
          <p:nvPr/>
        </p:nvSpPr>
        <p:spPr>
          <a:xfrm>
            <a:off x="6400800" y="2340863"/>
            <a:ext cx="2103120" cy="411480"/>
          </a:xfrm>
          <a:prstGeom prst="rect">
            <a:avLst/>
          </a:prstGeom>
          <a:noFill/>
        </p:spPr>
        <p:txBody>
          <a:bodyPr wrap="square" lIns="0" tIns="0" rIns="0" bIns="0" anchor="t">
            <a:spAutoFit/>
          </a:bodyPr>
          <a:lstStyle/>
          <a:p>
            <a:pPr>
              <a:lnSpc>
                <a:spcPts val="3400"/>
              </a:lnSpc>
            </a:pPr>
            <a:r>
              <a:rPr sz="2400" b="1">
                <a:solidFill>
                  <a:srgbClr val="E37400"/>
                </a:solidFill>
                <a:latin typeface="Google Sans"/>
              </a:rPr>
              <a:t>03</a:t>
            </a:r>
          </a:p>
        </p:txBody>
      </p:sp>
      <p:sp>
        <p:nvSpPr>
          <p:cNvPr id="21" name="TextBox 20"/>
          <p:cNvSpPr txBox="1"/>
          <p:nvPr/>
        </p:nvSpPr>
        <p:spPr>
          <a:xfrm>
            <a:off x="6400800" y="2816352"/>
            <a:ext cx="2148840" cy="274320"/>
          </a:xfrm>
          <a:prstGeom prst="rect">
            <a:avLst/>
          </a:prstGeom>
          <a:noFill/>
        </p:spPr>
        <p:txBody>
          <a:bodyPr wrap="square" lIns="0" tIns="0" rIns="0" bIns="0" anchor="t">
            <a:spAutoFit/>
          </a:bodyPr>
          <a:lstStyle/>
          <a:p>
            <a:pPr>
              <a:lnSpc>
                <a:spcPts val="2150"/>
              </a:lnSpc>
            </a:pPr>
            <a:r>
              <a:rPr sz="1500" b="1">
                <a:solidFill>
                  <a:srgbClr val="202124"/>
                </a:solidFill>
                <a:latin typeface="Google Sans"/>
              </a:rPr>
              <a:t>Add referral code</a:t>
            </a:r>
          </a:p>
        </p:txBody>
      </p:sp>
      <p:sp>
        <p:nvSpPr>
          <p:cNvPr id="22" name="TextBox 21"/>
          <p:cNvSpPr txBox="1"/>
          <p:nvPr/>
        </p:nvSpPr>
        <p:spPr>
          <a:xfrm>
            <a:off x="6400800" y="3154679"/>
            <a:ext cx="2103120" cy="640080"/>
          </a:xfrm>
          <a:prstGeom prst="rect">
            <a:avLst/>
          </a:prstGeom>
          <a:noFill/>
        </p:spPr>
        <p:txBody>
          <a:bodyPr wrap="square" lIns="0" tIns="0" rIns="0" bIns="0" anchor="t">
            <a:spAutoFit/>
          </a:bodyPr>
          <a:lstStyle/>
          <a:p>
            <a:pPr>
              <a:lnSpc>
                <a:spcPts val="1600"/>
              </a:lnSpc>
            </a:pPr>
            <a:r>
              <a:rPr sz="1200" b="0">
                <a:solidFill>
                  <a:srgbClr val="3C4043"/>
                </a:solidFill>
                <a:latin typeface="Google Sans"/>
              </a:rPr>
              <a:t>Enter GDGC-APSIT.</a:t>
            </a:r>
          </a:p>
        </p:txBody>
      </p:sp>
      <p:sp>
        <p:nvSpPr>
          <p:cNvPr id="23" name="Rectangle 22"/>
          <p:cNvSpPr/>
          <p:nvPr/>
        </p:nvSpPr>
        <p:spPr>
          <a:xfrm>
            <a:off x="8851392" y="2103120"/>
            <a:ext cx="2532888" cy="1783080"/>
          </a:xfrm>
          <a:prstGeom prst="roundRect">
            <a:avLst>
              <a:gd name="adj" fmla="val 6645"/>
            </a:avLst>
          </a:prstGeom>
          <a:solidFill>
            <a:srgbClr val="E6F4EA"/>
          </a:solidFill>
          <a:ln>
            <a:noFill/>
          </a:ln>
        </p:spPr>
        <p:txBody>
          <a:bodyPr rtlCol="0" anchor="ctr"/>
          <a:lstStyle/>
          <a:p>
            <a:pPr algn="ctr"/>
            <a:endParaRPr/>
          </a:p>
        </p:txBody>
      </p:sp>
      <p:sp>
        <p:nvSpPr>
          <p:cNvPr id="24" name="Rectangle 23"/>
          <p:cNvSpPr/>
          <p:nvPr/>
        </p:nvSpPr>
        <p:spPr>
          <a:xfrm>
            <a:off x="8851392" y="2103120"/>
            <a:ext cx="2532888" cy="1783080"/>
          </a:xfrm>
          <a:custGeom>
            <a:avLst/>
            <a:gdLst/>
            <a:ahLst/>
            <a:cxnLst/>
            <a:rect l="l" t="t" r="r" b="b"/>
            <a:pathLst>
              <a:path w="2532888" h="1783080">
                <a:moveTo>
                  <a:pt x="0" y="152400"/>
                </a:moveTo>
                <a:lnTo>
                  <a:pt x="0" y="152400"/>
                </a:lnTo>
                <a:arcTo wR="152400" hR="152400" stAng="10800000" swAng="5400000"/>
                <a:lnTo>
                  <a:pt x="2380488" y="0"/>
                </a:lnTo>
                <a:arcTo wR="152400" hR="152400" stAng="16200000" swAng="5400000"/>
                <a:lnTo>
                  <a:pt x="2532888" y="152400"/>
                </a:lnTo>
                <a:arcTo wR="152400" hR="88900" stAng="0" swAng="-5400000"/>
                <a:lnTo>
                  <a:pt x="152400" y="63500"/>
                </a:lnTo>
                <a:arcTo wR="152400" hR="88900" stAng="16200000" swAng="-5400000"/>
                <a:close/>
              </a:path>
            </a:pathLst>
          </a:custGeom>
          <a:solidFill>
            <a:srgbClr val="34A853"/>
          </a:solidFill>
          <a:ln>
            <a:noFill/>
          </a:ln>
        </p:spPr>
        <p:txBody>
          <a:bodyPr rtlCol="0" anchor="ctr"/>
          <a:lstStyle/>
          <a:p>
            <a:pPr algn="ctr"/>
            <a:endParaRPr/>
          </a:p>
        </p:txBody>
      </p:sp>
      <p:sp>
        <p:nvSpPr>
          <p:cNvPr id="25" name="TextBox 24"/>
          <p:cNvSpPr txBox="1"/>
          <p:nvPr/>
        </p:nvSpPr>
        <p:spPr>
          <a:xfrm>
            <a:off x="9079992" y="2340863"/>
            <a:ext cx="2103120" cy="411480"/>
          </a:xfrm>
          <a:prstGeom prst="rect">
            <a:avLst/>
          </a:prstGeom>
          <a:noFill/>
        </p:spPr>
        <p:txBody>
          <a:bodyPr wrap="square" lIns="0" tIns="0" rIns="0" bIns="0" anchor="t">
            <a:spAutoFit/>
          </a:bodyPr>
          <a:lstStyle/>
          <a:p>
            <a:pPr>
              <a:lnSpc>
                <a:spcPts val="3400"/>
              </a:lnSpc>
            </a:pPr>
            <a:r>
              <a:rPr sz="2400" b="1">
                <a:solidFill>
                  <a:srgbClr val="137333"/>
                </a:solidFill>
                <a:latin typeface="Google Sans"/>
              </a:rPr>
              <a:t>04</a:t>
            </a:r>
          </a:p>
        </p:txBody>
      </p:sp>
      <p:sp>
        <p:nvSpPr>
          <p:cNvPr id="26" name="TextBox 25"/>
          <p:cNvSpPr txBox="1"/>
          <p:nvPr/>
        </p:nvSpPr>
        <p:spPr>
          <a:xfrm>
            <a:off x="9079992" y="2816352"/>
            <a:ext cx="2148840" cy="274320"/>
          </a:xfrm>
          <a:prstGeom prst="rect">
            <a:avLst/>
          </a:prstGeom>
          <a:noFill/>
        </p:spPr>
        <p:txBody>
          <a:bodyPr wrap="square" lIns="0" tIns="0" rIns="0" bIns="0" anchor="t">
            <a:spAutoFit/>
          </a:bodyPr>
          <a:lstStyle/>
          <a:p>
            <a:pPr>
              <a:lnSpc>
                <a:spcPts val="2150"/>
              </a:lnSpc>
            </a:pPr>
            <a:r>
              <a:rPr sz="1500" b="1">
                <a:solidFill>
                  <a:srgbClr val="202124"/>
                </a:solidFill>
                <a:latin typeface="Google Sans"/>
              </a:rPr>
              <a:t>Lock in your seat</a:t>
            </a:r>
          </a:p>
        </p:txBody>
      </p:sp>
      <p:sp>
        <p:nvSpPr>
          <p:cNvPr id="27" name="TextBox 26"/>
          <p:cNvSpPr txBox="1"/>
          <p:nvPr/>
        </p:nvSpPr>
        <p:spPr>
          <a:xfrm>
            <a:off x="9079992" y="3154679"/>
            <a:ext cx="2103120" cy="640080"/>
          </a:xfrm>
          <a:prstGeom prst="rect">
            <a:avLst/>
          </a:prstGeom>
          <a:noFill/>
        </p:spPr>
        <p:txBody>
          <a:bodyPr wrap="square" lIns="0" tIns="0" rIns="0" bIns="0" anchor="t">
            <a:spAutoFit/>
          </a:bodyPr>
          <a:lstStyle/>
          <a:p>
            <a:pPr>
              <a:lnSpc>
                <a:spcPts val="1600"/>
              </a:lnSpc>
            </a:pPr>
            <a:r>
              <a:rPr sz="1200" b="0">
                <a:solidFill>
                  <a:srgbClr val="3C4043"/>
                </a:solidFill>
                <a:latin typeface="Google Sans"/>
              </a:rPr>
              <a:t>Submit before 31 Oct 2026, or sooner if seats fill.</a:t>
            </a:r>
          </a:p>
        </p:txBody>
      </p:sp>
      <p:sp>
        <p:nvSpPr>
          <p:cNvPr id="28" name="Rectangle 27"/>
          <p:cNvSpPr/>
          <p:nvPr/>
        </p:nvSpPr>
        <p:spPr>
          <a:xfrm>
            <a:off x="813816" y="4206240"/>
            <a:ext cx="10570464" cy="2011680"/>
          </a:xfrm>
          <a:prstGeom prst="roundRect">
            <a:avLst>
              <a:gd name="adj" fmla="val 6645"/>
            </a:avLst>
          </a:prstGeom>
          <a:solidFill>
            <a:srgbClr val="FEF7E0"/>
          </a:solidFill>
          <a:ln>
            <a:noFill/>
          </a:ln>
        </p:spPr>
        <p:txBody>
          <a:bodyPr rtlCol="0" anchor="ctr"/>
          <a:lstStyle/>
          <a:p>
            <a:pPr algn="ctr"/>
            <a:endParaRPr/>
          </a:p>
        </p:txBody>
      </p:sp>
      <p:sp>
        <p:nvSpPr>
          <p:cNvPr id="29" name="Rectangle 28"/>
          <p:cNvSpPr/>
          <p:nvPr/>
        </p:nvSpPr>
        <p:spPr>
          <a:xfrm>
            <a:off x="813816" y="4206240"/>
            <a:ext cx="10570464" cy="2011680"/>
          </a:xfrm>
          <a:custGeom>
            <a:avLst/>
            <a:gdLst/>
            <a:ahLst/>
            <a:cxnLst/>
            <a:rect l="l" t="t" r="r" b="b"/>
            <a:pathLst>
              <a:path w="10570464" h="2011680">
                <a:moveTo>
                  <a:pt x="0" y="152400"/>
                </a:moveTo>
                <a:lnTo>
                  <a:pt x="0" y="152400"/>
                </a:lnTo>
                <a:arcTo wR="152400" hR="152400" stAng="10800000" swAng="5400000"/>
                <a:lnTo>
                  <a:pt x="10418064" y="0"/>
                </a:lnTo>
                <a:arcTo wR="152400" hR="152400" stAng="16200000" swAng="5400000"/>
                <a:lnTo>
                  <a:pt x="10570464" y="152400"/>
                </a:lnTo>
                <a:arcTo wR="152400" hR="88900" stAng="0" swAng="-5400000"/>
                <a:lnTo>
                  <a:pt x="152400" y="63500"/>
                </a:lnTo>
                <a:arcTo wR="152400" hR="88900" stAng="16200000" swAng="-5400000"/>
                <a:close/>
              </a:path>
            </a:pathLst>
          </a:custGeom>
          <a:solidFill>
            <a:srgbClr val="FBBC04"/>
          </a:solidFill>
          <a:ln>
            <a:noFill/>
          </a:ln>
        </p:spPr>
        <p:txBody>
          <a:bodyPr rtlCol="0" anchor="ctr"/>
          <a:lstStyle/>
          <a:p>
            <a:pPr algn="ctr"/>
            <a:endParaRPr/>
          </a:p>
        </p:txBody>
      </p:sp>
      <p:sp>
        <p:nvSpPr>
          <p:cNvPr id="30" name="TextBox 29"/>
          <p:cNvSpPr txBox="1"/>
          <p:nvPr/>
        </p:nvSpPr>
        <p:spPr>
          <a:xfrm>
            <a:off x="1097280" y="4434840"/>
            <a:ext cx="9966960" cy="256032"/>
          </a:xfrm>
          <a:prstGeom prst="rect">
            <a:avLst/>
          </a:prstGeom>
          <a:noFill/>
        </p:spPr>
        <p:txBody>
          <a:bodyPr wrap="square" lIns="0" tIns="0" rIns="0" bIns="0" anchor="t">
            <a:spAutoFit/>
          </a:bodyPr>
          <a:lstStyle/>
          <a:p>
            <a:pPr>
              <a:lnSpc>
                <a:spcPts val="1850"/>
              </a:lnSpc>
            </a:pPr>
            <a:r>
              <a:rPr sz="1300" b="1">
                <a:solidFill>
                  <a:srgbClr val="B06000"/>
                </a:solidFill>
                <a:latin typeface="Google Sans"/>
              </a:rPr>
              <a:t>DON'T SKIP THIS STEP</a:t>
            </a:r>
          </a:p>
        </p:txBody>
      </p:sp>
      <p:sp>
        <p:nvSpPr>
          <p:cNvPr id="33" name="Rectangle 32"/>
          <p:cNvSpPr/>
          <p:nvPr/>
        </p:nvSpPr>
        <p:spPr>
          <a:xfrm>
            <a:off x="1097280" y="4846320"/>
            <a:ext cx="4206240" cy="1097280"/>
          </a:xfrm>
          <a:prstGeom prst="roundRect">
            <a:avLst>
              <a:gd name="adj" fmla="val 30000"/>
            </a:avLst>
          </a:prstGeom>
          <a:solidFill>
            <a:srgbClr val="FFFFFF"/>
          </a:solidFill>
          <a:ln>
            <a:noFill/>
          </a:ln>
        </p:spPr>
        <p:txBody>
          <a:bodyPr rtlCol="0" anchor="ctr"/>
          <a:lstStyle/>
          <a:p>
            <a:pPr algn="ctr"/>
            <a:endParaRPr/>
          </a:p>
        </p:txBody>
      </p:sp>
      <p:sp>
        <p:nvSpPr>
          <p:cNvPr id="34" name="TextBox 33"/>
          <p:cNvSpPr txBox="1"/>
          <p:nvPr/>
        </p:nvSpPr>
        <p:spPr>
          <a:xfrm>
            <a:off x="1097280" y="4983480"/>
            <a:ext cx="4206240" cy="201168"/>
          </a:xfrm>
          <a:prstGeom prst="rect">
            <a:avLst/>
          </a:prstGeom>
          <a:noFill/>
        </p:spPr>
        <p:txBody>
          <a:bodyPr wrap="square" lIns="0" tIns="0" rIns="0" bIns="0" anchor="t">
            <a:spAutoFit/>
          </a:bodyPr>
          <a:lstStyle/>
          <a:p>
            <a:pPr algn="ctr">
              <a:lnSpc>
                <a:spcPts val="1200"/>
              </a:lnSpc>
            </a:pPr>
            <a:r>
              <a:rPr sz="1000" b="1">
                <a:solidFill>
                  <a:srgbClr val="B06000"/>
                </a:solidFill>
                <a:latin typeface="Google Sans"/>
              </a:rPr>
              <a:t>REFERRAL CODE</a:t>
            </a:r>
          </a:p>
        </p:txBody>
      </p:sp>
      <p:sp>
        <p:nvSpPr>
          <p:cNvPr id="35" name="TextBox 34"/>
          <p:cNvSpPr txBox="1"/>
          <p:nvPr/>
        </p:nvSpPr>
        <p:spPr>
          <a:xfrm>
            <a:off x="1097280" y="5285232"/>
            <a:ext cx="4206240" cy="502920"/>
          </a:xfrm>
          <a:prstGeom prst="rect">
            <a:avLst/>
          </a:prstGeom>
          <a:noFill/>
        </p:spPr>
        <p:txBody>
          <a:bodyPr wrap="square" lIns="0" tIns="0" rIns="0" bIns="0" anchor="t">
            <a:spAutoFit/>
          </a:bodyPr>
          <a:lstStyle/>
          <a:p>
            <a:pPr algn="ctr">
              <a:lnSpc>
                <a:spcPts val="4200"/>
              </a:lnSpc>
            </a:pPr>
            <a:r>
              <a:rPr sz="3600" b="1">
                <a:solidFill>
                  <a:srgbClr val="202124"/>
                </a:solidFill>
                <a:latin typeface="Google Sans"/>
              </a:rPr>
              <a:t>GDGC-APSIT</a:t>
            </a:r>
          </a:p>
        </p:txBody>
      </p:sp>
      <p:sp>
        <p:nvSpPr>
          <p:cNvPr id="90" name="Referral helper"/>
          <p:cNvSpPr txBox="1"/>
          <p:nvPr/>
        </p:nvSpPr>
        <p:spPr>
          <a:xfrm>
            <a:off x="5669280" y="4846320"/>
            <a:ext cx="5394960" cy="1097280"/>
          </a:xfrm>
          <a:prstGeom prst="rect">
            <a:avLst/>
          </a:prstGeom>
          <a:noFill/>
        </p:spPr>
        <p:txBody>
          <a:bodyPr wrap="square" lIns="0" tIns="0" rIns="0" bIns="0" anchor="ctr"/>
          <a:lstStyle/>
          <a:p>
            <a:pPr>
              <a:lnSpc>
                <a:spcPts val="2200"/>
              </a:lnSpc>
            </a:pPr>
            <a:r>
              <a:rPr lang="en-US" sz="1600" b="1">
                <a:solidFill>
                  <a:srgbClr val="202124"/>
                </a:solidFill>
                <a:latin typeface="Google Sans"/>
              </a:rPr>
              <a:t>Enter this code in the referral field of the form.</a:t>
            </a:r>
          </a:p>
          <a:p>
            <a:pPr>
              <a:lnSpc>
                <a:spcPts val="2000"/>
              </a:lnSpc>
            </a:pPr>
            <a:r>
              <a:rPr lang="en-US" sz="1400">
                <a:solidFill>
                  <a:srgbClr val="5F6368"/>
                </a:solidFill>
                <a:latin typeface="Google Sans"/>
              </a:rPr>
              <a:t>Without it, your registration cannot be credited to GDGoC APSIT.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A look inside the labs</a:t>
            </a:r>
            <a:endParaRPr lang="en-US" sz="3200" dirty="0"/>
          </a:p>
        </p:txBody>
      </p:sp>
      <p:sp>
        <p:nvSpPr>
          <p:cNvPr id="7" name="TextBox 6"/>
          <p:cNvSpPr txBox="1"/>
          <p:nvPr/>
        </p:nvSpPr>
        <p:spPr>
          <a:xfrm>
            <a:off x="813816" y="1371600"/>
            <a:ext cx="10570464" cy="457200"/>
          </a:xfrm>
          <a:prstGeom prst="rect">
            <a:avLst/>
          </a:prstGeom>
          <a:noFill/>
        </p:spPr>
        <p:txBody>
          <a:bodyPr wrap="square" lIns="0" tIns="0" rIns="0" bIns="0" anchor="t">
            <a:spAutoFit/>
          </a:bodyPr>
          <a:lstStyle/>
          <a:p>
            <a:pPr>
              <a:lnSpc>
                <a:spcPts val="1950"/>
              </a:lnSpc>
            </a:pPr>
            <a:r>
              <a:rPr sz="1400" b="0">
                <a:solidFill>
                  <a:srgbClr val="3C4043"/>
                </a:solidFill>
                <a:latin typeface="Google Sans"/>
              </a:rPr>
              <a:t>Two example badges, to show what a lab actually feels like.</a:t>
            </a:r>
          </a:p>
        </p:txBody>
      </p:sp>
      <p:sp>
        <p:nvSpPr>
          <p:cNvPr id="8" name="Rectangle 7"/>
          <p:cNvSpPr/>
          <p:nvPr/>
        </p:nvSpPr>
        <p:spPr>
          <a:xfrm>
            <a:off x="813816" y="2011680"/>
            <a:ext cx="5193792" cy="3246120"/>
          </a:xfrm>
          <a:prstGeom prst="roundRect">
            <a:avLst>
              <a:gd name="adj" fmla="val 6645"/>
            </a:avLst>
          </a:prstGeom>
          <a:solidFill>
            <a:srgbClr val="E8F0FE"/>
          </a:solidFill>
          <a:ln>
            <a:noFill/>
          </a:ln>
        </p:spPr>
        <p:txBody>
          <a:bodyPr rtlCol="0" anchor="ctr"/>
          <a:lstStyle/>
          <a:p>
            <a:pPr algn="ctr"/>
            <a:endParaRPr/>
          </a:p>
        </p:txBody>
      </p:sp>
      <p:sp>
        <p:nvSpPr>
          <p:cNvPr id="9" name="Rectangle 8"/>
          <p:cNvSpPr/>
          <p:nvPr/>
        </p:nvSpPr>
        <p:spPr>
          <a:xfrm>
            <a:off x="813816" y="2011680"/>
            <a:ext cx="5193792" cy="3246120"/>
          </a:xfrm>
          <a:custGeom>
            <a:avLst/>
            <a:gdLst/>
            <a:ahLst/>
            <a:cxnLst/>
            <a:rect l="l" t="t" r="r" b="b"/>
            <a:pathLst>
              <a:path w="5193792" h="3246120">
                <a:moveTo>
                  <a:pt x="0" y="152400"/>
                </a:moveTo>
                <a:lnTo>
                  <a:pt x="0" y="152400"/>
                </a:lnTo>
                <a:arcTo wR="152400" hR="152400" stAng="10800000" swAng="5400000"/>
                <a:lnTo>
                  <a:pt x="5041392" y="0"/>
                </a:lnTo>
                <a:arcTo wR="152400" hR="152400" stAng="16200000" swAng="5400000"/>
                <a:lnTo>
                  <a:pt x="5193792" y="152400"/>
                </a:lnTo>
                <a:arcTo wR="152400" hR="88900" stAng="0" swAng="-5400000"/>
                <a:lnTo>
                  <a:pt x="152400" y="63500"/>
                </a:lnTo>
                <a:arcTo wR="152400" hR="88900" stAng="16200000" swAng="-5400000"/>
                <a:close/>
              </a:path>
            </a:pathLst>
          </a:custGeom>
          <a:solidFill>
            <a:srgbClr val="4285F4"/>
          </a:solidFill>
          <a:ln>
            <a:noFill/>
          </a:ln>
        </p:spPr>
        <p:txBody>
          <a:bodyPr rtlCol="0" anchor="ctr"/>
          <a:lstStyle/>
          <a:p>
            <a:pPr algn="ctr"/>
            <a:endParaRPr/>
          </a:p>
        </p:txBody>
      </p:sp>
      <p:sp>
        <p:nvSpPr>
          <p:cNvPr id="10" name="TextBox 9"/>
          <p:cNvSpPr txBox="1"/>
          <p:nvPr/>
        </p:nvSpPr>
        <p:spPr>
          <a:xfrm>
            <a:off x="1088136" y="2286000"/>
            <a:ext cx="3291840" cy="256032"/>
          </a:xfrm>
          <a:prstGeom prst="rect">
            <a:avLst/>
          </a:prstGeom>
          <a:noFill/>
        </p:spPr>
        <p:txBody>
          <a:bodyPr wrap="square" lIns="0" tIns="0" rIns="0" bIns="0" anchor="t">
            <a:spAutoFit/>
          </a:bodyPr>
          <a:lstStyle/>
          <a:p>
            <a:pPr>
              <a:lnSpc>
                <a:spcPts val="1850"/>
              </a:lnSpc>
            </a:pPr>
            <a:r>
              <a:rPr sz="1300" b="1">
                <a:solidFill>
                  <a:srgbClr val="1A73E8"/>
                </a:solidFill>
                <a:latin typeface="Google Sans"/>
              </a:rPr>
              <a:t>CLOUD · INTRODUCTORY</a:t>
            </a:r>
          </a:p>
        </p:txBody>
      </p:sp>
      <p:sp>
        <p:nvSpPr>
          <p:cNvPr id="11" name="TextBox 10"/>
          <p:cNvSpPr txBox="1"/>
          <p:nvPr/>
        </p:nvSpPr>
        <p:spPr>
          <a:xfrm>
            <a:off x="4242816" y="2286000"/>
            <a:ext cx="1508760" cy="256032"/>
          </a:xfrm>
          <a:prstGeom prst="rect">
            <a:avLst/>
          </a:prstGeom>
          <a:noFill/>
        </p:spPr>
        <p:txBody>
          <a:bodyPr wrap="square" lIns="0" tIns="0" rIns="0" bIns="0" anchor="t">
            <a:spAutoFit/>
          </a:bodyPr>
          <a:lstStyle/>
          <a:p>
            <a:pPr>
              <a:lnSpc>
                <a:spcPts val="1700"/>
              </a:lnSpc>
            </a:pPr>
            <a:r>
              <a:rPr sz="1200" b="0">
                <a:solidFill>
                  <a:srgbClr val="5F6368"/>
                </a:solidFill>
                <a:latin typeface="Google Sans"/>
              </a:rPr>
              <a:t>About 1 hour</a:t>
            </a:r>
          </a:p>
        </p:txBody>
      </p:sp>
      <p:sp>
        <p:nvSpPr>
          <p:cNvPr id="12" name="TextBox 11"/>
          <p:cNvSpPr txBox="1"/>
          <p:nvPr/>
        </p:nvSpPr>
        <p:spPr>
          <a:xfrm>
            <a:off x="1088136" y="2615184"/>
            <a:ext cx="4645152" cy="685800"/>
          </a:xfrm>
          <a:prstGeom prst="rect">
            <a:avLst/>
          </a:prstGeom>
          <a:noFill/>
        </p:spPr>
        <p:txBody>
          <a:bodyPr wrap="square" lIns="0" tIns="0" rIns="0" bIns="0" anchor="t">
            <a:spAutoFit/>
          </a:bodyPr>
          <a:lstStyle/>
          <a:p>
            <a:pPr>
              <a:lnSpc>
                <a:spcPts val="2250"/>
              </a:lnSpc>
            </a:pPr>
            <a:r>
              <a:rPr sz="1800" b="1">
                <a:solidFill>
                  <a:srgbClr val="202124"/>
                </a:solidFill>
                <a:latin typeface="Google Sans"/>
              </a:rPr>
              <a:t>The Basics of Google Cloud Compute</a:t>
            </a:r>
          </a:p>
        </p:txBody>
      </p:sp>
      <p:sp>
        <p:nvSpPr>
          <p:cNvPr id="13" name="Oval 12"/>
          <p:cNvSpPr/>
          <p:nvPr/>
        </p:nvSpPr>
        <p:spPr>
          <a:xfrm>
            <a:off x="1106424" y="3493008"/>
            <a:ext cx="100584" cy="100584"/>
          </a:xfrm>
          <a:prstGeom prst="ellipse">
            <a:avLst/>
          </a:prstGeom>
          <a:solidFill>
            <a:srgbClr val="4285F4"/>
          </a:solidFill>
          <a:ln>
            <a:noFill/>
          </a:ln>
        </p:spPr>
        <p:txBody>
          <a:bodyPr rtlCol="0" anchor="ctr"/>
          <a:lstStyle/>
          <a:p>
            <a:pPr algn="ctr"/>
            <a:endParaRPr/>
          </a:p>
        </p:txBody>
      </p:sp>
      <p:sp>
        <p:nvSpPr>
          <p:cNvPr id="14" name="TextBox 13"/>
          <p:cNvSpPr txBox="1"/>
          <p:nvPr/>
        </p:nvSpPr>
        <p:spPr>
          <a:xfrm>
            <a:off x="1316736" y="3429000"/>
            <a:ext cx="4434840" cy="274320"/>
          </a:xfrm>
          <a:prstGeom prst="rect">
            <a:avLst/>
          </a:prstGeom>
          <a:noFill/>
        </p:spPr>
        <p:txBody>
          <a:bodyPr wrap="square" lIns="0" tIns="0" rIns="0" bIns="0" anchor="t">
            <a:spAutoFit/>
          </a:bodyPr>
          <a:lstStyle/>
          <a:p>
            <a:pPr>
              <a:lnSpc>
                <a:spcPts val="1850"/>
              </a:lnSpc>
            </a:pPr>
            <a:r>
              <a:rPr sz="1300" b="0">
                <a:solidFill>
                  <a:srgbClr val="3C4043"/>
                </a:solidFill>
                <a:latin typeface="Google Sans"/>
              </a:rPr>
              <a:t>Create a virtual machine</a:t>
            </a:r>
          </a:p>
        </p:txBody>
      </p:sp>
      <p:sp>
        <p:nvSpPr>
          <p:cNvPr id="15" name="Oval 14"/>
          <p:cNvSpPr/>
          <p:nvPr/>
        </p:nvSpPr>
        <p:spPr>
          <a:xfrm>
            <a:off x="1106424" y="3858768"/>
            <a:ext cx="100584" cy="100584"/>
          </a:xfrm>
          <a:prstGeom prst="ellipse">
            <a:avLst/>
          </a:prstGeom>
          <a:solidFill>
            <a:srgbClr val="4285F4"/>
          </a:solidFill>
          <a:ln>
            <a:noFill/>
          </a:ln>
        </p:spPr>
        <p:txBody>
          <a:bodyPr rtlCol="0" anchor="ctr"/>
          <a:lstStyle/>
          <a:p>
            <a:pPr algn="ctr"/>
            <a:endParaRPr/>
          </a:p>
        </p:txBody>
      </p:sp>
      <p:sp>
        <p:nvSpPr>
          <p:cNvPr id="16" name="TextBox 15"/>
          <p:cNvSpPr txBox="1"/>
          <p:nvPr/>
        </p:nvSpPr>
        <p:spPr>
          <a:xfrm>
            <a:off x="1316736" y="3794760"/>
            <a:ext cx="4434840" cy="274320"/>
          </a:xfrm>
          <a:prstGeom prst="rect">
            <a:avLst/>
          </a:prstGeom>
          <a:noFill/>
        </p:spPr>
        <p:txBody>
          <a:bodyPr wrap="square" lIns="0" tIns="0" rIns="0" bIns="0" anchor="t">
            <a:spAutoFit/>
          </a:bodyPr>
          <a:lstStyle/>
          <a:p>
            <a:pPr>
              <a:lnSpc>
                <a:spcPts val="1850"/>
              </a:lnSpc>
            </a:pPr>
            <a:r>
              <a:rPr sz="1300" b="0">
                <a:solidFill>
                  <a:srgbClr val="3C4043"/>
                </a:solidFill>
                <a:latin typeface="Google Sans"/>
              </a:rPr>
              <a:t>Attach a persistent disk</a:t>
            </a:r>
          </a:p>
        </p:txBody>
      </p:sp>
      <p:sp>
        <p:nvSpPr>
          <p:cNvPr id="17" name="Oval 16"/>
          <p:cNvSpPr/>
          <p:nvPr/>
        </p:nvSpPr>
        <p:spPr>
          <a:xfrm>
            <a:off x="1106424" y="4224528"/>
            <a:ext cx="100584" cy="100584"/>
          </a:xfrm>
          <a:prstGeom prst="ellipse">
            <a:avLst/>
          </a:prstGeom>
          <a:solidFill>
            <a:srgbClr val="4285F4"/>
          </a:solidFill>
          <a:ln>
            <a:noFill/>
          </a:ln>
        </p:spPr>
        <p:txBody>
          <a:bodyPr rtlCol="0" anchor="ctr"/>
          <a:lstStyle/>
          <a:p>
            <a:pPr algn="ctr"/>
            <a:endParaRPr/>
          </a:p>
        </p:txBody>
      </p:sp>
      <p:sp>
        <p:nvSpPr>
          <p:cNvPr id="18" name="TextBox 17"/>
          <p:cNvSpPr txBox="1"/>
          <p:nvPr/>
        </p:nvSpPr>
        <p:spPr>
          <a:xfrm>
            <a:off x="1316736" y="4160520"/>
            <a:ext cx="4434840" cy="274320"/>
          </a:xfrm>
          <a:prstGeom prst="rect">
            <a:avLst/>
          </a:prstGeom>
          <a:noFill/>
        </p:spPr>
        <p:txBody>
          <a:bodyPr wrap="square" lIns="0" tIns="0" rIns="0" bIns="0" anchor="t">
            <a:spAutoFit/>
          </a:bodyPr>
          <a:lstStyle/>
          <a:p>
            <a:pPr>
              <a:lnSpc>
                <a:spcPts val="1850"/>
              </a:lnSpc>
            </a:pPr>
            <a:r>
              <a:rPr sz="1300" b="0">
                <a:solidFill>
                  <a:srgbClr val="3C4043"/>
                </a:solidFill>
                <a:latin typeface="Google Sans"/>
              </a:rPr>
              <a:t>Host a web app on Compute Engine</a:t>
            </a:r>
          </a:p>
        </p:txBody>
      </p:sp>
      <p:sp>
        <p:nvSpPr>
          <p:cNvPr id="19" name="TextBox 18"/>
          <p:cNvSpPr txBox="1"/>
          <p:nvPr/>
        </p:nvSpPr>
        <p:spPr>
          <a:xfrm>
            <a:off x="1088136" y="4617720"/>
            <a:ext cx="4645152" cy="502920"/>
          </a:xfrm>
          <a:prstGeom prst="rect">
            <a:avLst/>
          </a:prstGeom>
          <a:noFill/>
        </p:spPr>
        <p:txBody>
          <a:bodyPr wrap="square" lIns="0" tIns="0" rIns="0" bIns="0" anchor="t">
            <a:spAutoFit/>
          </a:bodyPr>
          <a:lstStyle/>
          <a:p>
            <a:pPr>
              <a:lnSpc>
                <a:spcPts val="1600"/>
              </a:lnSpc>
            </a:pPr>
            <a:r>
              <a:rPr sz="1200" b="0">
                <a:solidFill>
                  <a:srgbClr val="5F6368"/>
                </a:solidFill>
                <a:latin typeface="Google Sans"/>
              </a:rPr>
              <a:t>Ends with a challenge lab: a scenario and tasks to solve on your own.</a:t>
            </a:r>
          </a:p>
        </p:txBody>
      </p:sp>
      <p:sp>
        <p:nvSpPr>
          <p:cNvPr id="20" name="Rectangle 19"/>
          <p:cNvSpPr/>
          <p:nvPr/>
        </p:nvSpPr>
        <p:spPr>
          <a:xfrm>
            <a:off x="6190488" y="2011680"/>
            <a:ext cx="5193792" cy="3246120"/>
          </a:xfrm>
          <a:prstGeom prst="roundRect">
            <a:avLst>
              <a:gd name="adj" fmla="val 6645"/>
            </a:avLst>
          </a:prstGeom>
          <a:solidFill>
            <a:srgbClr val="E6F4EA"/>
          </a:solidFill>
          <a:ln>
            <a:noFill/>
          </a:ln>
        </p:spPr>
        <p:txBody>
          <a:bodyPr rtlCol="0" anchor="ctr"/>
          <a:lstStyle/>
          <a:p>
            <a:pPr algn="ctr"/>
            <a:endParaRPr/>
          </a:p>
        </p:txBody>
      </p:sp>
      <p:sp>
        <p:nvSpPr>
          <p:cNvPr id="21" name="Rectangle 20"/>
          <p:cNvSpPr/>
          <p:nvPr/>
        </p:nvSpPr>
        <p:spPr>
          <a:xfrm>
            <a:off x="6190488" y="2011680"/>
            <a:ext cx="5193792" cy="3246120"/>
          </a:xfrm>
          <a:custGeom>
            <a:avLst/>
            <a:gdLst/>
            <a:ahLst/>
            <a:cxnLst/>
            <a:rect l="l" t="t" r="r" b="b"/>
            <a:pathLst>
              <a:path w="5193792" h="3246120">
                <a:moveTo>
                  <a:pt x="0" y="152400"/>
                </a:moveTo>
                <a:lnTo>
                  <a:pt x="0" y="152400"/>
                </a:lnTo>
                <a:arcTo wR="152400" hR="152400" stAng="10800000" swAng="5400000"/>
                <a:lnTo>
                  <a:pt x="5041392" y="0"/>
                </a:lnTo>
                <a:arcTo wR="152400" hR="152400" stAng="16200000" swAng="5400000"/>
                <a:lnTo>
                  <a:pt x="5193792" y="152400"/>
                </a:lnTo>
                <a:arcTo wR="152400" hR="88900" stAng="0" swAng="-5400000"/>
                <a:lnTo>
                  <a:pt x="152400" y="63500"/>
                </a:lnTo>
                <a:arcTo wR="152400" hR="88900" stAng="16200000" swAng="-5400000"/>
                <a:close/>
              </a:path>
            </a:pathLst>
          </a:custGeom>
          <a:solidFill>
            <a:srgbClr val="34A853"/>
          </a:solidFill>
          <a:ln>
            <a:noFill/>
          </a:ln>
        </p:spPr>
        <p:txBody>
          <a:bodyPr rtlCol="0" anchor="ctr"/>
          <a:lstStyle/>
          <a:p>
            <a:pPr algn="ctr"/>
            <a:endParaRPr/>
          </a:p>
        </p:txBody>
      </p:sp>
      <p:sp>
        <p:nvSpPr>
          <p:cNvPr id="22" name="TextBox 21"/>
          <p:cNvSpPr txBox="1"/>
          <p:nvPr/>
        </p:nvSpPr>
        <p:spPr>
          <a:xfrm>
            <a:off x="6464807" y="2286000"/>
            <a:ext cx="3291840" cy="256032"/>
          </a:xfrm>
          <a:prstGeom prst="rect">
            <a:avLst/>
          </a:prstGeom>
          <a:noFill/>
        </p:spPr>
        <p:txBody>
          <a:bodyPr wrap="square" lIns="0" tIns="0" rIns="0" bIns="0" anchor="t">
            <a:spAutoFit/>
          </a:bodyPr>
          <a:lstStyle/>
          <a:p>
            <a:pPr>
              <a:lnSpc>
                <a:spcPts val="1850"/>
              </a:lnSpc>
            </a:pPr>
            <a:r>
              <a:rPr sz="1300" b="1">
                <a:solidFill>
                  <a:srgbClr val="137333"/>
                </a:solidFill>
                <a:latin typeface="Google Sans"/>
              </a:rPr>
              <a:t>AI · INTRODUCTORY</a:t>
            </a:r>
          </a:p>
        </p:txBody>
      </p:sp>
      <p:sp>
        <p:nvSpPr>
          <p:cNvPr id="23" name="TextBox 22"/>
          <p:cNvSpPr txBox="1"/>
          <p:nvPr/>
        </p:nvSpPr>
        <p:spPr>
          <a:xfrm>
            <a:off x="9619488" y="2286000"/>
            <a:ext cx="1508760" cy="256032"/>
          </a:xfrm>
          <a:prstGeom prst="rect">
            <a:avLst/>
          </a:prstGeom>
          <a:noFill/>
        </p:spPr>
        <p:txBody>
          <a:bodyPr wrap="square" lIns="0" tIns="0" rIns="0" bIns="0" anchor="t">
            <a:spAutoFit/>
          </a:bodyPr>
          <a:lstStyle/>
          <a:p>
            <a:pPr>
              <a:lnSpc>
                <a:spcPts val="1700"/>
              </a:lnSpc>
            </a:pPr>
            <a:r>
              <a:rPr sz="1200" b="0">
                <a:solidFill>
                  <a:srgbClr val="5F6368"/>
                </a:solidFill>
                <a:latin typeface="Google Sans"/>
              </a:rPr>
              <a:t>About 1 hour</a:t>
            </a:r>
          </a:p>
        </p:txBody>
      </p:sp>
      <p:sp>
        <p:nvSpPr>
          <p:cNvPr id="24" name="TextBox 23"/>
          <p:cNvSpPr txBox="1"/>
          <p:nvPr/>
        </p:nvSpPr>
        <p:spPr>
          <a:xfrm>
            <a:off x="6464807" y="2615184"/>
            <a:ext cx="4645152" cy="685800"/>
          </a:xfrm>
          <a:prstGeom prst="rect">
            <a:avLst/>
          </a:prstGeom>
          <a:noFill/>
        </p:spPr>
        <p:txBody>
          <a:bodyPr wrap="square" lIns="0" tIns="0" rIns="0" bIns="0" anchor="t">
            <a:spAutoFit/>
          </a:bodyPr>
          <a:lstStyle/>
          <a:p>
            <a:pPr>
              <a:lnSpc>
                <a:spcPts val="2250"/>
              </a:lnSpc>
            </a:pPr>
            <a:r>
              <a:rPr sz="1800" b="1">
                <a:solidFill>
                  <a:srgbClr val="202124"/>
                </a:solidFill>
                <a:latin typeface="Google Sans"/>
              </a:rPr>
              <a:t>Develop AI-Powered Prototypes in Google AI Studio</a:t>
            </a:r>
          </a:p>
        </p:txBody>
      </p:sp>
      <p:sp>
        <p:nvSpPr>
          <p:cNvPr id="25" name="Oval 24"/>
          <p:cNvSpPr/>
          <p:nvPr/>
        </p:nvSpPr>
        <p:spPr>
          <a:xfrm>
            <a:off x="6483096" y="3493008"/>
            <a:ext cx="100584" cy="100584"/>
          </a:xfrm>
          <a:prstGeom prst="ellipse">
            <a:avLst/>
          </a:prstGeom>
          <a:solidFill>
            <a:srgbClr val="34A853"/>
          </a:solidFill>
          <a:ln>
            <a:noFill/>
          </a:ln>
        </p:spPr>
        <p:txBody>
          <a:bodyPr rtlCol="0" anchor="ctr"/>
          <a:lstStyle/>
          <a:p>
            <a:pPr algn="ctr"/>
            <a:endParaRPr/>
          </a:p>
        </p:txBody>
      </p:sp>
      <p:sp>
        <p:nvSpPr>
          <p:cNvPr id="26" name="TextBox 25"/>
          <p:cNvSpPr txBox="1"/>
          <p:nvPr/>
        </p:nvSpPr>
        <p:spPr>
          <a:xfrm>
            <a:off x="6693407" y="3429000"/>
            <a:ext cx="4434840" cy="274320"/>
          </a:xfrm>
          <a:prstGeom prst="rect">
            <a:avLst/>
          </a:prstGeom>
          <a:noFill/>
        </p:spPr>
        <p:txBody>
          <a:bodyPr wrap="square" lIns="0" tIns="0" rIns="0" bIns="0" anchor="t">
            <a:spAutoFit/>
          </a:bodyPr>
          <a:lstStyle/>
          <a:p>
            <a:pPr>
              <a:lnSpc>
                <a:spcPts val="1850"/>
              </a:lnSpc>
            </a:pPr>
            <a:r>
              <a:rPr sz="1300" b="0">
                <a:solidFill>
                  <a:srgbClr val="3C4043"/>
                </a:solidFill>
                <a:latin typeface="Google Sans"/>
              </a:rPr>
              <a:t>Write prompts and tune model settings</a:t>
            </a:r>
          </a:p>
        </p:txBody>
      </p:sp>
      <p:sp>
        <p:nvSpPr>
          <p:cNvPr id="27" name="Oval 26"/>
          <p:cNvSpPr/>
          <p:nvPr/>
        </p:nvSpPr>
        <p:spPr>
          <a:xfrm>
            <a:off x="6483096" y="3858768"/>
            <a:ext cx="100584" cy="100584"/>
          </a:xfrm>
          <a:prstGeom prst="ellipse">
            <a:avLst/>
          </a:prstGeom>
          <a:solidFill>
            <a:srgbClr val="34A853"/>
          </a:solidFill>
          <a:ln>
            <a:noFill/>
          </a:ln>
        </p:spPr>
        <p:txBody>
          <a:bodyPr rtlCol="0" anchor="ctr"/>
          <a:lstStyle/>
          <a:p>
            <a:pPr algn="ctr"/>
            <a:endParaRPr/>
          </a:p>
        </p:txBody>
      </p:sp>
      <p:sp>
        <p:nvSpPr>
          <p:cNvPr id="28" name="TextBox 27"/>
          <p:cNvSpPr txBox="1"/>
          <p:nvPr/>
        </p:nvSpPr>
        <p:spPr>
          <a:xfrm>
            <a:off x="6693407" y="3794760"/>
            <a:ext cx="4434840" cy="274320"/>
          </a:xfrm>
          <a:prstGeom prst="rect">
            <a:avLst/>
          </a:prstGeom>
          <a:noFill/>
        </p:spPr>
        <p:txBody>
          <a:bodyPr wrap="square" lIns="0" tIns="0" rIns="0" bIns="0" anchor="t">
            <a:spAutoFit/>
          </a:bodyPr>
          <a:lstStyle/>
          <a:p>
            <a:pPr>
              <a:lnSpc>
                <a:spcPts val="1850"/>
              </a:lnSpc>
            </a:pPr>
            <a:r>
              <a:rPr sz="1300" b="0">
                <a:solidFill>
                  <a:srgbClr val="3C4043"/>
                </a:solidFill>
                <a:latin typeface="Google Sans"/>
              </a:rPr>
              <a:t>Analyze images and video with Gemini</a:t>
            </a:r>
          </a:p>
        </p:txBody>
      </p:sp>
      <p:sp>
        <p:nvSpPr>
          <p:cNvPr id="29" name="Oval 28"/>
          <p:cNvSpPr/>
          <p:nvPr/>
        </p:nvSpPr>
        <p:spPr>
          <a:xfrm>
            <a:off x="6483096" y="4224528"/>
            <a:ext cx="100584" cy="100584"/>
          </a:xfrm>
          <a:prstGeom prst="ellipse">
            <a:avLst/>
          </a:prstGeom>
          <a:solidFill>
            <a:srgbClr val="34A853"/>
          </a:solidFill>
          <a:ln>
            <a:noFill/>
          </a:ln>
        </p:spPr>
        <p:txBody>
          <a:bodyPr rtlCol="0" anchor="ctr"/>
          <a:lstStyle/>
          <a:p>
            <a:pPr algn="ctr"/>
            <a:endParaRPr/>
          </a:p>
        </p:txBody>
      </p:sp>
      <p:sp>
        <p:nvSpPr>
          <p:cNvPr id="30" name="TextBox 29"/>
          <p:cNvSpPr txBox="1"/>
          <p:nvPr/>
        </p:nvSpPr>
        <p:spPr>
          <a:xfrm>
            <a:off x="6693407" y="4160520"/>
            <a:ext cx="4434840" cy="274320"/>
          </a:xfrm>
          <a:prstGeom prst="rect">
            <a:avLst/>
          </a:prstGeom>
          <a:noFill/>
        </p:spPr>
        <p:txBody>
          <a:bodyPr wrap="square" lIns="0" tIns="0" rIns="0" bIns="0" anchor="t">
            <a:spAutoFit/>
          </a:bodyPr>
          <a:lstStyle/>
          <a:p>
            <a:pPr>
              <a:lnSpc>
                <a:spcPts val="1850"/>
              </a:lnSpc>
            </a:pPr>
            <a:r>
              <a:rPr sz="1300" b="0">
                <a:solidFill>
                  <a:srgbClr val="3C4043"/>
                </a:solidFill>
                <a:latin typeface="Google Sans"/>
              </a:rPr>
              <a:t>Build an app prototype, call it via API key</a:t>
            </a:r>
          </a:p>
        </p:txBody>
      </p:sp>
      <p:sp>
        <p:nvSpPr>
          <p:cNvPr id="31" name="TextBox 30"/>
          <p:cNvSpPr txBox="1"/>
          <p:nvPr/>
        </p:nvSpPr>
        <p:spPr>
          <a:xfrm>
            <a:off x="6464807" y="4617720"/>
            <a:ext cx="4645152" cy="502920"/>
          </a:xfrm>
          <a:prstGeom prst="rect">
            <a:avLst/>
          </a:prstGeom>
          <a:noFill/>
        </p:spPr>
        <p:txBody>
          <a:bodyPr wrap="square" lIns="0" tIns="0" rIns="0" bIns="0" anchor="t">
            <a:spAutoFit/>
          </a:bodyPr>
          <a:lstStyle/>
          <a:p>
            <a:pPr>
              <a:lnSpc>
                <a:spcPts val="1600"/>
              </a:lnSpc>
            </a:pPr>
            <a:r>
              <a:rPr sz="1200" b="0">
                <a:solidFill>
                  <a:srgbClr val="5F6368"/>
                </a:solidFill>
                <a:latin typeface="Google Sans"/>
              </a:rPr>
              <a:t>Ends with a challenge lab to earn the badge.</a:t>
            </a:r>
          </a:p>
        </p:txBody>
      </p:sp>
      <p:sp>
        <p:nvSpPr>
          <p:cNvPr id="32" name="Rectangle 31"/>
          <p:cNvSpPr/>
          <p:nvPr/>
        </p:nvSpPr>
        <p:spPr>
          <a:xfrm>
            <a:off x="813816" y="5486400"/>
            <a:ext cx="10570464" cy="685800"/>
          </a:xfrm>
          <a:prstGeom prst="roundRect">
            <a:avLst>
              <a:gd name="adj" fmla="val 17000"/>
            </a:avLst>
          </a:prstGeom>
          <a:solidFill>
            <a:srgbClr val="F8F9FA"/>
          </a:solidFill>
          <a:ln>
            <a:noFill/>
          </a:ln>
        </p:spPr>
        <p:txBody>
          <a:bodyPr rtlCol="0" anchor="ctr"/>
          <a:lstStyle/>
          <a:p>
            <a:pPr algn="ctr"/>
            <a:endParaRPr/>
          </a:p>
        </p:txBody>
      </p:sp>
      <p:sp>
        <p:nvSpPr>
          <p:cNvPr id="33" name="TextBox 32"/>
          <p:cNvSpPr txBox="1"/>
          <p:nvPr/>
        </p:nvSpPr>
        <p:spPr>
          <a:xfrm>
            <a:off x="1097280" y="5486400"/>
            <a:ext cx="10058400" cy="685800"/>
          </a:xfrm>
          <a:prstGeom prst="rect">
            <a:avLst/>
          </a:prstGeom>
          <a:noFill/>
        </p:spPr>
        <p:txBody>
          <a:bodyPr wrap="square" lIns="0" tIns="0" rIns="0" bIns="0" anchor="ctr">
            <a:spAutoFit/>
          </a:bodyPr>
          <a:lstStyle/>
          <a:p>
            <a:pPr>
              <a:lnSpc>
                <a:spcPts val="1600"/>
              </a:lnSpc>
            </a:pPr>
            <a:r>
              <a:rPr sz="1200" b="1">
                <a:solidFill>
                  <a:srgbClr val="202124"/>
                </a:solidFill>
                <a:latin typeface="Google Sans"/>
              </a:rPr>
              <a:t>How labs run: </a:t>
            </a:r>
            <a:r>
              <a:rPr sz="1200" b="0">
                <a:solidFill>
                  <a:srgbClr val="3C4043"/>
                </a:solidFill>
                <a:latin typeface="Google Sans"/>
              </a:rPr>
              <a:t>you get temporary credentials to real Google Cloud resources. Labs are timed and can't be paused, so set aside the time before you start.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0">
    <p:bg>
      <p:bgPr>
        <a:solidFill>
          <a:srgbClr val="1A73E8"/>
        </a:solidFill>
        <a:effectLst/>
      </p:bgPr>
    </p:bg>
    <p:spTree>
      <p:nvGrpSpPr>
        <p:cNvPr id="1" name=""/>
        <p:cNvGrpSpPr/>
        <p:nvPr/>
      </p:nvGrpSpPr>
      <p:grpSpPr>
        <a:xfrm>
          <a:off x="0" y="0"/>
          <a:ext cx="0" cy="0"/>
          <a:chOff x="0" y="0"/>
          <a:chExt cx="0" cy="0"/>
        </a:xfrm>
      </p:grpSpPr>
      <p:pic>
        <p:nvPicPr>
          <p:cNvPr id="2" name="Image 0" descr="ellipse"/>
          <p:cNvPicPr>
            <a:picLocks noChangeAspect="1"/>
          </p:cNvPicPr>
          <p:nvPr/>
        </p:nvPicPr>
        <p:blipFill>
          <a:blip r:embed="rId3"/>
          <a:srcRect/>
          <a:stretch/>
        </p:blipFill>
        <p:spPr>
          <a:xfrm>
            <a:off x="10413999" y="0"/>
            <a:ext cx="2286000" cy="2286000"/>
          </a:xfrm>
          <a:prstGeom prst="rect">
            <a:avLst/>
          </a:prstGeom>
        </p:spPr>
      </p:pic>
      <p:pic>
        <p:nvPicPr>
          <p:cNvPr id="3" name="Image 1" descr="ellipse"/>
          <p:cNvPicPr>
            <a:picLocks noChangeAspect="1"/>
          </p:cNvPicPr>
          <p:nvPr/>
        </p:nvPicPr>
        <p:blipFill>
          <a:blip r:embed="rId4"/>
          <a:srcRect/>
          <a:stretch/>
        </p:blipFill>
        <p:spPr>
          <a:xfrm>
            <a:off x="11302999" y="1905000"/>
            <a:ext cx="1270000" cy="1270000"/>
          </a:xfrm>
          <a:prstGeom prst="rect">
            <a:avLst/>
          </a:prstGeom>
        </p:spPr>
      </p:pic>
      <p:pic>
        <p:nvPicPr>
          <p:cNvPr id="4" name="Image 2" descr="ellipse"/>
          <p:cNvPicPr>
            <a:picLocks noChangeAspect="1"/>
          </p:cNvPicPr>
          <p:nvPr/>
        </p:nvPicPr>
        <p:blipFill>
          <a:blip r:embed="rId5"/>
          <a:srcRect/>
          <a:stretch/>
        </p:blipFill>
        <p:spPr>
          <a:xfrm>
            <a:off x="10794999" y="5334000"/>
            <a:ext cx="2032000" cy="2032000"/>
          </a:xfrm>
          <a:prstGeom prst="rect">
            <a:avLst/>
          </a:prstGeom>
        </p:spPr>
      </p:pic>
      <p:sp>
        <p:nvSpPr>
          <p:cNvPr id="5" name="Text 0"/>
          <p:cNvSpPr/>
          <p:nvPr/>
        </p:nvSpPr>
        <p:spPr>
          <a:xfrm>
            <a:off x="812788" y="711150"/>
            <a:ext cx="10883417" cy="292050"/>
          </a:xfrm>
          <a:prstGeom prst="rect">
            <a:avLst/>
          </a:prstGeom>
          <a:noFill/>
          <a:ln/>
        </p:spPr>
        <p:txBody>
          <a:bodyPr wrap="square" lIns="0" tIns="0" rIns="0" bIns="0" rtlCol="0" anchor="t"/>
          <a:lstStyle/>
          <a:p>
            <a:pPr marL="0" indent="0" algn="l">
              <a:lnSpc>
                <a:spcPts val="2100"/>
              </a:lnSpc>
              <a:buNone/>
            </a:pPr>
            <a:r>
              <a:rPr lang="en-US" sz="1500" b="1" dirty="0">
                <a:solidFill>
                  <a:srgbClr val="FEF7E0"/>
                </a:solidFill>
                <a:latin typeface="Google Sans" pitchFamily="34" charset="0"/>
                <a:ea typeface="Google Sans" pitchFamily="34" charset="-122"/>
                <a:cs typeface="Google Sans" pitchFamily="34" charset="-120"/>
              </a:rPr>
              <a:t>Deadline: 31 October 2026, or until seats fill</a:t>
            </a:r>
            <a:endParaRPr lang="en-US" sz="1500" dirty="0"/>
          </a:p>
        </p:txBody>
      </p:sp>
      <p:sp>
        <p:nvSpPr>
          <p:cNvPr id="6" name="Text 1"/>
          <p:cNvSpPr>
            <a:spLocks noGrp="1"/>
          </p:cNvSpPr>
          <p:nvPr>
            <p:ph type="title"/>
          </p:nvPr>
        </p:nvSpPr>
        <p:spPr>
          <a:xfrm>
            <a:off x="812788" y="1206376"/>
            <a:ext cx="9509760" cy="612093"/>
          </a:xfrm>
          <a:prstGeom prst="rect">
            <a:avLst/>
          </a:prstGeom>
          <a:noFill/>
          <a:ln/>
        </p:spPr>
        <p:txBody>
          <a:bodyPr wrap="square" lIns="0" tIns="0" rIns="0" bIns="0" rtlCol="0" anchor="t"/>
          <a:lstStyle/>
          <a:p>
            <a:pPr marL="0" indent="0" algn="l">
              <a:lnSpc>
                <a:spcPts val="4620"/>
              </a:lnSpc>
              <a:buNone/>
            </a:pPr>
            <a:r>
              <a:rPr lang="en-US" sz="3800" b="1" i="0" dirty="0">
                <a:solidFill>
                  <a:srgbClr val="FFFFFF"/>
                </a:solidFill>
                <a:latin typeface="Google Sans" pitchFamily="34" charset="0"/>
                <a:ea typeface="Google Sans" pitchFamily="34" charset="-122"/>
                <a:cs typeface="Google Sans" pitchFamily="34" charset="-120"/>
              </a:rPr>
              <a:t>Register early. Start learning.</a:t>
            </a:r>
            <a:endParaRPr lang="en-US" sz="4400" dirty="0"/>
          </a:p>
        </p:txBody>
      </p:sp>
      <p:sp>
        <p:nvSpPr>
          <p:cNvPr id="7" name="Shape 2"/>
          <p:cNvSpPr/>
          <p:nvPr/>
        </p:nvSpPr>
        <p:spPr>
          <a:xfrm>
            <a:off x="812788" y="2021644"/>
            <a:ext cx="4559287" cy="1112490"/>
          </a:xfrm>
          <a:prstGeom prst="roundRect">
            <a:avLst>
              <a:gd name="adj" fmla="val 11416"/>
            </a:avLst>
          </a:prstGeom>
          <a:solidFill>
            <a:srgbClr val="FFFFFF"/>
          </a:solidFill>
          <a:ln/>
        </p:spPr>
        <p:txBody>
          <a:bodyPr/>
          <a:lstStyle/>
          <a:p>
            <a:endParaRPr/>
          </a:p>
        </p:txBody>
      </p:sp>
      <p:sp>
        <p:nvSpPr>
          <p:cNvPr id="8" name="Text 3"/>
          <p:cNvSpPr/>
          <p:nvPr/>
        </p:nvSpPr>
        <p:spPr>
          <a:xfrm>
            <a:off x="1015938" y="2199432"/>
            <a:ext cx="4277576" cy="253975"/>
          </a:xfrm>
          <a:prstGeom prst="rect">
            <a:avLst/>
          </a:prstGeom>
          <a:noFill/>
          <a:ln/>
        </p:spPr>
        <p:txBody>
          <a:bodyPr wrap="square" lIns="0" tIns="0" rIns="0" bIns="0" rtlCol="0" anchor="t"/>
          <a:lstStyle/>
          <a:p>
            <a:pPr marL="0" indent="0" algn="l">
              <a:lnSpc>
                <a:spcPts val="1800"/>
              </a:lnSpc>
              <a:buNone/>
            </a:pPr>
            <a:r>
              <a:rPr lang="en-US" sz="1500" b="1" dirty="0">
                <a:solidFill>
                  <a:srgbClr val="202124"/>
                </a:solidFill>
                <a:latin typeface="Google Sans" pitchFamily="34" charset="0"/>
                <a:ea typeface="Google Sans" pitchFamily="34" charset="-122"/>
                <a:cs typeface="Google Sans" pitchFamily="34" charset="-120"/>
              </a:rPr>
              <a:t>Registration form</a:t>
            </a:r>
            <a:endParaRPr lang="en-US" sz="1500" dirty="0"/>
          </a:p>
        </p:txBody>
      </p:sp>
      <p:sp>
        <p:nvSpPr>
          <p:cNvPr id="9" name="Text 4"/>
          <p:cNvSpPr/>
          <p:nvPr/>
        </p:nvSpPr>
        <p:spPr>
          <a:xfrm>
            <a:off x="1015938" y="2478794"/>
            <a:ext cx="4277576" cy="238782"/>
          </a:xfrm>
          <a:prstGeom prst="rect">
            <a:avLst/>
          </a:prstGeom>
          <a:noFill/>
          <a:ln/>
        </p:spPr>
        <p:txBody>
          <a:bodyPr wrap="square" lIns="0" tIns="0" rIns="0" bIns="0" rtlCol="0" anchor="t"/>
          <a:lstStyle/>
          <a:p>
            <a:pPr marL="0" indent="0" algn="l">
              <a:lnSpc>
                <a:spcPts val="1680"/>
              </a:lnSpc>
              <a:buNone/>
            </a:pPr>
            <a:r>
              <a:rPr lang="en-US" sz="1200" dirty="0">
                <a:solidFill>
                  <a:srgbClr val="5F6368"/>
                </a:solidFill>
                <a:latin typeface="Google Sans" pitchFamily="34" charset="0"/>
                <a:ea typeface="Google Sans" pitchFamily="34" charset="-122"/>
                <a:cs typeface="Google Sans" pitchFamily="34" charset="-120"/>
              </a:rPr>
              <a:t>Sign up with your profile URL and referral code.</a:t>
            </a:r>
            <a:endParaRPr lang="en-US" sz="1200" dirty="0"/>
          </a:p>
        </p:txBody>
      </p:sp>
      <p:sp>
        <p:nvSpPr>
          <p:cNvPr id="10" name="Text 5"/>
          <p:cNvSpPr/>
          <p:nvPr/>
        </p:nvSpPr>
        <p:spPr>
          <a:xfrm>
            <a:off x="1015938" y="2742964"/>
            <a:ext cx="4277576" cy="238782"/>
          </a:xfrm>
          <a:prstGeom prst="rect">
            <a:avLst/>
          </a:prstGeom>
          <a:noFill/>
          <a:ln/>
        </p:spPr>
        <p:txBody>
          <a:bodyPr wrap="square" lIns="0" tIns="0" rIns="0" bIns="0" rtlCol="0" anchor="t"/>
          <a:lstStyle/>
          <a:p>
            <a:pPr marL="0" indent="0" algn="l">
              <a:lnSpc>
                <a:spcPts val="1680"/>
              </a:lnSpc>
              <a:buNone/>
            </a:pPr>
            <a:r>
              <a:rPr lang="en-US" sz="1200" u="sng" dirty="0">
                <a:solidFill>
                  <a:srgbClr val="1A73E8"/>
                </a:solidFill>
                <a:latin typeface="Google Sans" pitchFamily="34" charset="0"/>
                <a:ea typeface="Google Sans" pitchFamily="34" charset="-122"/>
                <a:cs typeface="Google Sans" pitchFamily="34" charset="-120"/>
                <a:hlinkClick r:id="rId6">
                  <a:extLst>
                    <a:ext uri="{A12FA001-AC4F-418D-AE19-62706E023703}">
                      <ahyp:hlinkClr xmlns:ahyp="http://schemas.microsoft.com/office/drawing/2018/hyperlinkcolor" val="tx"/>
                    </a:ext>
                  </a:extLst>
                </a:hlinkClick>
              </a:rPr>
              <a:t>forms.gle/VDXwE13LoaNhA2VeA</a:t>
            </a:r>
            <a:endParaRPr lang="en-US" sz="1200" dirty="0"/>
          </a:p>
        </p:txBody>
      </p:sp>
      <p:sp>
        <p:nvSpPr>
          <p:cNvPr id="11" name="Shape 6"/>
          <p:cNvSpPr/>
          <p:nvPr/>
        </p:nvSpPr>
        <p:spPr>
          <a:xfrm>
            <a:off x="5524438" y="2021644"/>
            <a:ext cx="4559349" cy="1112490"/>
          </a:xfrm>
          <a:prstGeom prst="roundRect">
            <a:avLst>
              <a:gd name="adj" fmla="val 11416"/>
            </a:avLst>
          </a:prstGeom>
          <a:solidFill>
            <a:srgbClr val="FFFFFF"/>
          </a:solidFill>
          <a:ln/>
        </p:spPr>
        <p:txBody>
          <a:bodyPr/>
          <a:lstStyle/>
          <a:p>
            <a:endParaRPr/>
          </a:p>
        </p:txBody>
      </p:sp>
      <p:sp>
        <p:nvSpPr>
          <p:cNvPr id="12" name="Text 7"/>
          <p:cNvSpPr/>
          <p:nvPr/>
        </p:nvSpPr>
        <p:spPr>
          <a:xfrm>
            <a:off x="5727588" y="2199432"/>
            <a:ext cx="4277640" cy="253975"/>
          </a:xfrm>
          <a:prstGeom prst="rect">
            <a:avLst/>
          </a:prstGeom>
          <a:noFill/>
          <a:ln/>
        </p:spPr>
        <p:txBody>
          <a:bodyPr wrap="square" lIns="0" tIns="0" rIns="0" bIns="0" rtlCol="0" anchor="t"/>
          <a:lstStyle/>
          <a:p>
            <a:pPr marL="0" indent="0" algn="l">
              <a:lnSpc>
                <a:spcPts val="1800"/>
              </a:lnSpc>
              <a:buNone/>
            </a:pPr>
            <a:r>
              <a:rPr lang="en-US" sz="1500" b="1" dirty="0">
                <a:solidFill>
                  <a:srgbClr val="202124"/>
                </a:solidFill>
                <a:latin typeface="Google Sans" pitchFamily="34" charset="0"/>
                <a:ea typeface="Google Sans" pitchFamily="34" charset="-122"/>
                <a:cs typeface="Google Sans" pitchFamily="34" charset="-120"/>
              </a:rPr>
              <a:t>Google Skills</a:t>
            </a:r>
            <a:endParaRPr lang="en-US" sz="1500" dirty="0"/>
          </a:p>
        </p:txBody>
      </p:sp>
      <p:sp>
        <p:nvSpPr>
          <p:cNvPr id="13" name="Text 8"/>
          <p:cNvSpPr/>
          <p:nvPr/>
        </p:nvSpPr>
        <p:spPr>
          <a:xfrm>
            <a:off x="5727588" y="2478794"/>
            <a:ext cx="4277640" cy="238782"/>
          </a:xfrm>
          <a:prstGeom prst="rect">
            <a:avLst/>
          </a:prstGeom>
          <a:noFill/>
          <a:ln/>
        </p:spPr>
        <p:txBody>
          <a:bodyPr wrap="square" lIns="0" tIns="0" rIns="0" bIns="0" rtlCol="0" anchor="t"/>
          <a:lstStyle/>
          <a:p>
            <a:pPr marL="0" indent="0" algn="l">
              <a:lnSpc>
                <a:spcPts val="1680"/>
              </a:lnSpc>
              <a:buNone/>
            </a:pPr>
            <a:r>
              <a:rPr lang="en-US" sz="1200" dirty="0">
                <a:solidFill>
                  <a:srgbClr val="5F6368"/>
                </a:solidFill>
                <a:latin typeface="Google Sans" pitchFamily="34" charset="0"/>
                <a:ea typeface="Google Sans" pitchFamily="34" charset="-122"/>
                <a:cs typeface="Google Sans" pitchFamily="34" charset="-120"/>
              </a:rPr>
              <a:t>Create your account and do the labs and badges here.</a:t>
            </a:r>
            <a:endParaRPr lang="en-US" sz="1200" dirty="0"/>
          </a:p>
        </p:txBody>
      </p:sp>
      <p:sp>
        <p:nvSpPr>
          <p:cNvPr id="14" name="Text 9"/>
          <p:cNvSpPr/>
          <p:nvPr/>
        </p:nvSpPr>
        <p:spPr>
          <a:xfrm>
            <a:off x="5727588" y="2742964"/>
            <a:ext cx="4277640" cy="238782"/>
          </a:xfrm>
          <a:prstGeom prst="rect">
            <a:avLst/>
          </a:prstGeom>
          <a:noFill/>
          <a:ln/>
        </p:spPr>
        <p:txBody>
          <a:bodyPr wrap="square" lIns="0" tIns="0" rIns="0" bIns="0" rtlCol="0" anchor="t"/>
          <a:lstStyle/>
          <a:p>
            <a:pPr marL="0" indent="0" algn="l">
              <a:lnSpc>
                <a:spcPts val="1680"/>
              </a:lnSpc>
              <a:buNone/>
            </a:pPr>
            <a:r>
              <a:rPr lang="en-US" sz="1200" u="sng" dirty="0">
                <a:solidFill>
                  <a:srgbClr val="1A73E8"/>
                </a:solidFill>
                <a:latin typeface="Google Sans" pitchFamily="34" charset="0"/>
                <a:ea typeface="Google Sans" pitchFamily="34" charset="-122"/>
                <a:cs typeface="Google Sans" pitchFamily="34" charset="-120"/>
                <a:hlinkClick r:id="rId7">
                  <a:extLst>
                    <a:ext uri="{A12FA001-AC4F-418D-AE19-62706E023703}">
                      <ahyp:hlinkClr xmlns:ahyp="http://schemas.microsoft.com/office/drawing/2018/hyperlinkcolor" val="tx"/>
                    </a:ext>
                  </a:extLst>
                </a:hlinkClick>
              </a:rPr>
              <a:t>skills.google</a:t>
            </a:r>
            <a:endParaRPr lang="en-US" sz="1200" dirty="0"/>
          </a:p>
        </p:txBody>
      </p:sp>
      <p:sp>
        <p:nvSpPr>
          <p:cNvPr id="15" name="Shape 10"/>
          <p:cNvSpPr/>
          <p:nvPr/>
        </p:nvSpPr>
        <p:spPr>
          <a:xfrm>
            <a:off x="812788" y="3286497"/>
            <a:ext cx="4559287" cy="1112490"/>
          </a:xfrm>
          <a:prstGeom prst="roundRect">
            <a:avLst>
              <a:gd name="adj" fmla="val 11416"/>
            </a:avLst>
          </a:prstGeom>
          <a:solidFill>
            <a:srgbClr val="FFFFFF"/>
          </a:solidFill>
          <a:ln/>
        </p:spPr>
        <p:txBody>
          <a:bodyPr/>
          <a:lstStyle/>
          <a:p>
            <a:endParaRPr/>
          </a:p>
        </p:txBody>
      </p:sp>
      <p:sp>
        <p:nvSpPr>
          <p:cNvPr id="16" name="Text 11"/>
          <p:cNvSpPr/>
          <p:nvPr/>
        </p:nvSpPr>
        <p:spPr>
          <a:xfrm>
            <a:off x="1015938" y="3464285"/>
            <a:ext cx="4277576" cy="253975"/>
          </a:xfrm>
          <a:prstGeom prst="rect">
            <a:avLst/>
          </a:prstGeom>
          <a:noFill/>
          <a:ln/>
        </p:spPr>
        <p:txBody>
          <a:bodyPr wrap="square" lIns="0" tIns="0" rIns="0" bIns="0" rtlCol="0" anchor="t"/>
          <a:lstStyle/>
          <a:p>
            <a:pPr marL="0" indent="0" algn="l">
              <a:lnSpc>
                <a:spcPts val="1800"/>
              </a:lnSpc>
              <a:buNone/>
            </a:pPr>
            <a:r>
              <a:rPr lang="en-US" sz="1500" b="1" dirty="0">
                <a:solidFill>
                  <a:srgbClr val="202124"/>
                </a:solidFill>
                <a:latin typeface="Google Sans" pitchFamily="34" charset="0"/>
                <a:ea typeface="Google Sans" pitchFamily="34" charset="-122"/>
                <a:cs typeface="Google Sans" pitchFamily="34" charset="-120"/>
              </a:rPr>
              <a:t>Public profile how-to</a:t>
            </a:r>
            <a:endParaRPr lang="en-US" sz="1500" dirty="0"/>
          </a:p>
        </p:txBody>
      </p:sp>
      <p:sp>
        <p:nvSpPr>
          <p:cNvPr id="17" name="Text 12"/>
          <p:cNvSpPr/>
          <p:nvPr/>
        </p:nvSpPr>
        <p:spPr>
          <a:xfrm>
            <a:off x="1015938" y="3743647"/>
            <a:ext cx="4277576" cy="238782"/>
          </a:xfrm>
          <a:prstGeom prst="rect">
            <a:avLst/>
          </a:prstGeom>
          <a:noFill/>
          <a:ln/>
        </p:spPr>
        <p:txBody>
          <a:bodyPr wrap="square" lIns="0" tIns="0" rIns="0" bIns="0" rtlCol="0" anchor="t"/>
          <a:lstStyle/>
          <a:p>
            <a:pPr marL="0" indent="0" algn="l">
              <a:lnSpc>
                <a:spcPts val="1680"/>
              </a:lnSpc>
              <a:buNone/>
            </a:pPr>
            <a:r>
              <a:rPr lang="en-US" sz="1200" dirty="0">
                <a:solidFill>
                  <a:srgbClr val="5F6368"/>
                </a:solidFill>
                <a:latin typeface="Google Sans" pitchFamily="34" charset="0"/>
                <a:ea typeface="Google Sans" pitchFamily="34" charset="-122"/>
                <a:cs typeface="Google Sans" pitchFamily="34" charset="-120"/>
              </a:rPr>
              <a:t>Video on making your profile public and finding its URL.</a:t>
            </a:r>
            <a:endParaRPr lang="en-US" sz="1200" dirty="0"/>
          </a:p>
        </p:txBody>
      </p:sp>
      <p:sp>
        <p:nvSpPr>
          <p:cNvPr id="18" name="Text 13"/>
          <p:cNvSpPr/>
          <p:nvPr/>
        </p:nvSpPr>
        <p:spPr>
          <a:xfrm>
            <a:off x="1015938" y="4007817"/>
            <a:ext cx="4277576" cy="238782"/>
          </a:xfrm>
          <a:prstGeom prst="rect">
            <a:avLst/>
          </a:prstGeom>
          <a:noFill/>
          <a:ln/>
        </p:spPr>
        <p:txBody>
          <a:bodyPr wrap="square" lIns="0" tIns="0" rIns="0" bIns="0" rtlCol="0" anchor="t"/>
          <a:lstStyle/>
          <a:p>
            <a:pPr marL="0" indent="0" algn="l">
              <a:lnSpc>
                <a:spcPts val="1680"/>
              </a:lnSpc>
              <a:buNone/>
            </a:pPr>
            <a:r>
              <a:rPr lang="en-US" sz="1200" u="sng" dirty="0">
                <a:solidFill>
                  <a:srgbClr val="1A73E8"/>
                </a:solidFill>
                <a:latin typeface="Google Sans" pitchFamily="34" charset="0"/>
                <a:ea typeface="Google Sans" pitchFamily="34" charset="-122"/>
                <a:cs typeface="Google Sans" pitchFamily="34" charset="-120"/>
                <a:hlinkClick r:id="rId8">
                  <a:extLst>
                    <a:ext uri="{A12FA001-AC4F-418D-AE19-62706E023703}">
                      <ahyp:hlinkClr xmlns:ahyp="http://schemas.microsoft.com/office/drawing/2018/hyperlinkcolor" val="tx"/>
                    </a:ext>
                  </a:extLst>
                </a:hlinkClick>
              </a:rPr>
              <a:t>Watch on YouTube</a:t>
            </a:r>
            <a:endParaRPr lang="en-US" sz="1200" dirty="0"/>
          </a:p>
        </p:txBody>
      </p:sp>
      <p:sp>
        <p:nvSpPr>
          <p:cNvPr id="19" name="Shape 14"/>
          <p:cNvSpPr/>
          <p:nvPr/>
        </p:nvSpPr>
        <p:spPr>
          <a:xfrm>
            <a:off x="5524438" y="3286497"/>
            <a:ext cx="4559349" cy="1112490"/>
          </a:xfrm>
          <a:prstGeom prst="roundRect">
            <a:avLst>
              <a:gd name="adj" fmla="val 11416"/>
            </a:avLst>
          </a:prstGeom>
          <a:solidFill>
            <a:srgbClr val="FFFFFF"/>
          </a:solidFill>
          <a:ln/>
        </p:spPr>
        <p:txBody>
          <a:bodyPr/>
          <a:lstStyle/>
          <a:p>
            <a:endParaRPr/>
          </a:p>
        </p:txBody>
      </p:sp>
      <p:sp>
        <p:nvSpPr>
          <p:cNvPr id="20" name="Text 15"/>
          <p:cNvSpPr/>
          <p:nvPr/>
        </p:nvSpPr>
        <p:spPr>
          <a:xfrm>
            <a:off x="5727588" y="3464285"/>
            <a:ext cx="4277640" cy="253975"/>
          </a:xfrm>
          <a:prstGeom prst="rect">
            <a:avLst/>
          </a:prstGeom>
          <a:noFill/>
          <a:ln/>
        </p:spPr>
        <p:txBody>
          <a:bodyPr wrap="square" lIns="0" tIns="0" rIns="0" bIns="0" rtlCol="0" anchor="t"/>
          <a:lstStyle/>
          <a:p>
            <a:pPr marL="0" indent="0" algn="l">
              <a:lnSpc>
                <a:spcPts val="1800"/>
              </a:lnSpc>
              <a:buNone/>
            </a:pPr>
            <a:r>
              <a:rPr lang="en-US" sz="1500" b="1" dirty="0">
                <a:solidFill>
                  <a:srgbClr val="202124"/>
                </a:solidFill>
                <a:latin typeface="Google Sans" pitchFamily="34" charset="0"/>
                <a:ea typeface="Google Sans" pitchFamily="34" charset="-122"/>
                <a:cs typeface="Google Sans" pitchFamily="34" charset="-120"/>
              </a:rPr>
              <a:t>Referral code</a:t>
            </a:r>
            <a:endParaRPr lang="en-US" sz="1500" dirty="0"/>
          </a:p>
        </p:txBody>
      </p:sp>
      <p:sp>
        <p:nvSpPr>
          <p:cNvPr id="21" name="Text 16"/>
          <p:cNvSpPr/>
          <p:nvPr/>
        </p:nvSpPr>
        <p:spPr>
          <a:xfrm>
            <a:off x="5727588" y="3743647"/>
            <a:ext cx="4277640" cy="238782"/>
          </a:xfrm>
          <a:prstGeom prst="rect">
            <a:avLst/>
          </a:prstGeom>
          <a:noFill/>
          <a:ln/>
        </p:spPr>
        <p:txBody>
          <a:bodyPr wrap="square" lIns="0" tIns="0" rIns="0" bIns="0" rtlCol="0" anchor="t"/>
          <a:lstStyle/>
          <a:p>
            <a:pPr marL="0" indent="0" algn="l">
              <a:lnSpc>
                <a:spcPts val="1680"/>
              </a:lnSpc>
              <a:buNone/>
            </a:pPr>
            <a:r>
              <a:rPr lang="en-US" sz="1200" dirty="0">
                <a:solidFill>
                  <a:srgbClr val="5F6368"/>
                </a:solidFill>
                <a:latin typeface="Google Sans" pitchFamily="34" charset="0"/>
                <a:ea typeface="Google Sans" pitchFamily="34" charset="-122"/>
                <a:cs typeface="Google Sans" pitchFamily="34" charset="-120"/>
              </a:rPr>
              <a:t>Your code: GDGC-APSIT</a:t>
            </a:r>
            <a:endParaRPr lang="en-US" sz="1200" dirty="0"/>
          </a:p>
        </p:txBody>
      </p:sp>
      <p:sp>
        <p:nvSpPr>
          <p:cNvPr id="23" name="Text 18"/>
          <p:cNvSpPr/>
          <p:nvPr/>
        </p:nvSpPr>
        <p:spPr>
          <a:xfrm>
            <a:off x="812788" y="4627563"/>
            <a:ext cx="10883417" cy="256456"/>
          </a:xfrm>
          <a:prstGeom prst="rect">
            <a:avLst/>
          </a:prstGeom>
          <a:noFill/>
          <a:ln/>
        </p:spPr>
        <p:txBody>
          <a:bodyPr wrap="square" lIns="0" tIns="0" rIns="0" bIns="0" rtlCol="0" anchor="t"/>
          <a:lstStyle/>
          <a:p>
            <a:pPr marL="0" indent="0" algn="l">
              <a:lnSpc>
                <a:spcPts val="1820"/>
              </a:lnSpc>
              <a:buNone/>
            </a:pPr>
            <a:r>
              <a:rPr lang="en-US" sz="1300" dirty="0">
                <a:solidFill>
                  <a:srgbClr val="E8F0FE"/>
                </a:solidFill>
                <a:latin typeface="Google Sans" pitchFamily="34" charset="0"/>
                <a:ea typeface="Google Sans" pitchFamily="34" charset="-122"/>
                <a:cs typeface="Google Sans" pitchFamily="34" charset="-120"/>
              </a:rPr>
              <a:t>Questions about labs or the program? Email </a:t>
            </a:r>
            <a:r>
              <a:rPr lang="en-US" sz="1300" b="1" dirty="0">
                <a:solidFill>
                  <a:srgbClr val="FFFFFF"/>
                </a:solidFill>
                <a:latin typeface="Google Sans" pitchFamily="34" charset="0"/>
                <a:ea typeface="Google Sans" pitchFamily="34" charset="-122"/>
                <a:cs typeface="Google Sans" pitchFamily="34" charset="-120"/>
              </a:rPr>
              <a:t>learnwithcommunities-support@google.com</a:t>
            </a:r>
            <a:r>
              <a:rPr lang="en-US" sz="1300" dirty="0">
                <a:solidFill>
                  <a:srgbClr val="E8F0FE"/>
                </a:solidFill>
                <a:latin typeface="Google Sans" pitchFamily="34" charset="0"/>
                <a:ea typeface="Google Sans" pitchFamily="34" charset="-122"/>
                <a:cs typeface="Google Sans" pitchFamily="34" charset="-120"/>
              </a:rPr>
              <a:t>, or reach the GDGoC APSIT team.</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
    <p:bg>
      <p:bgPr>
        <a:solidFill>
          <a:srgbClr val="F8F9FA"/>
        </a:solidFill>
        <a:effectLst/>
      </p:bgPr>
    </p:bg>
    <p:spTree>
      <p:nvGrpSpPr>
        <p:cNvPr id="1" name=""/>
        <p:cNvGrpSpPr/>
        <p:nvPr/>
      </p:nvGrpSpPr>
      <p:grpSpPr>
        <a:xfrm>
          <a:off x="0" y="0"/>
          <a:ext cx="0" cy="0"/>
          <a:chOff x="0" y="0"/>
          <a:chExt cx="0" cy="0"/>
        </a:xfrm>
      </p:grpSpPr>
      <p:pic>
        <p:nvPicPr>
          <p:cNvPr id="2" name="Image 0" descr="ellipse"/>
          <p:cNvPicPr>
            <a:picLocks noChangeAspect="1"/>
          </p:cNvPicPr>
          <p:nvPr/>
        </p:nvPicPr>
        <p:blipFill>
          <a:blip r:embed="rId3"/>
          <a:srcRect/>
          <a:stretch/>
        </p:blipFill>
        <p:spPr>
          <a:xfrm>
            <a:off x="9524999" y="0"/>
            <a:ext cx="3302000" cy="3302000"/>
          </a:xfrm>
          <a:prstGeom prst="rect">
            <a:avLst/>
          </a:prstGeom>
        </p:spPr>
      </p:pic>
      <p:pic>
        <p:nvPicPr>
          <p:cNvPr id="3" name="Image 1" descr="ellipse"/>
          <p:cNvPicPr>
            <a:picLocks noChangeAspect="1"/>
          </p:cNvPicPr>
          <p:nvPr/>
        </p:nvPicPr>
        <p:blipFill>
          <a:blip r:embed="rId4"/>
          <a:srcRect/>
          <a:stretch/>
        </p:blipFill>
        <p:spPr>
          <a:xfrm>
            <a:off x="10794999" y="2667000"/>
            <a:ext cx="1905000" cy="1905000"/>
          </a:xfrm>
          <a:prstGeom prst="rect">
            <a:avLst/>
          </a:prstGeom>
        </p:spPr>
      </p:pic>
      <p:pic>
        <p:nvPicPr>
          <p:cNvPr id="4" name="Image 2" descr="ellipse"/>
          <p:cNvPicPr>
            <a:picLocks noChangeAspect="1"/>
          </p:cNvPicPr>
          <p:nvPr/>
        </p:nvPicPr>
        <p:blipFill>
          <a:blip r:embed="rId5"/>
          <a:srcRect/>
          <a:stretch/>
        </p:blipFill>
        <p:spPr>
          <a:xfrm>
            <a:off x="9016999" y="4445000"/>
            <a:ext cx="1524000" cy="1524000"/>
          </a:xfrm>
          <a:prstGeom prst="rect">
            <a:avLst/>
          </a:prstGeom>
        </p:spPr>
      </p:pic>
      <p:pic>
        <p:nvPicPr>
          <p:cNvPr id="5" name="Image 3" descr="ellipse"/>
          <p:cNvPicPr>
            <a:picLocks noChangeAspect="1"/>
          </p:cNvPicPr>
          <p:nvPr/>
        </p:nvPicPr>
        <p:blipFill>
          <a:blip r:embed="rId6"/>
          <a:srcRect/>
          <a:stretch/>
        </p:blipFill>
        <p:spPr>
          <a:xfrm>
            <a:off x="10921999" y="5461000"/>
            <a:ext cx="2159000" cy="2159000"/>
          </a:xfrm>
          <a:prstGeom prst="rect">
            <a:avLst/>
          </a:prstGeom>
        </p:spPr>
      </p:pic>
      <p:pic>
        <p:nvPicPr>
          <p:cNvPr id="6" name="Image 4" descr="ellipse"/>
          <p:cNvPicPr>
            <a:picLocks noChangeAspect="1"/>
          </p:cNvPicPr>
          <p:nvPr/>
        </p:nvPicPr>
        <p:blipFill>
          <a:blip r:embed="rId7"/>
          <a:srcRect/>
          <a:stretch/>
        </p:blipFill>
        <p:spPr>
          <a:xfrm>
            <a:off x="812788" y="1397124"/>
            <a:ext cx="152363" cy="152363"/>
          </a:xfrm>
          <a:prstGeom prst="rect">
            <a:avLst/>
          </a:prstGeom>
        </p:spPr>
      </p:pic>
      <p:pic>
        <p:nvPicPr>
          <p:cNvPr id="7" name="Image 5" descr="ellipse"/>
          <p:cNvPicPr>
            <a:picLocks noChangeAspect="1"/>
          </p:cNvPicPr>
          <p:nvPr/>
        </p:nvPicPr>
        <p:blipFill>
          <a:blip r:embed="rId8"/>
          <a:srcRect/>
          <a:stretch/>
        </p:blipFill>
        <p:spPr>
          <a:xfrm>
            <a:off x="1066725" y="1397124"/>
            <a:ext cx="152363" cy="152363"/>
          </a:xfrm>
          <a:prstGeom prst="rect">
            <a:avLst/>
          </a:prstGeom>
        </p:spPr>
      </p:pic>
      <p:pic>
        <p:nvPicPr>
          <p:cNvPr id="8" name="Image 6" descr="ellipse"/>
          <p:cNvPicPr>
            <a:picLocks noChangeAspect="1"/>
          </p:cNvPicPr>
          <p:nvPr/>
        </p:nvPicPr>
        <p:blipFill>
          <a:blip r:embed="rId9"/>
          <a:srcRect/>
          <a:stretch/>
        </p:blipFill>
        <p:spPr>
          <a:xfrm>
            <a:off x="1320663" y="1397124"/>
            <a:ext cx="152363" cy="152363"/>
          </a:xfrm>
          <a:prstGeom prst="rect">
            <a:avLst/>
          </a:prstGeom>
        </p:spPr>
      </p:pic>
      <p:pic>
        <p:nvPicPr>
          <p:cNvPr id="9" name="Image 7" descr="ellipse"/>
          <p:cNvPicPr>
            <a:picLocks noChangeAspect="1"/>
          </p:cNvPicPr>
          <p:nvPr/>
        </p:nvPicPr>
        <p:blipFill>
          <a:blip r:embed="rId10"/>
          <a:srcRect/>
          <a:stretch/>
        </p:blipFill>
        <p:spPr>
          <a:xfrm>
            <a:off x="1574601" y="1397124"/>
            <a:ext cx="152363" cy="152363"/>
          </a:xfrm>
          <a:prstGeom prst="rect">
            <a:avLst/>
          </a:prstGeom>
        </p:spPr>
      </p:pic>
      <p:sp>
        <p:nvSpPr>
          <p:cNvPr id="10" name="Text 0"/>
          <p:cNvSpPr/>
          <p:nvPr/>
        </p:nvSpPr>
        <p:spPr>
          <a:xfrm>
            <a:off x="1828539" y="1340011"/>
            <a:ext cx="7289899" cy="292050"/>
          </a:xfrm>
          <a:prstGeom prst="rect">
            <a:avLst/>
          </a:prstGeom>
          <a:noFill/>
          <a:ln/>
        </p:spPr>
        <p:txBody>
          <a:bodyPr wrap="square" lIns="0" tIns="0" rIns="0" bIns="0" rtlCol="0" anchor="t"/>
          <a:lstStyle/>
          <a:p>
            <a:pPr marL="0" indent="0" algn="l">
              <a:lnSpc>
                <a:spcPts val="2100"/>
              </a:lnSpc>
              <a:buNone/>
            </a:pPr>
            <a:r>
              <a:rPr lang="en-US" sz="1500" dirty="0">
                <a:solidFill>
                  <a:srgbClr val="5F6368"/>
                </a:solidFill>
                <a:latin typeface="Google Sans" pitchFamily="34" charset="0"/>
                <a:ea typeface="Google Sans" pitchFamily="34" charset="-122"/>
                <a:cs typeface="Google Sans" pitchFamily="34" charset="-120"/>
              </a:rPr>
              <a:t>Google Developer Groups on Campus · A. P. Shah Institute of Technology</a:t>
            </a:r>
            <a:endParaRPr lang="en-US" sz="1500" dirty="0"/>
          </a:p>
        </p:txBody>
      </p:sp>
      <p:sp>
        <p:nvSpPr>
          <p:cNvPr id="11" name="Text 1"/>
          <p:cNvSpPr>
            <a:spLocks noGrp="1"/>
          </p:cNvSpPr>
          <p:nvPr>
            <p:ph type="title"/>
          </p:nvPr>
        </p:nvSpPr>
        <p:spPr>
          <a:xfrm>
            <a:off x="812788" y="1835237"/>
            <a:ext cx="8110219" cy="1732210"/>
          </a:xfrm>
          <a:prstGeom prst="rect">
            <a:avLst/>
          </a:prstGeom>
          <a:noFill/>
          <a:ln/>
        </p:spPr>
        <p:txBody>
          <a:bodyPr wrap="square" lIns="0" tIns="0" rIns="0" bIns="0" rtlCol="0" anchor="t"/>
          <a:lstStyle/>
          <a:p>
            <a:pPr marL="0" indent="0" algn="l">
              <a:lnSpc>
                <a:spcPts val="6720"/>
              </a:lnSpc>
              <a:buNone/>
            </a:pPr>
            <a:r>
              <a:rPr lang="en-US" sz="6400" b="1" i="0" dirty="0">
                <a:solidFill>
                  <a:srgbClr val="202124"/>
                </a:solidFill>
                <a:latin typeface="Google Sans" pitchFamily="34" charset="0"/>
                <a:ea typeface="Google Sans" pitchFamily="34" charset="-122"/>
                <a:cs typeface="Google Sans" pitchFamily="34" charset="-120"/>
              </a:rPr>
              <a:t>Missed the </a:t>
            </a:r>
            <a:r>
              <a:rPr lang="en-US" sz="6400" b="1" i="0" dirty="0">
                <a:solidFill>
                  <a:srgbClr val="4285F4"/>
                </a:solidFill>
                <a:latin typeface="Google Sans" pitchFamily="34" charset="0"/>
                <a:ea typeface="Google Sans" pitchFamily="34" charset="-122"/>
                <a:cs typeface="Google Sans" pitchFamily="34" charset="-120"/>
              </a:rPr>
              <a:t>session?</a:t>
            </a:r>
            <a:endParaRPr lang="en-US" sz="6400" dirty="0"/>
          </a:p>
        </p:txBody>
      </p:sp>
      <p:sp>
        <p:nvSpPr>
          <p:cNvPr id="12" name="Text 2"/>
          <p:cNvSpPr/>
          <p:nvPr/>
        </p:nvSpPr>
        <p:spPr>
          <a:xfrm>
            <a:off x="812788" y="3770622"/>
            <a:ext cx="7848599" cy="416570"/>
          </a:xfrm>
          <a:prstGeom prst="rect">
            <a:avLst/>
          </a:prstGeom>
          <a:noFill/>
          <a:ln/>
        </p:spPr>
        <p:txBody>
          <a:bodyPr wrap="square" lIns="0" tIns="0" rIns="0" bIns="0" rtlCol="0" anchor="t"/>
          <a:lstStyle/>
          <a:p>
            <a:pPr marL="0" indent="0" algn="l">
              <a:lnSpc>
                <a:spcPts val="3080"/>
              </a:lnSpc>
              <a:buNone/>
            </a:pPr>
            <a:r>
              <a:rPr lang="en-US" sz="2200" dirty="0">
                <a:solidFill>
                  <a:srgbClr val="3C4043"/>
                </a:solidFill>
                <a:latin typeface="Google Sans" pitchFamily="34" charset="0"/>
                <a:ea typeface="Google Sans" pitchFamily="34" charset="-122"/>
                <a:cs typeface="Google Sans" pitchFamily="34" charset="-120"/>
              </a:rPr>
              <a:t>Skill Boost registration guide, </a:t>
            </a:r>
            <a:r>
              <a:rPr lang="en-US" sz="2200" b="1" dirty="0">
                <a:solidFill>
                  <a:srgbClr val="34A853"/>
                </a:solidFill>
                <a:latin typeface="Google Sans" pitchFamily="34" charset="0"/>
                <a:ea typeface="Google Sans" pitchFamily="34" charset="-122"/>
                <a:cs typeface="Google Sans" pitchFamily="34" charset="-120"/>
              </a:rPr>
              <a:t>step by step</a:t>
            </a:r>
            <a:endParaRPr lang="en-US" sz="2200" dirty="0"/>
          </a:p>
        </p:txBody>
      </p:sp>
      <p:sp>
        <p:nvSpPr>
          <p:cNvPr id="13" name="Text 3"/>
          <p:cNvSpPr/>
          <p:nvPr/>
        </p:nvSpPr>
        <p:spPr>
          <a:xfrm>
            <a:off x="812788" y="4390367"/>
            <a:ext cx="8046720" cy="777240"/>
          </a:xfrm>
          <a:prstGeom prst="rect">
            <a:avLst/>
          </a:prstGeom>
          <a:noFill/>
          <a:ln/>
        </p:spPr>
        <p:txBody>
          <a:bodyPr wrap="square" lIns="0" tIns="0" rIns="0" bIns="0" rtlCol="0" anchor="t"/>
          <a:lstStyle/>
          <a:p>
            <a:pPr marL="0" indent="0" algn="l">
              <a:lnSpc>
                <a:spcPts val="2100"/>
              </a:lnSpc>
              <a:buNone/>
            </a:pPr>
            <a:r>
              <a:rPr lang="en-US" sz="1400" dirty="0">
                <a:solidFill>
                  <a:srgbClr val="5F6368"/>
                </a:solidFill>
                <a:latin typeface="Google Sans" pitchFamily="34" charset="0"/>
                <a:ea typeface="Google Sans" pitchFamily="34" charset="-122"/>
                <a:cs typeface="Google Sans" pitchFamily="34" charset="-120"/>
              </a:rPr>
              <a:t>For everyone who missed the session: how to register for Skill Boost (now called Google Skills). Follow the screenshots to fill in both forms.</a:t>
            </a:r>
            <a:endParaRPr lang="en-US" sz="1400" dirty="0"/>
          </a:p>
        </p:txBody>
      </p:sp>
      <p:sp>
        <p:nvSpPr>
          <p:cNvPr id="14" name="Text 4"/>
          <p:cNvSpPr/>
          <p:nvPr/>
        </p:nvSpPr>
        <p:spPr>
          <a:xfrm>
            <a:off x="812788" y="5152243"/>
            <a:ext cx="1403015" cy="365683"/>
          </a:xfrm>
          <a:prstGeom prst="roundRect">
            <a:avLst>
              <a:gd name="adj" fmla="val 50000"/>
            </a:avLst>
          </a:prstGeom>
          <a:solidFill>
            <a:srgbClr val="E8F0FE"/>
          </a:solidFill>
          <a:ln/>
        </p:spPr>
        <p:txBody>
          <a:bodyPr wrap="none" lIns="0" tIns="0" rIns="0" bIns="0" rtlCol="0" anchor="ctr"/>
          <a:lstStyle/>
          <a:p>
            <a:pPr marL="0" indent="0" algn="ctr">
              <a:lnSpc>
                <a:spcPts val="1680"/>
              </a:lnSpc>
              <a:buNone/>
            </a:pPr>
            <a:r>
              <a:rPr lang="en-US" sz="1200" dirty="0">
                <a:solidFill>
                  <a:srgbClr val="1A73E8"/>
                </a:solidFill>
                <a:latin typeface="Google Sans" pitchFamily="34" charset="0"/>
                <a:ea typeface="Google Sans" pitchFamily="34" charset="-122"/>
                <a:cs typeface="Google Sans" pitchFamily="34" charset="-120"/>
              </a:rPr>
              <a:t>Short steps</a:t>
            </a:r>
            <a:endParaRPr lang="en-US" sz="1200" dirty="0"/>
          </a:p>
        </p:txBody>
      </p:sp>
      <p:sp>
        <p:nvSpPr>
          <p:cNvPr id="15" name="Text 5"/>
          <p:cNvSpPr/>
          <p:nvPr/>
        </p:nvSpPr>
        <p:spPr>
          <a:xfrm>
            <a:off x="2317378" y="5152243"/>
            <a:ext cx="1181695" cy="365683"/>
          </a:xfrm>
          <a:prstGeom prst="roundRect">
            <a:avLst>
              <a:gd name="adj" fmla="val 50000"/>
            </a:avLst>
          </a:prstGeom>
          <a:solidFill>
            <a:srgbClr val="FCE8E6"/>
          </a:solidFill>
          <a:ln/>
        </p:spPr>
        <p:txBody>
          <a:bodyPr wrap="none" lIns="0" tIns="0" rIns="0" bIns="0" rtlCol="0" anchor="ctr"/>
          <a:lstStyle/>
          <a:p>
            <a:pPr marL="0" indent="0" algn="ctr">
              <a:lnSpc>
                <a:spcPts val="1680"/>
              </a:lnSpc>
              <a:buNone/>
            </a:pPr>
            <a:r>
              <a:rPr lang="en-US" sz="1200" dirty="0">
                <a:solidFill>
                  <a:srgbClr val="C5221F"/>
                </a:solidFill>
                <a:latin typeface="Google Sans" pitchFamily="34" charset="0"/>
                <a:ea typeface="Google Sans" pitchFamily="34" charset="-122"/>
                <a:cs typeface="Google Sans" pitchFamily="34" charset="-120"/>
              </a:rPr>
              <a:t>Screenshots</a:t>
            </a:r>
            <a:endParaRPr lang="en-US" sz="1200" dirty="0"/>
          </a:p>
        </p:txBody>
      </p:sp>
      <p:sp>
        <p:nvSpPr>
          <p:cNvPr id="16" name="Text 6"/>
          <p:cNvSpPr/>
          <p:nvPr/>
        </p:nvSpPr>
        <p:spPr>
          <a:xfrm>
            <a:off x="3600648" y="5152243"/>
            <a:ext cx="1909155" cy="365683"/>
          </a:xfrm>
          <a:prstGeom prst="roundRect">
            <a:avLst>
              <a:gd name="adj" fmla="val 50000"/>
            </a:avLst>
          </a:prstGeom>
          <a:solidFill>
            <a:srgbClr val="E6F4EA"/>
          </a:solidFill>
          <a:ln/>
        </p:spPr>
        <p:txBody>
          <a:bodyPr wrap="none" lIns="0" tIns="0" rIns="0" bIns="0" rtlCol="0" anchor="ctr"/>
          <a:lstStyle/>
          <a:p>
            <a:pPr marL="0" indent="0" algn="ctr">
              <a:lnSpc>
                <a:spcPts val="1680"/>
              </a:lnSpc>
              <a:buNone/>
            </a:pPr>
            <a:r>
              <a:rPr lang="en-US" sz="1200" dirty="0">
                <a:solidFill>
                  <a:srgbClr val="137333"/>
                </a:solidFill>
                <a:latin typeface="Google Sans" pitchFamily="34" charset="0"/>
                <a:ea typeface="Google Sans" pitchFamily="34" charset="-122"/>
                <a:cs typeface="Google Sans" pitchFamily="34" charset="-120"/>
              </a:rPr>
              <a:t>Both forms covered</a:t>
            </a:r>
            <a:endParaRPr lang="en-US" sz="1200" dirty="0"/>
          </a:p>
        </p:txBody>
      </p:sp>
      <p:sp>
        <p:nvSpPr>
          <p:cNvPr id="17" name="Text 7"/>
          <p:cNvSpPr/>
          <p:nvPr/>
        </p:nvSpPr>
        <p:spPr>
          <a:xfrm>
            <a:off x="5611378" y="5152243"/>
            <a:ext cx="1988654" cy="365683"/>
          </a:xfrm>
          <a:prstGeom prst="roundRect">
            <a:avLst>
              <a:gd name="adj" fmla="val 50000"/>
            </a:avLst>
          </a:prstGeom>
          <a:solidFill>
            <a:srgbClr val="FEF7E0"/>
          </a:solidFill>
          <a:ln/>
        </p:spPr>
        <p:txBody>
          <a:bodyPr wrap="none" lIns="0" tIns="0" rIns="0" bIns="0" rtlCol="0" anchor="ctr"/>
          <a:lstStyle/>
          <a:p>
            <a:pPr marL="0" indent="0" algn="ctr">
              <a:lnSpc>
                <a:spcPts val="1680"/>
              </a:lnSpc>
              <a:buNone/>
            </a:pPr>
            <a:r>
              <a:rPr lang="en-US" sz="1200" dirty="0">
                <a:solidFill>
                  <a:srgbClr val="B06000"/>
                </a:solidFill>
                <a:latin typeface="Google Sans" pitchFamily="34" charset="0"/>
                <a:ea typeface="Google Sans" pitchFamily="34" charset="-122"/>
                <a:cs typeface="Google Sans" pitchFamily="34" charset="-120"/>
              </a:rPr>
              <a:t>Register by 31 Oct 2026</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 Create a fresh Google account</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Start with a new account made for this program, so only your new badges count.</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Open the sign-up page</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Go to accounts.google.com and choose Create account, then For my personal use.</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Enter your name</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Type your first and last name in the first red box, then click Next.</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Finish the setup properly</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Add birthday, pick a username and a strong password, and verify your phone. Note them down.</a:t>
            </a:r>
            <a:endParaRPr lang="en-US" sz="1200" dirty="0"/>
          </a:p>
        </p:txBody>
      </p:sp>
      <p:pic>
        <p:nvPicPr>
          <p:cNvPr id="99" name="Google account creation" descr="Create a Google Account page with First name, Last name and Next"/>
          <p:cNvPicPr>
            <a:picLocks noChangeAspect="1"/>
          </p:cNvPicPr>
          <p:nvPr/>
        </p:nvPicPr>
        <p:blipFill>
          <a:blip r:embed="rId50"/>
          <a:srcRect l="0" t="0" r="0" b="0"/>
          <a:stretch>
            <a:fillRect/>
          </a:stretch>
        </p:blipFill>
        <p:spPr>
          <a:xfrm>
            <a:off x="5120640" y="2011680"/>
            <a:ext cx="6519672" cy="3667316"/>
          </a:xfrm>
          <a:prstGeom prst="roundRect">
            <a:avLst>
              <a:gd name="adj" fmla="val 2000"/>
            </a:avLst>
          </a:prstGeom>
          <a:ln w="12700">
            <a:solidFill>
              <a:srgbClr val="DADCE0"/>
            </a:solidFill>
          </a:ln>
        </p:spPr>
      </p:pic>
      <p:sp>
        <p:nvSpPr>
          <p:cNvPr id="100" name="Highlight box 1"/>
          <p:cNvSpPr/>
          <p:nvPr/>
        </p:nvSpPr>
        <p:spPr>
          <a:xfrm>
            <a:off x="8536676" y="2792682"/>
            <a:ext cx="2950831" cy="1130756"/>
          </a:xfrm>
          <a:prstGeom prst="roundRect">
            <a:avLst>
              <a:gd name="adj" fmla="val 15000"/>
            </a:avLst>
          </a:prstGeom>
          <a:noFill/>
          <a:ln w="31750">
            <a:solidFill>
              <a:srgbClr val="EA4335"/>
            </a:solidFill>
          </a:ln>
        </p:spPr>
        <p:txBody>
          <a:bodyPr/>
          <a:lstStyle/>
          <a:p>
            <a:endParaRPr lang="en-US"/>
          </a:p>
        </p:txBody>
      </p:sp>
      <p:sp>
        <p:nvSpPr>
          <p:cNvPr id="101" name="Highlight box 2"/>
          <p:cNvSpPr/>
          <p:nvPr/>
        </p:nvSpPr>
        <p:spPr>
          <a:xfrm>
            <a:off x="10804979" y="4279983"/>
            <a:ext cx="682528" cy="380314"/>
          </a:xfrm>
          <a:prstGeom prst="roundRect">
            <a:avLst>
              <a:gd name="adj" fmla="val 15000"/>
            </a:avLst>
          </a:prstGeom>
          <a:noFill/>
          <a:ln w="31750">
            <a:solidFill>
              <a:srgbClr val="EA4335"/>
            </a:solidFill>
          </a:ln>
        </p:spPr>
        <p:txBody>
          <a:bodyPr/>
          <a:lstStyle/>
          <a:p>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2: Go to Google Skills</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Go to this site, then join with the fresh Google account you created in Step 1.</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Go to this site</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Open skills.google (Google Skills, formerly Cloud Skills Boost) in your browser.</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Join</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Click Join at the top right, marked with the red box and arrow.</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Join with your fresh account</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Use the new Google account you just created, not an old one.</a:t>
            </a:r>
            <a:endParaRPr lang="en-US" sz="1200" dirty="0"/>
          </a:p>
        </p:txBody>
      </p:sp>
      <p:pic>
        <p:nvPicPr>
          <p:cNvPr id="99" name="Google Skills home page" descr="Google Skills home page with the Join and Sign in buttons at the top right"/>
          <p:cNvPicPr>
            <a:picLocks noChangeAspect="1"/>
          </p:cNvPicPr>
          <p:nvPr/>
        </p:nvPicPr>
        <p:blipFill>
          <a:blip r:embed="rId50"/>
          <a:srcRect l="0" t="0" r="0" b="0"/>
          <a:stretch>
            <a:fillRect/>
          </a:stretch>
        </p:blipFill>
        <p:spPr>
          <a:xfrm>
            <a:off x="5120640" y="2011680"/>
            <a:ext cx="6519672" cy="3667316"/>
          </a:xfrm>
          <a:prstGeom prst="roundRect">
            <a:avLst>
              <a:gd name="adj" fmla="val 2000"/>
            </a:avLst>
          </a:prstGeom>
          <a:ln w="12700">
            <a:solidFill>
              <a:srgbClr val="DADCE0"/>
            </a:solidFill>
          </a:ln>
        </p:spPr>
      </p:pic>
      <p:sp>
        <p:nvSpPr>
          <p:cNvPr id="100" name="Highlight box 1"/>
          <p:cNvSpPr/>
          <p:nvPr/>
        </p:nvSpPr>
        <p:spPr>
          <a:xfrm>
            <a:off x="11215854" y="2035450"/>
            <a:ext cx="342962" cy="237696"/>
          </a:xfrm>
          <a:prstGeom prst="roundRect">
            <a:avLst>
              <a:gd name="adj" fmla="val 15000"/>
            </a:avLst>
          </a:prstGeom>
          <a:noFill/>
          <a:ln w="31750">
            <a:solidFill>
              <a:srgbClr val="EA4335"/>
            </a:solidFill>
          </a:ln>
        </p:spPr>
        <p:txBody>
          <a:bodyPr/>
          <a:lstStyle/>
          <a:p>
            <a:endParaRPr lang="en-US"/>
          </a:p>
        </p:txBody>
      </p:sp>
      <p:cxnSp>
        <p:nvCxnSpPr>
          <p:cNvPr id="110" name="Arrow 1"/>
          <p:cNvCxnSpPr/>
          <p:nvPr/>
        </p:nvCxnSpPr>
        <p:spPr>
          <a:xfrm>
            <a:off x="11385637" y="1486810"/>
            <a:ext cx="0" cy="521208"/>
          </a:xfrm>
          <a:prstGeom prst="line">
            <a:avLst/>
          </a:prstGeom>
          <a:ln w="38100">
            <a:solidFill>
              <a:srgbClr val="EA4335"/>
            </a:solidFill>
            <a:tailEnd type="triangle" w="med" len="med"/>
          </a:ln>
        </p:spPr>
      </p:cxn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3: Open your profile settings</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Once you have joined, open Settings from your profile menu.</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your profile icon</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Click your profile icon at the top right, marked with the red box.</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Choose Settings</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Pick Settings from the menu, shown by the arrow.</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Get ready to go Public</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Next, you will set your profile to Public.</a:t>
            </a:r>
            <a:endParaRPr lang="en-US" sz="1200" dirty="0"/>
          </a:p>
        </p:txBody>
      </p:sp>
      <p:pic>
        <p:nvPicPr>
          <p:cNvPr id="99" name="Google Skills profile menu" descr="Google Skills profile menu open with the Settings option"/>
          <p:cNvPicPr>
            <a:picLocks noChangeAspect="1"/>
          </p:cNvPicPr>
          <p:nvPr/>
        </p:nvPicPr>
        <p:blipFill>
          <a:blip r:embed="rId50"/>
          <a:srcRect l="0" t="0" r="0" b="0"/>
          <a:stretch>
            <a:fillRect/>
          </a:stretch>
        </p:blipFill>
        <p:spPr>
          <a:xfrm>
            <a:off x="5120640" y="2011680"/>
            <a:ext cx="6519672" cy="3667316"/>
          </a:xfrm>
          <a:prstGeom prst="roundRect">
            <a:avLst>
              <a:gd name="adj" fmla="val 2000"/>
            </a:avLst>
          </a:prstGeom>
          <a:ln w="12700">
            <a:solidFill>
              <a:srgbClr val="DADCE0"/>
            </a:solidFill>
          </a:ln>
        </p:spPr>
      </p:pic>
      <p:sp>
        <p:nvSpPr>
          <p:cNvPr id="100" name="Highlight box 1"/>
          <p:cNvSpPr/>
          <p:nvPr/>
        </p:nvSpPr>
        <p:spPr>
          <a:xfrm>
            <a:off x="11324515" y="2025263"/>
            <a:ext cx="234301" cy="234301"/>
          </a:xfrm>
          <a:prstGeom prst="roundRect">
            <a:avLst>
              <a:gd name="adj" fmla="val 50000"/>
            </a:avLst>
          </a:prstGeom>
          <a:noFill/>
          <a:ln w="31750">
            <a:solidFill>
              <a:srgbClr val="EA4335"/>
            </a:solidFill>
          </a:ln>
        </p:spPr>
        <p:txBody>
          <a:bodyPr/>
          <a:lstStyle/>
          <a:p>
            <a:endParaRPr lang="en-US"/>
          </a:p>
        </p:txBody>
      </p:sp>
      <p:cxnSp>
        <p:nvCxnSpPr>
          <p:cNvPr id="110" name="Arrow 1"/>
          <p:cNvCxnSpPr/>
          <p:nvPr/>
        </p:nvCxnSpPr>
        <p:spPr>
          <a:xfrm>
            <a:off x="9590789" y="3566893"/>
            <a:ext cx="521208" cy="0"/>
          </a:xfrm>
          <a:prstGeom prst="line">
            <a:avLst/>
          </a:prstGeom>
          <a:ln w="38100">
            <a:solidFill>
              <a:srgbClr val="EA4335"/>
            </a:solidFill>
            <a:tailEnd type="triangle" w="med" len="med"/>
          </a:ln>
        </p:spPr>
      </p:cxn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4: Make your profile public</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In Settings, make your profile public so Google can verify your badges.</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Tick Make profile public</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Under Public visibility, tick the checkbox, marked with the first red box.</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Update settings</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Press the blue button at the bottom to save, marked with the second red box.</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Your profile is now public</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Your badges can now be verified.</a:t>
            </a:r>
            <a:endParaRPr lang="en-US" sz="1200" dirty="0"/>
          </a:p>
        </p:txBody>
      </p:sp>
      <p:pic>
        <p:nvPicPr>
          <p:cNvPr id="99" name="Google Skills account settings" descr="Account settings page with Make profile public checkbox and Update settings button"/>
          <p:cNvPicPr>
            <a:picLocks noChangeAspect="1"/>
          </p:cNvPicPr>
          <p:nvPr/>
        </p:nvPicPr>
        <p:blipFill>
          <a:blip r:embed="rId50"/>
          <a:srcRect l="17188" t="8333" r="21875" b="0"/>
          <a:stretch>
            <a:fillRect/>
          </a:stretch>
        </p:blipFill>
        <p:spPr>
          <a:xfrm>
            <a:off x="6003036" y="2011680"/>
            <a:ext cx="4754880" cy="4023360"/>
          </a:xfrm>
          <a:prstGeom prst="roundRect">
            <a:avLst>
              <a:gd name="adj" fmla="val 2000"/>
            </a:avLst>
          </a:prstGeom>
          <a:ln w="12700">
            <a:solidFill>
              <a:srgbClr val="DADCE0"/>
            </a:solidFill>
          </a:ln>
        </p:spPr>
      </p:pic>
      <p:sp>
        <p:nvSpPr>
          <p:cNvPr id="100" name="Highlight box 1"/>
          <p:cNvSpPr/>
          <p:nvPr/>
        </p:nvSpPr>
        <p:spPr>
          <a:xfrm>
            <a:off x="6287516" y="2832608"/>
            <a:ext cx="1068832" cy="211328"/>
          </a:xfrm>
          <a:prstGeom prst="roundRect">
            <a:avLst>
              <a:gd name="adj" fmla="val 15000"/>
            </a:avLst>
          </a:prstGeom>
          <a:noFill/>
          <a:ln w="31750">
            <a:solidFill>
              <a:srgbClr val="EA4335"/>
            </a:solidFill>
          </a:ln>
        </p:spPr>
        <p:txBody>
          <a:bodyPr/>
          <a:lstStyle/>
          <a:p>
            <a:endParaRPr lang="en-US"/>
          </a:p>
        </p:txBody>
      </p:sp>
      <p:sp>
        <p:nvSpPr>
          <p:cNvPr id="101" name="Highlight box 2"/>
          <p:cNvSpPr/>
          <p:nvPr/>
        </p:nvSpPr>
        <p:spPr>
          <a:xfrm>
            <a:off x="6287516" y="5376672"/>
            <a:ext cx="865632" cy="345440"/>
          </a:xfrm>
          <a:prstGeom prst="roundRect">
            <a:avLst>
              <a:gd name="adj" fmla="val 15000"/>
            </a:avLst>
          </a:prstGeom>
          <a:noFill/>
          <a:ln w="31750">
            <a:solidFill>
              <a:srgbClr val="EA4335"/>
            </a:solidFill>
          </a:ln>
        </p:spPr>
        <p:txBody>
          <a:bodyPr/>
          <a:lstStyle/>
          <a:p>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5: Copy your public profile link</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You need this link for the registration form, so save it before you move on.</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Find your public link</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A green box shows your profile link, marked with the red box.</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Copy the link</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Select the whole link and copy it.</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Save it somewhere safe</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Paste it in Notes or a message to yourself. You will need it soon.</a:t>
            </a:r>
            <a:endParaRPr lang="en-US" sz="1200" dirty="0"/>
          </a:p>
        </p:txBody>
      </p:sp>
      <p:pic>
        <p:nvPicPr>
          <p:cNvPr id="99" name="Public profile link" descr="Account settings showing the public profile link in a green box"/>
          <p:cNvPicPr>
            <a:picLocks noChangeAspect="1"/>
          </p:cNvPicPr>
          <p:nvPr/>
        </p:nvPicPr>
        <p:blipFill>
          <a:blip r:embed="rId50"/>
          <a:srcRect l="17188" t="8333" r="21875" b="0"/>
          <a:stretch>
            <a:fillRect/>
          </a:stretch>
        </p:blipFill>
        <p:spPr>
          <a:xfrm>
            <a:off x="6003036" y="2011680"/>
            <a:ext cx="4754880" cy="4023360"/>
          </a:xfrm>
          <a:prstGeom prst="roundRect">
            <a:avLst>
              <a:gd name="adj" fmla="val 2000"/>
            </a:avLst>
          </a:prstGeom>
          <a:ln w="12700">
            <a:solidFill>
              <a:srgbClr val="DADCE0"/>
            </a:solidFill>
          </a:ln>
        </p:spPr>
      </p:pic>
      <p:sp>
        <p:nvSpPr>
          <p:cNvPr id="100" name="Highlight box 1"/>
          <p:cNvSpPr/>
          <p:nvPr/>
        </p:nvSpPr>
        <p:spPr>
          <a:xfrm>
            <a:off x="6295644" y="3503168"/>
            <a:ext cx="3364992" cy="373888"/>
          </a:xfrm>
          <a:prstGeom prst="roundRect">
            <a:avLst>
              <a:gd name="adj" fmla="val 15000"/>
            </a:avLst>
          </a:prstGeom>
          <a:noFill/>
          <a:ln w="31750">
            <a:solidFill>
              <a:srgbClr val="EA4335"/>
            </a:solidFill>
          </a:ln>
        </p:spPr>
        <p:txBody>
          <a:bodyPr/>
          <a:lstStyle/>
          <a:p>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6: Open the enrolment form</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With your profile link saved, open the Participant Enrolment Form.</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Open the form link</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Click </a:t>
            </a:r>
            <a:r>
              <a:rPr u="sng" lang="en-US" sz="1200" dirty="0">
                <a:solidFill>
                  <a:srgbClr val="1A73E8"/>
                </a:solidFill>
                <a:latin typeface="Google Sans" pitchFamily="34" charset="0"/>
                <a:ea typeface="Google Sans" pitchFamily="34" charset="-122"/>
                <a:cs typeface="Google Sans" pitchFamily="34" charset="-120"/>
                <a:hlinkClick r:id="rId60"/>
              </a:rPr>
              <a:t>forms.gle/VDXwE13LoaNhA2VeA</a:t>
            </a:r>
            <a:r>
              <a:rPr lang="en-US" sz="1200" dirty="0">
                <a:solidFill>
                  <a:srgbClr val="3C4043"/>
                </a:solidFill>
                <a:latin typeface="Google Sans" pitchFamily="34" charset="0"/>
                <a:ea typeface="Google Sans" pitchFamily="34" charset="-122"/>
                <a:cs typeface="Google Sans" pitchFamily="34" charset="-120"/>
              </a:rPr>
              <a:t> to open it.</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Check the form title</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You should see Google Cloud Learn with Communities - Participant Enrolment Form.</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Read before you fill</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Read the points to note at the top, then start filling in the form.</a:t>
            </a:r>
            <a:endParaRPr lang="en-US" sz="1200" dirty="0"/>
          </a:p>
        </p:txBody>
      </p:sp>
      <p:pic>
        <p:nvPicPr>
          <p:cNvPr id="99" name="Enrolment form" descr="Google Cloud Learn with Communities Participant Enrolment Form"/>
          <p:cNvPicPr>
            <a:picLocks noChangeAspect="1"/>
          </p:cNvPicPr>
          <p:nvPr/>
        </p:nvPicPr>
        <p:blipFill>
          <a:blip r:embed="rId50"/>
          <a:srcRect l="16667" t="1852" r="16667" b="0"/>
          <a:stretch>
            <a:fillRect/>
          </a:stretch>
        </p:blipFill>
        <p:spPr>
          <a:xfrm>
            <a:off x="5951278" y="2011680"/>
            <a:ext cx="4858397" cy="4023360"/>
          </a:xfrm>
          <a:prstGeom prst="roundRect">
            <a:avLst>
              <a:gd name="adj" fmla="val 2000"/>
            </a:avLst>
          </a:prstGeom>
          <a:ln w="12700">
            <a:solidFill>
              <a:srgbClr val="DADCE0"/>
            </a:solidFill>
          </a:ln>
        </p:spPr>
      </p:pic>
      <p:sp>
        <p:nvSpPr>
          <p:cNvPr id="100" name="Highlight box 1"/>
          <p:cNvSpPr/>
          <p:nvPr/>
        </p:nvSpPr>
        <p:spPr>
          <a:xfrm>
            <a:off x="6091716" y="3499564"/>
            <a:ext cx="4520587" cy="952701"/>
          </a:xfrm>
          <a:prstGeom prst="roundRect">
            <a:avLst>
              <a:gd name="adj" fmla="val 15000"/>
            </a:avLst>
          </a:prstGeom>
          <a:noFill/>
          <a:ln w="31750">
            <a:solidFill>
              <a:srgbClr val="EA4335"/>
            </a:solidFill>
          </a:ln>
        </p:spPr>
        <p:txBody>
          <a:bodyPr/>
          <a:lstStyle/>
          <a:p>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7: Enter your email</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Page 1 of 13: start with your email address.</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Type your email</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Enter the email of the fresh Google account you created, in the first red box.</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Check it carefully</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Make sure there are no typos, because Google emails your access code.</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Next</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Press Next, marked with the second red box, to go to the next page.</a:t>
            </a:r>
            <a:endParaRPr lang="en-US" sz="1200" dirty="0"/>
          </a:p>
        </p:txBody>
      </p:sp>
      <p:pic>
        <p:nvPicPr>
          <p:cNvPr id="99" name="Enrolment form screenshot" descr="Enrolment form page 1 with the Email field"/>
          <p:cNvPicPr>
            <a:picLocks noChangeAspect="1"/>
          </p:cNvPicPr>
          <p:nvPr/>
        </p:nvPicPr>
        <p:blipFill>
          <a:blip r:embed="rId50"/>
          <a:srcRect l="20833" t="0" r="20833" b="16667"/>
          <a:stretch>
            <a:fillRect/>
          </a:stretch>
        </p:blipFill>
        <p:spPr>
          <a:xfrm>
            <a:off x="5877052" y="2011680"/>
            <a:ext cx="5006848" cy="4023360"/>
          </a:xfrm>
          <a:prstGeom prst="roundRect">
            <a:avLst>
              <a:gd name="adj" fmla="val 2000"/>
            </a:avLst>
          </a:prstGeom>
          <a:ln w="12700">
            <a:solidFill>
              <a:srgbClr val="DADCE0"/>
            </a:solidFill>
          </a:ln>
        </p:spPr>
      </p:pic>
      <p:sp>
        <p:nvSpPr>
          <p:cNvPr id="100" name="Highlight box 1"/>
          <p:cNvSpPr/>
          <p:nvPr/>
        </p:nvSpPr>
        <p:spPr>
          <a:xfrm>
            <a:off x="6078220" y="4836973"/>
            <a:ext cx="2338019" cy="317398"/>
          </a:xfrm>
          <a:prstGeom prst="roundRect">
            <a:avLst>
              <a:gd name="adj" fmla="val 15000"/>
            </a:avLst>
          </a:prstGeom>
          <a:noFill/>
          <a:ln w="31750">
            <a:solidFill>
              <a:srgbClr val="EA4335"/>
            </a:solidFill>
          </a:ln>
        </p:spPr>
        <p:txBody>
          <a:bodyPr/>
          <a:lstStyle/>
          <a:p>
            <a:endParaRPr lang="en-US"/>
          </a:p>
        </p:txBody>
      </p:sp>
      <p:sp>
        <p:nvSpPr>
          <p:cNvPr id="101" name="Highlight box 2"/>
          <p:cNvSpPr/>
          <p:nvPr/>
        </p:nvSpPr>
        <p:spPr>
          <a:xfrm>
            <a:off x="5890463" y="5431536"/>
            <a:ext cx="688442" cy="348691"/>
          </a:xfrm>
          <a:prstGeom prst="roundRect">
            <a:avLst>
              <a:gd name="adj" fmla="val 15000"/>
            </a:avLst>
          </a:prstGeom>
          <a:noFill/>
          <a:ln w="31750">
            <a:solidFill>
              <a:srgbClr val="EA4335"/>
            </a:solidFill>
          </a:ln>
        </p:spPr>
        <p:txBody>
          <a:bodyPr/>
          <a:lstStyle/>
          <a:p>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8: Accept the terms</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Page 2 of 13: read the terms, then accept them.</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Read the terms</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Read the terms above, including Communication and Tracking.</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Accept the terms</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Select Yes, I accept the terms, marked with the red box.</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Next</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If you decline you will not receive your Google Skills Access Code. Accept, then click Next.</a:t>
            </a:r>
            <a:endParaRPr lang="en-US" sz="1200" dirty="0"/>
          </a:p>
        </p:txBody>
      </p:sp>
      <p:pic>
        <p:nvPicPr>
          <p:cNvPr id="99" name="Enrolment form screenshot" descr="Enrolment form page 2 with the terms and the accept option"/>
          <p:cNvPicPr>
            <a:picLocks noChangeAspect="1"/>
          </p:cNvPicPr>
          <p:nvPr/>
        </p:nvPicPr>
        <p:blipFill>
          <a:blip r:embed="rId50"/>
          <a:srcRect l="20833" t="0" r="20833" b="16667"/>
          <a:stretch>
            <a:fillRect/>
          </a:stretch>
        </p:blipFill>
        <p:spPr>
          <a:xfrm>
            <a:off x="5877052" y="2011680"/>
            <a:ext cx="5006848" cy="4023360"/>
          </a:xfrm>
          <a:prstGeom prst="roundRect">
            <a:avLst>
              <a:gd name="adj" fmla="val 2000"/>
            </a:avLst>
          </a:prstGeom>
          <a:ln w="12700">
            <a:solidFill>
              <a:srgbClr val="DADCE0"/>
            </a:solidFill>
          </a:ln>
        </p:spPr>
      </p:pic>
      <p:sp>
        <p:nvSpPr>
          <p:cNvPr id="100" name="Highlight box 1"/>
          <p:cNvSpPr/>
          <p:nvPr/>
        </p:nvSpPr>
        <p:spPr>
          <a:xfrm>
            <a:off x="6346444" y="4738624"/>
            <a:ext cx="1332179" cy="326339"/>
          </a:xfrm>
          <a:prstGeom prst="roundRect">
            <a:avLst>
              <a:gd name="adj" fmla="val 15000"/>
            </a:avLst>
          </a:prstGeom>
          <a:noFill/>
          <a:ln w="31750">
            <a:solidFill>
              <a:srgbClr val="EA4335"/>
            </a:solidFill>
          </a:ln>
        </p:spPr>
        <p:txBody>
          <a:bodyPr/>
          <a:lstStyle/>
          <a:p>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9: Fill in your details</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Page 3 of 13: three required fields, marked with red boxes.</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Your full name</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Type your full name in the first red box.</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Gender</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Open the dropdown in the second red box and choose your gender.</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Learner category</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Choose the option that fits you, such as Student, then click Next.</a:t>
            </a:r>
            <a:endParaRPr lang="en-US" sz="1200" dirty="0"/>
          </a:p>
        </p:txBody>
      </p:sp>
      <p:pic>
        <p:nvPicPr>
          <p:cNvPr id="99" name="Enrolment form screenshot" descr="Enrolment form page 3 with name, gender and learner category"/>
          <p:cNvPicPr>
            <a:picLocks noChangeAspect="1"/>
          </p:cNvPicPr>
          <p:nvPr/>
        </p:nvPicPr>
        <p:blipFill>
          <a:blip r:embed="rId50"/>
          <a:srcRect l="20833" t="11111" r="20833" b="18519"/>
          <a:stretch>
            <a:fillRect/>
          </a:stretch>
        </p:blipFill>
        <p:spPr>
          <a:xfrm>
            <a:off x="5415895" y="2011680"/>
            <a:ext cx="5929162" cy="4023360"/>
          </a:xfrm>
          <a:prstGeom prst="roundRect">
            <a:avLst>
              <a:gd name="adj" fmla="val 2000"/>
            </a:avLst>
          </a:prstGeom>
          <a:ln w="12700">
            <a:solidFill>
              <a:srgbClr val="DADCE0"/>
            </a:solidFill>
          </a:ln>
        </p:spPr>
      </p:pic>
      <p:sp>
        <p:nvSpPr>
          <p:cNvPr id="100" name="Highlight box 1"/>
          <p:cNvSpPr/>
          <p:nvPr/>
        </p:nvSpPr>
        <p:spPr>
          <a:xfrm>
            <a:off x="6051162" y="2594008"/>
            <a:ext cx="2371665" cy="307046"/>
          </a:xfrm>
          <a:prstGeom prst="roundRect">
            <a:avLst>
              <a:gd name="adj" fmla="val 15000"/>
            </a:avLst>
          </a:prstGeom>
          <a:noFill/>
          <a:ln w="31750">
            <a:solidFill>
              <a:srgbClr val="EA4335"/>
            </a:solidFill>
          </a:ln>
        </p:spPr>
        <p:txBody>
          <a:bodyPr/>
          <a:lstStyle/>
          <a:p>
            <a:endParaRPr lang="en-US"/>
          </a:p>
        </p:txBody>
      </p:sp>
      <p:sp>
        <p:nvSpPr>
          <p:cNvPr id="101" name="Highlight box 2"/>
          <p:cNvSpPr/>
          <p:nvPr/>
        </p:nvSpPr>
        <p:spPr>
          <a:xfrm>
            <a:off x="6051162" y="3711020"/>
            <a:ext cx="1932272" cy="460569"/>
          </a:xfrm>
          <a:prstGeom prst="roundRect">
            <a:avLst>
              <a:gd name="adj" fmla="val 15000"/>
            </a:avLst>
          </a:prstGeom>
          <a:noFill/>
          <a:ln w="31750">
            <a:solidFill>
              <a:srgbClr val="EA4335"/>
            </a:solidFill>
          </a:ln>
        </p:spPr>
        <p:txBody>
          <a:bodyPr/>
          <a:lstStyle/>
          <a:p>
            <a:endParaRPr lang="en-US"/>
          </a:p>
        </p:txBody>
      </p:sp>
      <p:sp>
        <p:nvSpPr>
          <p:cNvPr id="102" name="Highlight box 3"/>
          <p:cNvSpPr/>
          <p:nvPr/>
        </p:nvSpPr>
        <p:spPr>
          <a:xfrm>
            <a:off x="6051162" y="4965673"/>
            <a:ext cx="2218142" cy="460569"/>
          </a:xfrm>
          <a:prstGeom prst="roundRect">
            <a:avLst>
              <a:gd name="adj" fmla="val 15000"/>
            </a:avLst>
          </a:prstGeom>
          <a:noFill/>
          <a:ln w="31750">
            <a:solidFill>
              <a:srgbClr val="EA4335"/>
            </a:solidFill>
          </a:ln>
        </p:spPr>
        <p:txBody>
          <a:bodyPr/>
          <a:lstStyle/>
          <a:p>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10: Choose your organiser</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Page 4 of 13: the most important page, so choose carefully.</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Open the dropdown</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Under Select Your Organiser Name, click the dropdown that says Choose.</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Choose the first option</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Select GDG on Campus Organizer, marked with the red box.</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Do not pick the others</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Do not choose GDG or Developer Community.</a:t>
            </a:r>
            <a:endParaRPr lang="en-US" sz="1200" dirty="0"/>
          </a:p>
        </p:txBody>
      </p:sp>
      <p:pic>
        <p:nvPicPr>
          <p:cNvPr id="99" name="Enrolment form screenshot" descr="Enrolment form page 4 with the organiser dropdown open"/>
          <p:cNvPicPr>
            <a:picLocks noChangeAspect="1"/>
          </p:cNvPicPr>
          <p:nvPr/>
        </p:nvPicPr>
        <p:blipFill>
          <a:blip r:embed="rId50"/>
          <a:srcRect l="20833" t="0" r="20833" b="40741"/>
          <a:stretch>
            <a:fillRect/>
          </a:stretch>
        </p:blipFill>
        <p:spPr>
          <a:xfrm>
            <a:off x="5120640" y="2011680"/>
            <a:ext cx="6519672" cy="3725527"/>
          </a:xfrm>
          <a:prstGeom prst="roundRect">
            <a:avLst>
              <a:gd name="adj" fmla="val 2000"/>
            </a:avLst>
          </a:prstGeom>
          <a:ln w="12700">
            <a:solidFill>
              <a:srgbClr val="DADCE0"/>
            </a:solidFill>
          </a:ln>
        </p:spPr>
      </p:pic>
      <p:sp>
        <p:nvSpPr>
          <p:cNvPr id="100" name="Highlight box 1"/>
          <p:cNvSpPr/>
          <p:nvPr/>
        </p:nvSpPr>
        <p:spPr>
          <a:xfrm>
            <a:off x="5824997" y="3676525"/>
            <a:ext cx="2194568" cy="488975"/>
          </a:xfrm>
          <a:prstGeom prst="roundRect">
            <a:avLst>
              <a:gd name="adj" fmla="val 15000"/>
            </a:avLst>
          </a:prstGeom>
          <a:noFill/>
          <a:ln w="31750">
            <a:solidFill>
              <a:srgbClr val="EA4335"/>
            </a:solidFill>
          </a:ln>
        </p:spPr>
        <p:txBody>
          <a:bodyPr/>
          <a:lstStyle/>
          <a:p>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11: Enter the referral code</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Still on page 4: the code links your registration to GDG on Campus APSIT.</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the answer box</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Under Please share your Organizer's Referral Code, click the answer box.</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Type GDGC-APSIT</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Enter it exactly as given, in capital letters with the hyphen. Without it you cannot be credited to APSIT.</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Choose Yes, then click Next</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Select Yes for the internet and laptop question, then click Next.</a:t>
            </a:r>
            <a:endParaRPr lang="en-US" sz="1200" dirty="0"/>
          </a:p>
        </p:txBody>
      </p:sp>
      <p:pic>
        <p:nvPicPr>
          <p:cNvPr id="99" name="Enrolment form screenshot" descr="Enrolment form page 4 with the referral code field and the laptop question"/>
          <p:cNvPicPr>
            <a:picLocks noChangeAspect="1"/>
          </p:cNvPicPr>
          <p:nvPr/>
        </p:nvPicPr>
        <p:blipFill>
          <a:blip r:embed="rId50"/>
          <a:srcRect l="20833" t="30556" r="20833" b="1852"/>
          <a:stretch>
            <a:fillRect/>
          </a:stretch>
        </p:blipFill>
        <p:spPr>
          <a:xfrm>
            <a:off x="5294063" y="2011680"/>
            <a:ext cx="6172826" cy="4023360"/>
          </a:xfrm>
          <a:prstGeom prst="roundRect">
            <a:avLst>
              <a:gd name="adj" fmla="val 2000"/>
            </a:avLst>
          </a:prstGeom>
          <a:ln w="12700">
            <a:solidFill>
              <a:srgbClr val="DADCE0"/>
            </a:solidFill>
          </a:ln>
        </p:spPr>
      </p:pic>
      <p:sp>
        <p:nvSpPr>
          <p:cNvPr id="100" name="Highlight box 1"/>
          <p:cNvSpPr/>
          <p:nvPr/>
        </p:nvSpPr>
        <p:spPr>
          <a:xfrm>
            <a:off x="5955437" y="3169085"/>
            <a:ext cx="2469131" cy="308641"/>
          </a:xfrm>
          <a:prstGeom prst="roundRect">
            <a:avLst>
              <a:gd name="adj" fmla="val 15000"/>
            </a:avLst>
          </a:prstGeom>
          <a:noFill/>
          <a:ln w="31750">
            <a:solidFill>
              <a:srgbClr val="EA4335"/>
            </a:solidFill>
          </a:ln>
        </p:spPr>
        <p:txBody>
          <a:bodyPr/>
          <a:lstStyle/>
          <a:p>
            <a:endParaRPr lang="en-US"/>
          </a:p>
        </p:txBody>
      </p:sp>
      <p:sp>
        <p:nvSpPr>
          <p:cNvPr id="101" name="Highlight box 2"/>
          <p:cNvSpPr/>
          <p:nvPr/>
        </p:nvSpPr>
        <p:spPr>
          <a:xfrm>
            <a:off x="5955437" y="4530414"/>
            <a:ext cx="551145" cy="259038"/>
          </a:xfrm>
          <a:prstGeom prst="roundRect">
            <a:avLst>
              <a:gd name="adj" fmla="val 15000"/>
            </a:avLst>
          </a:prstGeom>
          <a:noFill/>
          <a:ln w="31750">
            <a:solidFill>
              <a:srgbClr val="EA4335"/>
            </a:solidFill>
          </a:ln>
        </p:spPr>
        <p:txBody>
          <a:bodyPr/>
          <a:lstStyle/>
          <a:p>
            <a:endParaRPr lang="en-US"/>
          </a:p>
        </p:txBody>
      </p:sp>
      <p:sp>
        <p:nvSpPr>
          <p:cNvPr id="102" name="Highlight box 3"/>
          <p:cNvSpPr/>
          <p:nvPr/>
        </p:nvSpPr>
        <p:spPr>
          <a:xfrm>
            <a:off x="6528628" y="5401223"/>
            <a:ext cx="738535" cy="374779"/>
          </a:xfrm>
          <a:prstGeom prst="roundRect">
            <a:avLst>
              <a:gd name="adj" fmla="val 15000"/>
            </a:avLst>
          </a:prstGeom>
          <a:noFill/>
          <a:ln w="31750">
            <a:solidFill>
              <a:srgbClr val="EA4335"/>
            </a:solidFill>
          </a:ln>
        </p:spPr>
        <p:txBody>
          <a:bodyPr/>
          <a:lstStyle/>
          <a:p>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12: Verify and confirm your email</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Page 5 of 13: confirm your new Google Skills account.</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Select I verify</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Confirm you created a NEW Google Skills account on or after September 14th, 2026.</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Enter your Google Skills email</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Type the email you used for your Google Skills profile. Double check it for typos.</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Next</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Check the email once more, then press Next.</a:t>
            </a:r>
            <a:endParaRPr lang="en-US" sz="1200" dirty="0"/>
          </a:p>
        </p:txBody>
      </p:sp>
      <p:pic>
        <p:nvPicPr>
          <p:cNvPr id="99" name="Enrolment form screenshot" descr="Enrolment form page 5 with the I verify option and Google Skills email field"/>
          <p:cNvPicPr>
            <a:picLocks noChangeAspect="1"/>
          </p:cNvPicPr>
          <p:nvPr/>
        </p:nvPicPr>
        <p:blipFill>
          <a:blip r:embed="rId50"/>
          <a:srcRect l="20833" t="23148" r="20833" b="16667"/>
          <a:stretch>
            <a:fillRect/>
          </a:stretch>
        </p:blipFill>
        <p:spPr>
          <a:xfrm>
            <a:off x="5120640" y="2011680"/>
            <a:ext cx="6519672" cy="3783738"/>
          </a:xfrm>
          <a:prstGeom prst="roundRect">
            <a:avLst>
              <a:gd name="adj" fmla="val 2000"/>
            </a:avLst>
          </a:prstGeom>
          <a:ln w="12700">
            <a:solidFill>
              <a:srgbClr val="DADCE0"/>
            </a:solidFill>
          </a:ln>
        </p:spPr>
      </p:pic>
      <p:sp>
        <p:nvSpPr>
          <p:cNvPr id="100" name="Highlight box 1"/>
          <p:cNvSpPr/>
          <p:nvPr/>
        </p:nvSpPr>
        <p:spPr>
          <a:xfrm>
            <a:off x="5819176" y="2826639"/>
            <a:ext cx="745105" cy="279415"/>
          </a:xfrm>
          <a:prstGeom prst="roundRect">
            <a:avLst>
              <a:gd name="adj" fmla="val 15000"/>
            </a:avLst>
          </a:prstGeom>
          <a:noFill/>
          <a:ln w="31750">
            <a:solidFill>
              <a:srgbClr val="EA4335"/>
            </a:solidFill>
          </a:ln>
        </p:spPr>
        <p:txBody>
          <a:bodyPr/>
          <a:lstStyle/>
          <a:p>
            <a:endParaRPr lang="en-US"/>
          </a:p>
        </p:txBody>
      </p:sp>
      <p:sp>
        <p:nvSpPr>
          <p:cNvPr id="101" name="Highlight box 2"/>
          <p:cNvSpPr/>
          <p:nvPr/>
        </p:nvSpPr>
        <p:spPr>
          <a:xfrm>
            <a:off x="5819176" y="4689402"/>
            <a:ext cx="2607869" cy="291057"/>
          </a:xfrm>
          <a:prstGeom prst="roundRect">
            <a:avLst>
              <a:gd name="adj" fmla="val 15000"/>
            </a:avLst>
          </a:prstGeom>
          <a:noFill/>
          <a:ln w="31750">
            <a:solidFill>
              <a:srgbClr val="EA4335"/>
            </a:solidFill>
          </a:ln>
        </p:spPr>
        <p:txBody>
          <a:bodyPr/>
          <a:lstStyle/>
          <a:p>
            <a:endParaRPr lang="en-US"/>
          </a:p>
        </p:txBody>
      </p:sp>
      <p:sp>
        <p:nvSpPr>
          <p:cNvPr id="102" name="Highlight box 3"/>
          <p:cNvSpPr/>
          <p:nvPr/>
        </p:nvSpPr>
        <p:spPr>
          <a:xfrm>
            <a:off x="6424574" y="5265695"/>
            <a:ext cx="780032" cy="401658"/>
          </a:xfrm>
          <a:prstGeom prst="roundRect">
            <a:avLst>
              <a:gd name="adj" fmla="val 15000"/>
            </a:avLst>
          </a:prstGeom>
          <a:noFill/>
          <a:ln w="31750">
            <a:solidFill>
              <a:srgbClr val="EA4335"/>
            </a:solidFill>
          </a:ln>
        </p:spPr>
        <p:txBody>
          <a:bodyPr/>
          <a:lstStyle/>
          <a:p>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13: Paste your public profile link</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Page 6 of 13: use your own link, never ours.</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Copy your own link</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Go back to the green box from Step 5 (top picture) and copy YOUR profile link.</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Paste it in the form</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Paste it in the answer box (bottom picture) so it ends with your own unique ID.</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Use your own, not ours</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Our link is blurred on purpose. Copied links get rejected, so use only yours.</a:t>
            </a:r>
            <a:endParaRPr lang="en-US" sz="1200" dirty="0"/>
          </a:p>
        </p:txBody>
      </p:sp>
      <p:pic>
        <p:nvPicPr>
          <p:cNvPr id="99" name="Public profile link" descr="Your Google Skills public profile link, blurred"/>
          <p:cNvPicPr>
            <a:picLocks noChangeAspect="1"/>
          </p:cNvPicPr>
          <p:nvPr/>
        </p:nvPicPr>
        <p:blipFill>
          <a:blip r:embed="rId51"/>
          <a:stretch>
            <a:fillRect/>
          </a:stretch>
        </p:blipFill>
        <p:spPr>
          <a:xfrm>
            <a:off x="5500116" y="2011680"/>
            <a:ext cx="5760720" cy="1508760"/>
          </a:xfrm>
          <a:prstGeom prst="roundRect">
            <a:avLst>
              <a:gd name="adj" fmla="val 4000"/>
            </a:avLst>
          </a:prstGeom>
          <a:ln w="12700">
            <a:solidFill>
              <a:srgbClr val="DADCE0"/>
            </a:solidFill>
          </a:ln>
        </p:spPr>
      </p:pic>
      <p:pic>
        <p:nvPicPr>
          <p:cNvPr id="98" name="Form profile URL field" descr="Enrolment form page 6 with the profile URL field, blurred"/>
          <p:cNvPicPr>
            <a:picLocks noChangeAspect="1"/>
          </p:cNvPicPr>
          <p:nvPr/>
        </p:nvPicPr>
        <p:blipFill>
          <a:blip r:embed="rId52"/>
          <a:stretch>
            <a:fillRect/>
          </a:stretch>
        </p:blipFill>
        <p:spPr>
          <a:xfrm>
            <a:off x="5500116" y="3749040"/>
            <a:ext cx="5760720" cy="2509621"/>
          </a:xfrm>
          <a:prstGeom prst="roundRect">
            <a:avLst>
              <a:gd name="adj" fmla="val 4000"/>
            </a:avLst>
          </a:prstGeom>
          <a:ln w="12700">
            <a:solidFill>
              <a:srgbClr val="DADCE0"/>
            </a:solidFill>
          </a:ln>
        </p:spPr>
      </p:pic>
      <p:sp>
        <p:nvSpPr>
          <p:cNvPr id="100" name="Highlight box 1"/>
          <p:cNvSpPr/>
          <p:nvPr/>
        </p:nvSpPr>
        <p:spPr>
          <a:xfrm>
            <a:off x="5568696" y="2594610"/>
            <a:ext cx="5568696" cy="521208"/>
          </a:xfrm>
          <a:prstGeom prst="roundRect">
            <a:avLst>
              <a:gd name="adj" fmla="val 15000"/>
            </a:avLst>
          </a:prstGeom>
          <a:noFill/>
          <a:ln w="31750">
            <a:solidFill>
              <a:srgbClr val="EA4335"/>
            </a:solidFill>
          </a:ln>
        </p:spPr>
        <p:txBody>
          <a:bodyPr/>
          <a:lstStyle/>
          <a:p>
            <a:endParaRPr lang="en-US"/>
          </a:p>
        </p:txBody>
      </p:sp>
      <p:sp>
        <p:nvSpPr>
          <p:cNvPr id="101" name="Highlight box 2"/>
          <p:cNvSpPr/>
          <p:nvPr/>
        </p:nvSpPr>
        <p:spPr>
          <a:xfrm>
            <a:off x="5688338" y="5711107"/>
            <a:ext cx="2726361" cy="250962"/>
          </a:xfrm>
          <a:prstGeom prst="roundRect">
            <a:avLst>
              <a:gd name="adj" fmla="val 15000"/>
            </a:avLst>
          </a:prstGeom>
          <a:noFill/>
          <a:ln w="31750">
            <a:solidFill>
              <a:srgbClr val="EA4335"/>
            </a:solidFill>
          </a:ln>
        </p:spPr>
        <p:txBody>
          <a:bodyPr/>
          <a:lstStyle/>
          <a:p>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14: Acknowledge the declarations</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Page 13 of 13: the last page of the form.</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Select I Acknowledge</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Tick the first red box: the information you gave is true and correct.</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Select Yes, I Agree</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Tick the second red box: you agree to finish the Learning Pathway on Google Skills on time.</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Scroll down</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Read the Points to Note before you submit, shown on the next slide.</a:t>
            </a:r>
            <a:endParaRPr lang="en-US" sz="1200" dirty="0"/>
          </a:p>
        </p:txBody>
      </p:sp>
      <p:pic>
        <p:nvPicPr>
          <p:cNvPr id="99" name="Acknowledge page" descr="Enrolment form last page with I Acknowledge and Yes, I Agree options"/>
          <p:cNvPicPr>
            <a:picLocks noChangeAspect="1"/>
          </p:cNvPicPr>
          <p:nvPr/>
        </p:nvPicPr>
        <p:blipFill>
          <a:blip r:embed="rId50"/>
          <a:srcRect l="20833" t="29630" r="20833" b="14815"/>
          <a:stretch>
            <a:fillRect/>
          </a:stretch>
        </p:blipFill>
        <p:spPr>
          <a:xfrm>
            <a:off x="5120640" y="2011680"/>
            <a:ext cx="6519672" cy="3492681"/>
          </a:xfrm>
          <a:prstGeom prst="roundRect">
            <a:avLst>
              <a:gd name="adj" fmla="val 2000"/>
            </a:avLst>
          </a:prstGeom>
          <a:ln w="12700">
            <a:solidFill>
              <a:srgbClr val="DADCE0"/>
            </a:solidFill>
          </a:ln>
        </p:spPr>
      </p:pic>
      <p:sp>
        <p:nvSpPr>
          <p:cNvPr id="100" name="Highlight box 1"/>
          <p:cNvSpPr/>
          <p:nvPr/>
        </p:nvSpPr>
        <p:spPr>
          <a:xfrm>
            <a:off x="6040379" y="3129338"/>
            <a:ext cx="1117658" cy="267772"/>
          </a:xfrm>
          <a:prstGeom prst="roundRect">
            <a:avLst>
              <a:gd name="adj" fmla="val 15000"/>
            </a:avLst>
          </a:prstGeom>
          <a:noFill/>
          <a:ln w="31750">
            <a:solidFill>
              <a:srgbClr val="EA4335"/>
            </a:solidFill>
          </a:ln>
        </p:spPr>
        <p:txBody>
          <a:bodyPr/>
          <a:lstStyle/>
          <a:p>
            <a:endParaRPr lang="en-US"/>
          </a:p>
        </p:txBody>
      </p:sp>
      <p:sp>
        <p:nvSpPr>
          <p:cNvPr id="101" name="Highlight box 2"/>
          <p:cNvSpPr/>
          <p:nvPr/>
        </p:nvSpPr>
        <p:spPr>
          <a:xfrm>
            <a:off x="6040379" y="4689402"/>
            <a:ext cx="954666" cy="279415"/>
          </a:xfrm>
          <a:prstGeom prst="roundRect">
            <a:avLst>
              <a:gd name="adj" fmla="val 15000"/>
            </a:avLst>
          </a:prstGeom>
          <a:noFill/>
          <a:ln w="31750">
            <a:solidFill>
              <a:srgbClr val="EA4335"/>
            </a:solidFill>
          </a:ln>
        </p:spPr>
        <p:txBody>
          <a:bodyPr/>
          <a:lstStyle/>
          <a:p>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15: Read the notes and submit</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Check everything, then submit the form only once.</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Read the points to note</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A wrong profile URL gets you rejected. Submit only once: if you fill it again, earlier entries are deleted.</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Submit</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Press Submit (last red box) once all answers are correct. A copy is emailed to you.</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Wait for your result</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Submitting does not guarantee a seat. For queries, contact your GDG on Campus Organizers.</a:t>
            </a:r>
            <a:endParaRPr lang="en-US" sz="1200" dirty="0"/>
          </a:p>
        </p:txBody>
      </p:sp>
      <p:pic>
        <p:nvPicPr>
          <p:cNvPr id="99" name="Submit page" descr="Enrolment form last page with Points to Note and the Submit button"/>
          <p:cNvPicPr>
            <a:picLocks noChangeAspect="1"/>
          </p:cNvPicPr>
          <p:nvPr/>
        </p:nvPicPr>
        <p:blipFill>
          <a:blip r:embed="rId50"/>
          <a:srcRect l="20833" t="12037" r="20833" b="21296"/>
          <a:stretch>
            <a:fillRect/>
          </a:stretch>
        </p:blipFill>
        <p:spPr>
          <a:xfrm>
            <a:off x="5251196" y="2011680"/>
            <a:ext cx="6258560" cy="4023360"/>
          </a:xfrm>
          <a:prstGeom prst="roundRect">
            <a:avLst>
              <a:gd name="adj" fmla="val 2000"/>
            </a:avLst>
          </a:prstGeom>
          <a:ln w="12700">
            <a:solidFill>
              <a:srgbClr val="DADCE0"/>
            </a:solidFill>
          </a:ln>
        </p:spPr>
      </p:pic>
      <p:sp>
        <p:nvSpPr>
          <p:cNvPr id="100" name="Highlight box 1"/>
          <p:cNvSpPr/>
          <p:nvPr/>
        </p:nvSpPr>
        <p:spPr>
          <a:xfrm>
            <a:off x="6346444" y="2682240"/>
            <a:ext cx="4269232" cy="307340"/>
          </a:xfrm>
          <a:prstGeom prst="roundRect">
            <a:avLst>
              <a:gd name="adj" fmla="val 15000"/>
            </a:avLst>
          </a:prstGeom>
          <a:noFill/>
          <a:ln w="31750">
            <a:solidFill>
              <a:srgbClr val="EA4335"/>
            </a:solidFill>
          </a:ln>
        </p:spPr>
        <p:txBody>
          <a:bodyPr/>
          <a:lstStyle/>
          <a:p>
            <a:endParaRPr lang="en-US"/>
          </a:p>
        </p:txBody>
      </p:sp>
      <p:sp>
        <p:nvSpPr>
          <p:cNvPr id="101" name="Highlight box 2"/>
          <p:cNvSpPr/>
          <p:nvPr/>
        </p:nvSpPr>
        <p:spPr>
          <a:xfrm>
            <a:off x="6346444" y="3017520"/>
            <a:ext cx="4269232" cy="648208"/>
          </a:xfrm>
          <a:prstGeom prst="roundRect">
            <a:avLst>
              <a:gd name="adj" fmla="val 15000"/>
            </a:avLst>
          </a:prstGeom>
          <a:noFill/>
          <a:ln w="31750">
            <a:solidFill>
              <a:srgbClr val="EA4335"/>
            </a:solidFill>
          </a:ln>
        </p:spPr>
        <p:txBody>
          <a:bodyPr/>
          <a:lstStyle/>
          <a:p>
            <a:endParaRPr lang="en-US"/>
          </a:p>
        </p:txBody>
      </p:sp>
      <p:sp>
        <p:nvSpPr>
          <p:cNvPr id="102" name="Highlight box 3"/>
          <p:cNvSpPr/>
          <p:nvPr/>
        </p:nvSpPr>
        <p:spPr>
          <a:xfrm>
            <a:off x="6698488" y="5588000"/>
            <a:ext cx="754380" cy="312928"/>
          </a:xfrm>
          <a:prstGeom prst="roundRect">
            <a:avLst>
              <a:gd name="adj" fmla="val 15000"/>
            </a:avLst>
          </a:prstGeom>
          <a:noFill/>
          <a:ln w="31750">
            <a:solidFill>
              <a:srgbClr val="EA4335"/>
            </a:solidFill>
          </a:ln>
        </p:spPr>
        <p:txBody>
          <a:bodyPr/>
          <a:lstStyle/>
          <a:p>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1">
    <p:bg>
      <p:bgPr>
        <a:solidFill>
          <a:srgbClr val="F8F9FA"/>
        </a:solidFill>
        <a:effectLst/>
      </p:bgPr>
    </p:bg>
    <p:spTree>
      <p:nvGrpSpPr>
        <p:cNvPr id="1" name=""/>
        <p:cNvGrpSpPr/>
        <p:nvPr/>
      </p:nvGrpSpPr>
      <p:grpSpPr>
        <a:xfrm>
          <a:off x="0" y="0"/>
          <a:ext cx="0" cy="0"/>
          <a:chOff x="0" y="0"/>
          <a:chExt cx="0" cy="0"/>
        </a:xfrm>
      </p:grpSpPr>
      <p:pic>
        <p:nvPicPr>
          <p:cNvPr id="2" name="Image 0" descr="ellipse"/>
          <p:cNvPicPr>
            <a:picLocks noChangeAspect="1"/>
          </p:cNvPicPr>
          <p:nvPr/>
        </p:nvPicPr>
        <p:blipFill>
          <a:blip r:embed="rId3"/>
          <a:srcRect/>
          <a:stretch/>
        </p:blipFill>
        <p:spPr>
          <a:xfrm>
            <a:off x="9524999" y="0"/>
            <a:ext cx="3302000" cy="3302000"/>
          </a:xfrm>
          <a:prstGeom prst="rect">
            <a:avLst/>
          </a:prstGeom>
        </p:spPr>
      </p:pic>
      <p:pic>
        <p:nvPicPr>
          <p:cNvPr id="3" name="Image 1" descr="ellipse"/>
          <p:cNvPicPr>
            <a:picLocks noChangeAspect="1"/>
          </p:cNvPicPr>
          <p:nvPr/>
        </p:nvPicPr>
        <p:blipFill>
          <a:blip r:embed="rId4"/>
          <a:srcRect/>
          <a:stretch/>
        </p:blipFill>
        <p:spPr>
          <a:xfrm>
            <a:off x="10794999" y="2667000"/>
            <a:ext cx="1905000" cy="1905000"/>
          </a:xfrm>
          <a:prstGeom prst="rect">
            <a:avLst/>
          </a:prstGeom>
        </p:spPr>
      </p:pic>
      <p:pic>
        <p:nvPicPr>
          <p:cNvPr id="4" name="Image 2" descr="ellipse"/>
          <p:cNvPicPr>
            <a:picLocks noChangeAspect="1"/>
          </p:cNvPicPr>
          <p:nvPr/>
        </p:nvPicPr>
        <p:blipFill>
          <a:blip r:embed="rId5"/>
          <a:srcRect/>
          <a:stretch/>
        </p:blipFill>
        <p:spPr>
          <a:xfrm>
            <a:off x="9016999" y="4445000"/>
            <a:ext cx="1524000" cy="1524000"/>
          </a:xfrm>
          <a:prstGeom prst="rect">
            <a:avLst/>
          </a:prstGeom>
        </p:spPr>
      </p:pic>
      <p:pic>
        <p:nvPicPr>
          <p:cNvPr id="5" name="Image 3" descr="ellipse"/>
          <p:cNvPicPr>
            <a:picLocks noChangeAspect="1"/>
          </p:cNvPicPr>
          <p:nvPr/>
        </p:nvPicPr>
        <p:blipFill>
          <a:blip r:embed="rId6"/>
          <a:srcRect/>
          <a:stretch/>
        </p:blipFill>
        <p:spPr>
          <a:xfrm>
            <a:off x="10921999" y="5461000"/>
            <a:ext cx="2159000" cy="2159000"/>
          </a:xfrm>
          <a:prstGeom prst="rect">
            <a:avLst/>
          </a:prstGeom>
        </p:spPr>
      </p:pic>
      <p:pic>
        <p:nvPicPr>
          <p:cNvPr id="6" name="Image 4" descr="ellipse"/>
          <p:cNvPicPr>
            <a:picLocks noChangeAspect="1"/>
          </p:cNvPicPr>
          <p:nvPr/>
        </p:nvPicPr>
        <p:blipFill>
          <a:blip r:embed="rId7"/>
          <a:srcRect/>
          <a:stretch/>
        </p:blipFill>
        <p:spPr>
          <a:xfrm>
            <a:off x="812788" y="1397124"/>
            <a:ext cx="152363" cy="152363"/>
          </a:xfrm>
          <a:prstGeom prst="rect">
            <a:avLst/>
          </a:prstGeom>
        </p:spPr>
      </p:pic>
      <p:pic>
        <p:nvPicPr>
          <p:cNvPr id="7" name="Image 5" descr="ellipse"/>
          <p:cNvPicPr>
            <a:picLocks noChangeAspect="1"/>
          </p:cNvPicPr>
          <p:nvPr/>
        </p:nvPicPr>
        <p:blipFill>
          <a:blip r:embed="rId8"/>
          <a:srcRect/>
          <a:stretch/>
        </p:blipFill>
        <p:spPr>
          <a:xfrm>
            <a:off x="1066725" y="1397124"/>
            <a:ext cx="152363" cy="152363"/>
          </a:xfrm>
          <a:prstGeom prst="rect">
            <a:avLst/>
          </a:prstGeom>
        </p:spPr>
      </p:pic>
      <p:pic>
        <p:nvPicPr>
          <p:cNvPr id="8" name="Image 6" descr="ellipse"/>
          <p:cNvPicPr>
            <a:picLocks noChangeAspect="1"/>
          </p:cNvPicPr>
          <p:nvPr/>
        </p:nvPicPr>
        <p:blipFill>
          <a:blip r:embed="rId9"/>
          <a:srcRect/>
          <a:stretch/>
        </p:blipFill>
        <p:spPr>
          <a:xfrm>
            <a:off x="1320663" y="1397124"/>
            <a:ext cx="152363" cy="152363"/>
          </a:xfrm>
          <a:prstGeom prst="rect">
            <a:avLst/>
          </a:prstGeom>
        </p:spPr>
      </p:pic>
      <p:pic>
        <p:nvPicPr>
          <p:cNvPr id="9" name="Image 7" descr="ellipse"/>
          <p:cNvPicPr>
            <a:picLocks noChangeAspect="1"/>
          </p:cNvPicPr>
          <p:nvPr/>
        </p:nvPicPr>
        <p:blipFill>
          <a:blip r:embed="rId10"/>
          <a:srcRect/>
          <a:stretch/>
        </p:blipFill>
        <p:spPr>
          <a:xfrm>
            <a:off x="1574601" y="1397124"/>
            <a:ext cx="152363" cy="152363"/>
          </a:xfrm>
          <a:prstGeom prst="rect">
            <a:avLst/>
          </a:prstGeom>
        </p:spPr>
      </p:pic>
      <p:sp>
        <p:nvSpPr>
          <p:cNvPr id="10" name="Text 0"/>
          <p:cNvSpPr/>
          <p:nvPr/>
        </p:nvSpPr>
        <p:spPr>
          <a:xfrm>
            <a:off x="1828539" y="1340011"/>
            <a:ext cx="7289899" cy="292050"/>
          </a:xfrm>
          <a:prstGeom prst="rect">
            <a:avLst/>
          </a:prstGeom>
          <a:noFill/>
          <a:ln/>
        </p:spPr>
        <p:txBody>
          <a:bodyPr wrap="square" lIns="0" tIns="0" rIns="0" bIns="0" rtlCol="0" anchor="t"/>
          <a:lstStyle/>
          <a:p>
            <a:pPr marL="0" indent="0" algn="l">
              <a:lnSpc>
                <a:spcPts val="2100"/>
              </a:lnSpc>
              <a:buNone/>
            </a:pPr>
            <a:r>
              <a:rPr lang="en-US" sz="1500" dirty="0">
                <a:solidFill>
                  <a:srgbClr val="5F6368"/>
                </a:solidFill>
                <a:latin typeface="Google Sans" pitchFamily="34" charset="0"/>
                <a:ea typeface="Google Sans" pitchFamily="34" charset="-122"/>
                <a:cs typeface="Google Sans" pitchFamily="34" charset="-120"/>
              </a:rPr>
              <a:t>Google Developer Groups on Campus · A. P. Shah Institute of Technology</a:t>
            </a:r>
            <a:endParaRPr lang="en-US" sz="1500" dirty="0"/>
          </a:p>
        </p:txBody>
      </p:sp>
      <p:sp>
        <p:nvSpPr>
          <p:cNvPr id="11" name="Text 1"/>
          <p:cNvSpPr>
            <a:spLocks noGrp="1"/>
          </p:cNvSpPr>
          <p:nvPr>
            <p:ph type="title"/>
          </p:nvPr>
        </p:nvSpPr>
        <p:spPr>
          <a:xfrm>
            <a:off x="812788" y="1835237"/>
            <a:ext cx="8110219" cy="1732210"/>
          </a:xfrm>
          <a:prstGeom prst="rect">
            <a:avLst/>
          </a:prstGeom>
          <a:noFill/>
          <a:ln/>
        </p:spPr>
        <p:txBody>
          <a:bodyPr wrap="square" lIns="0" tIns="0" rIns="0" bIns="0" rtlCol="0" anchor="t"/>
          <a:lstStyle/>
          <a:p>
            <a:pPr marL="0" indent="0" algn="l">
              <a:lnSpc>
                <a:spcPts val="6720"/>
              </a:lnSpc>
              <a:buNone/>
            </a:pPr>
            <a:r>
              <a:rPr lang="en-US" sz="6400" b="1" i="0" dirty="0">
                <a:solidFill>
                  <a:srgbClr val="202124"/>
                </a:solidFill>
                <a:latin typeface="Google Sans" pitchFamily="34" charset="0"/>
                <a:ea typeface="Google Sans" pitchFamily="34" charset="-122"/>
                <a:cs typeface="Google Sans" pitchFamily="34" charset="-120"/>
              </a:rPr>
              <a:t>Part 1 </a:t>
            </a:r>
            <a:r>
              <a:rPr lang="en-US" sz="6400" b="1" i="0" dirty="0">
                <a:solidFill>
                  <a:srgbClr val="4285F4"/>
                </a:solidFill>
                <a:latin typeface="Google Sans" pitchFamily="34" charset="0"/>
                <a:ea typeface="Google Sans" pitchFamily="34" charset="-122"/>
                <a:cs typeface="Google Sans" pitchFamily="34" charset="-120"/>
              </a:rPr>
              <a:t>complete!</a:t>
            </a:r>
            <a:endParaRPr lang="en-US" sz="6400" dirty="0"/>
          </a:p>
        </p:txBody>
      </p:sp>
      <p:sp>
        <p:nvSpPr>
          <p:cNvPr id="12" name="Text 2"/>
          <p:cNvSpPr/>
          <p:nvPr/>
        </p:nvSpPr>
        <p:spPr>
          <a:xfrm>
            <a:off x="812788" y="3770622"/>
            <a:ext cx="7848599" cy="416570"/>
          </a:xfrm>
          <a:prstGeom prst="rect">
            <a:avLst/>
          </a:prstGeom>
          <a:noFill/>
          <a:ln/>
        </p:spPr>
        <p:txBody>
          <a:bodyPr wrap="square" lIns="0" tIns="0" rIns="0" bIns="0" rtlCol="0" anchor="t"/>
          <a:lstStyle/>
          <a:p>
            <a:pPr marL="0" indent="0" algn="l">
              <a:lnSpc>
                <a:spcPts val="3080"/>
              </a:lnSpc>
              <a:buNone/>
            </a:pPr>
            <a:r>
              <a:rPr lang="en-US" sz="2200" dirty="0">
                <a:solidFill>
                  <a:srgbClr val="3C4043"/>
                </a:solidFill>
                <a:latin typeface="Google Sans" pitchFamily="34" charset="0"/>
                <a:ea typeface="Google Sans" pitchFamily="34" charset="-122"/>
                <a:cs typeface="Google Sans" pitchFamily="34" charset="-120"/>
              </a:rPr>
              <a:t>Enrolment form submitted, </a:t>
            </a:r>
            <a:r>
              <a:rPr lang="en-US" sz="2200" b="1" dirty="0">
                <a:solidFill>
                  <a:srgbClr val="34A853"/>
                </a:solidFill>
                <a:latin typeface="Google Sans" pitchFamily="34" charset="0"/>
                <a:ea typeface="Google Sans" pitchFamily="34" charset="-122"/>
                <a:cs typeface="Google Sans" pitchFamily="34" charset="-120"/>
              </a:rPr>
              <a:t>now the second form</a:t>
            </a:r>
            <a:endParaRPr lang="en-US" sz="2200" dirty="0"/>
          </a:p>
        </p:txBody>
      </p:sp>
      <p:sp>
        <p:nvSpPr>
          <p:cNvPr id="13" name="Text 3"/>
          <p:cNvSpPr/>
          <p:nvPr/>
        </p:nvSpPr>
        <p:spPr>
          <a:xfrm>
            <a:off x="812788" y="4390367"/>
            <a:ext cx="8046720" cy="777240"/>
          </a:xfrm>
          <a:prstGeom prst="rect">
            <a:avLst/>
          </a:prstGeom>
          <a:noFill/>
          <a:ln/>
        </p:spPr>
        <p:txBody>
          <a:bodyPr wrap="square" lIns="0" tIns="0" rIns="0" bIns="0" rtlCol="0" anchor="t"/>
          <a:lstStyle/>
          <a:p>
            <a:pPr marL="0" indent="0" algn="l">
              <a:lnSpc>
                <a:spcPts val="2100"/>
              </a:lnSpc>
              <a:buNone/>
            </a:pPr>
            <a:r>
              <a:rPr lang="en-US" sz="1400" dirty="0">
                <a:solidFill>
                  <a:srgbClr val="5F6368"/>
                </a:solidFill>
                <a:latin typeface="Google Sans" pitchFamily="34" charset="0"/>
                <a:ea typeface="Google Sans" pitchFamily="34" charset="-122"/>
                <a:cs typeface="Google Sans" pitchFamily="34" charset="-120"/>
              </a:rPr>
              <a:t>Well done! Next, check your inbox for the form receipt, then fill in the second form to confirm your seat. You are not finished yet.</a:t>
            </a:r>
            <a:endParaRPr lang="en-US" sz="1400" dirty="0"/>
          </a:p>
        </p:txBody>
      </p:sp>
      <p:sp>
        <p:nvSpPr>
          <p:cNvPr id="14" name="Text 4"/>
          <p:cNvSpPr/>
          <p:nvPr/>
        </p:nvSpPr>
        <p:spPr>
          <a:xfrm>
            <a:off x="812788" y="5152243"/>
            <a:ext cx="1403015" cy="365683"/>
          </a:xfrm>
          <a:prstGeom prst="roundRect">
            <a:avLst>
              <a:gd name="adj" fmla="val 50000"/>
            </a:avLst>
          </a:prstGeom>
          <a:solidFill>
            <a:srgbClr val="E8F0FE"/>
          </a:solidFill>
          <a:ln/>
        </p:spPr>
        <p:txBody>
          <a:bodyPr wrap="none" lIns="0" tIns="0" rIns="0" bIns="0" rtlCol="0" anchor="ctr"/>
          <a:lstStyle/>
          <a:p>
            <a:pPr marL="0" indent="0" algn="ctr">
              <a:lnSpc>
                <a:spcPts val="1680"/>
              </a:lnSpc>
              <a:buNone/>
            </a:pPr>
            <a:r>
              <a:rPr lang="en-US" sz="1200" dirty="0">
                <a:solidFill>
                  <a:srgbClr val="1A73E8"/>
                </a:solidFill>
                <a:latin typeface="Google Sans" pitchFamily="34" charset="0"/>
                <a:ea typeface="Google Sans" pitchFamily="34" charset="-122"/>
                <a:cs typeface="Google Sans" pitchFamily="34" charset="-120"/>
              </a:rPr>
              <a:t>Part 1 done</a:t>
            </a:r>
            <a:endParaRPr lang="en-US" sz="1200" dirty="0"/>
          </a:p>
        </p:txBody>
      </p:sp>
      <p:sp>
        <p:nvSpPr>
          <p:cNvPr id="15" name="Text 5"/>
          <p:cNvSpPr/>
          <p:nvPr/>
        </p:nvSpPr>
        <p:spPr>
          <a:xfrm>
            <a:off x="2317378" y="5152243"/>
            <a:ext cx="1181695" cy="365683"/>
          </a:xfrm>
          <a:prstGeom prst="roundRect">
            <a:avLst>
              <a:gd name="adj" fmla="val 50000"/>
            </a:avLst>
          </a:prstGeom>
          <a:solidFill>
            <a:srgbClr val="FCE8E6"/>
          </a:solidFill>
          <a:ln/>
        </p:spPr>
        <p:txBody>
          <a:bodyPr wrap="none" lIns="0" tIns="0" rIns="0" bIns="0" rtlCol="0" anchor="ctr"/>
          <a:lstStyle/>
          <a:p>
            <a:pPr marL="0" indent="0" algn="ctr">
              <a:lnSpc>
                <a:spcPts val="1680"/>
              </a:lnSpc>
              <a:buNone/>
            </a:pPr>
            <a:r>
              <a:rPr lang="en-US" sz="1200" dirty="0">
                <a:solidFill>
                  <a:srgbClr val="C5221F"/>
                </a:solidFill>
                <a:latin typeface="Google Sans" pitchFamily="34" charset="0"/>
                <a:ea typeface="Google Sans" pitchFamily="34" charset="-122"/>
                <a:cs typeface="Google Sans" pitchFamily="34" charset="-120"/>
              </a:rPr>
              <a:t>Check inbox</a:t>
            </a:r>
            <a:endParaRPr lang="en-US" sz="1200" dirty="0"/>
          </a:p>
        </p:txBody>
      </p:sp>
      <p:sp>
        <p:nvSpPr>
          <p:cNvPr id="16" name="Text 6"/>
          <p:cNvSpPr/>
          <p:nvPr/>
        </p:nvSpPr>
        <p:spPr>
          <a:xfrm>
            <a:off x="3600648" y="5152243"/>
            <a:ext cx="1909155" cy="365683"/>
          </a:xfrm>
          <a:prstGeom prst="roundRect">
            <a:avLst>
              <a:gd name="adj" fmla="val 50000"/>
            </a:avLst>
          </a:prstGeom>
          <a:solidFill>
            <a:srgbClr val="E6F4EA"/>
          </a:solidFill>
          <a:ln/>
        </p:spPr>
        <p:txBody>
          <a:bodyPr wrap="none" lIns="0" tIns="0" rIns="0" bIns="0" rtlCol="0" anchor="ctr"/>
          <a:lstStyle/>
          <a:p>
            <a:pPr marL="0" indent="0" algn="ctr">
              <a:lnSpc>
                <a:spcPts val="1680"/>
              </a:lnSpc>
              <a:buNone/>
            </a:pPr>
            <a:r>
              <a:rPr lang="en-US" sz="1200" dirty="0">
                <a:solidFill>
                  <a:srgbClr val="137333"/>
                </a:solidFill>
                <a:latin typeface="Google Sans" pitchFamily="34" charset="0"/>
                <a:ea typeface="Google Sans" pitchFamily="34" charset="-122"/>
                <a:cs typeface="Google Sans" pitchFamily="34" charset="-120"/>
              </a:rPr>
              <a:t>Then form 2</a:t>
            </a:r>
            <a:endParaRPr lang="en-US" sz="1200" dirty="0"/>
          </a:p>
        </p:txBody>
      </p:sp>
      <p:sp>
        <p:nvSpPr>
          <p:cNvPr id="17" name="Text 7"/>
          <p:cNvSpPr/>
          <p:nvPr/>
        </p:nvSpPr>
        <p:spPr>
          <a:xfrm>
            <a:off x="5611378" y="5152243"/>
            <a:ext cx="1988654" cy="365683"/>
          </a:xfrm>
          <a:prstGeom prst="roundRect">
            <a:avLst>
              <a:gd name="adj" fmla="val 50000"/>
            </a:avLst>
          </a:prstGeom>
          <a:solidFill>
            <a:srgbClr val="FEF7E0"/>
          </a:solidFill>
          <a:ln/>
        </p:spPr>
        <p:txBody>
          <a:bodyPr wrap="none" lIns="0" tIns="0" rIns="0" bIns="0" rtlCol="0" anchor="ctr"/>
          <a:lstStyle/>
          <a:p>
            <a:pPr marL="0" indent="0" algn="ctr">
              <a:lnSpc>
                <a:spcPts val="1680"/>
              </a:lnSpc>
              <a:buNone/>
            </a:pPr>
            <a:r>
              <a:rPr lang="en-US" sz="1200" dirty="0">
                <a:solidFill>
                  <a:srgbClr val="B06000"/>
                </a:solidFill>
                <a:latin typeface="Google Sans" pitchFamily="34" charset="0"/>
                <a:ea typeface="Google Sans" pitchFamily="34" charset="-122"/>
                <a:cs typeface="Google Sans" pitchFamily="34" charset="-120"/>
              </a:rPr>
              <a:t>Not done yet</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16: Check your confirmation email</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Your first form is done. Now look in your inbox.</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Find the email</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Look for Thanks for filling out this form from Forms Response Receipts.</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Open it</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It confirms your enrolment form was received.</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Open the second form</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This is the next step, shown on the next slide. It is mandatory.</a:t>
            </a:r>
            <a:endParaRPr lang="en-US" sz="1200" dirty="0"/>
          </a:p>
        </p:txBody>
      </p:sp>
      <p:pic>
        <p:nvPicPr>
          <p:cNvPr id="99" name="Screenshot" descr="Gmail inbox with the Google Forms confirmation email"/>
          <p:cNvPicPr>
            <a:picLocks noChangeAspect="1"/>
          </p:cNvPicPr>
          <p:nvPr/>
        </p:nvPicPr>
        <p:blipFill>
          <a:blip r:embed="rId50"/>
          <a:srcRect l="17708" t="7870" r="3646" b="1852"/>
          <a:stretch>
            <a:fillRect/>
          </a:stretch>
        </p:blipFill>
        <p:spPr>
          <a:xfrm>
            <a:off x="5264951" y="2011680"/>
            <a:ext cx="6231050" cy="4023360"/>
          </a:xfrm>
          <a:prstGeom prst="roundRect">
            <a:avLst>
              <a:gd name="adj" fmla="val 2000"/>
            </a:avLst>
          </a:prstGeom>
          <a:ln w="12700">
            <a:solidFill>
              <a:srgbClr val="DADCE0"/>
            </a:solidFill>
          </a:ln>
        </p:spPr>
      </p:pic>
      <p:sp>
        <p:nvSpPr>
          <p:cNvPr id="100" name="Highlight box 1"/>
          <p:cNvSpPr/>
          <p:nvPr/>
        </p:nvSpPr>
        <p:spPr>
          <a:xfrm>
            <a:off x="5632212" y="2350055"/>
            <a:ext cx="5133395" cy="367261"/>
          </a:xfrm>
          <a:prstGeom prst="roundRect">
            <a:avLst>
              <a:gd name="adj" fmla="val 15000"/>
            </a:avLst>
          </a:prstGeom>
          <a:noFill/>
          <a:ln w="31750">
            <a:solidFill>
              <a:srgbClr val="EA4335"/>
            </a:solidFill>
          </a:ln>
        </p:spPr>
        <p:txBody>
          <a:bodyPr/>
          <a:lstStyle/>
          <a:p>
            <a:endParaRPr lang="en-US"/>
          </a:p>
        </p:txBody>
      </p:sp>
      <p:sp>
        <p:nvSpPr>
          <p:cNvPr id="101" name="Highlight box 2"/>
          <p:cNvSpPr/>
          <p:nvPr/>
        </p:nvSpPr>
        <p:spPr>
          <a:xfrm>
            <a:off x="5632212" y="2775087"/>
            <a:ext cx="2232449" cy="173314"/>
          </a:xfrm>
          <a:prstGeom prst="roundRect">
            <a:avLst>
              <a:gd name="adj" fmla="val 15000"/>
            </a:avLst>
          </a:prstGeom>
          <a:noFill/>
          <a:ln w="31750">
            <a:solidFill>
              <a:srgbClr val="EA4335"/>
            </a:solidFill>
          </a:ln>
        </p:spPr>
        <p:txBody>
          <a:bodyPr/>
          <a:lstStyle/>
          <a:p>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17: Open the second form</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This step is mandatory to confirm your seat for the Main event.</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Open the second form</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Click </a:t>
            </a:r>
            <a:r>
              <a:rPr u="sng" lang="en-US" sz="1200" dirty="0">
                <a:solidFill>
                  <a:srgbClr val="1A73E8"/>
                </a:solidFill>
                <a:latin typeface="Google Sans" pitchFamily="34" charset="0"/>
                <a:ea typeface="Google Sans" pitchFamily="34" charset="-122"/>
                <a:cs typeface="Google Sans" pitchFamily="34" charset="-120"/>
                <a:hlinkClick r:id="rId60"/>
              </a:rPr>
              <a:t>forms.gle/kkvPUmsR8FRjVuf47</a:t>
            </a:r>
            <a:r>
              <a:rPr lang="en-US" sz="1200" dirty="0">
                <a:solidFill>
                  <a:srgbClr val="3C4043"/>
                </a:solidFill>
                <a:latin typeface="Google Sans" pitchFamily="34" charset="0"/>
                <a:ea typeface="Google Sans" pitchFamily="34" charset="-122"/>
                <a:cs typeface="Google Sans" pitchFamily="34" charset="-120"/>
              </a:rPr>
              <a:t> to open it.</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Tick the email box</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Keep the box ticked so your email is recorded with your response.</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Enter your details</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Type your full name, then fill in the questions below it.</a:t>
            </a:r>
            <a:endParaRPr lang="en-US" sz="1200" dirty="0"/>
          </a:p>
        </p:txBody>
      </p:sp>
      <p:pic>
        <p:nvPicPr>
          <p:cNvPr id="99" name="Screenshot" descr="Second form: Confirmation for Learn With Communities Campaign"/>
          <p:cNvPicPr>
            <a:picLocks noChangeAspect="1"/>
          </p:cNvPicPr>
          <p:nvPr/>
        </p:nvPicPr>
        <p:blipFill>
          <a:blip r:embed="rId50"/>
          <a:srcRect l="20833" t="23148" r="20833" b="7407"/>
          <a:stretch>
            <a:fillRect/>
          </a:stretch>
        </p:blipFill>
        <p:spPr>
          <a:xfrm>
            <a:off x="5376367" y="2011680"/>
            <a:ext cx="6008218" cy="4023360"/>
          </a:xfrm>
          <a:prstGeom prst="roundRect">
            <a:avLst>
              <a:gd name="adj" fmla="val 2000"/>
            </a:avLst>
          </a:prstGeom>
          <a:ln w="12700">
            <a:solidFill>
              <a:srgbClr val="DADCE0"/>
            </a:solidFill>
          </a:ln>
        </p:spPr>
      </p:pic>
      <p:sp>
        <p:nvSpPr>
          <p:cNvPr id="100" name="Highlight box 1"/>
          <p:cNvSpPr/>
          <p:nvPr/>
        </p:nvSpPr>
        <p:spPr>
          <a:xfrm>
            <a:off x="6223955" y="4500799"/>
            <a:ext cx="4130650" cy="386243"/>
          </a:xfrm>
          <a:prstGeom prst="roundRect">
            <a:avLst>
              <a:gd name="adj" fmla="val 15000"/>
            </a:avLst>
          </a:prstGeom>
          <a:noFill/>
          <a:ln w="31750">
            <a:solidFill>
              <a:srgbClr val="EA4335"/>
            </a:solidFill>
          </a:ln>
        </p:spPr>
        <p:txBody>
          <a:bodyPr/>
          <a:lstStyle/>
          <a:p>
            <a:endParaRPr lang="en-US"/>
          </a:p>
        </p:txBody>
      </p:sp>
      <p:sp>
        <p:nvSpPr>
          <p:cNvPr id="101" name="Highlight box 2"/>
          <p:cNvSpPr/>
          <p:nvPr/>
        </p:nvSpPr>
        <p:spPr>
          <a:xfrm>
            <a:off x="6223955" y="5680984"/>
            <a:ext cx="2199437" cy="278953"/>
          </a:xfrm>
          <a:prstGeom prst="roundRect">
            <a:avLst>
              <a:gd name="adj" fmla="val 15000"/>
            </a:avLst>
          </a:prstGeom>
          <a:noFill/>
          <a:ln w="31750">
            <a:solidFill>
              <a:srgbClr val="EA4335"/>
            </a:solidFill>
          </a:ln>
        </p:spPr>
        <p:txBody>
          <a:bodyPr/>
          <a:lstStyle/>
          <a:p>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18: Join WhatsApp and submit</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The last page of the second form confirms your seat.</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Open the WhatsApp group link</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Click Learn With Communities Whatsapp Group and join the group.</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Join the group</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The form asks you to join the event WhatsApp group to confirm your seat.</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Submit</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Press Submit to finish the second form.</a:t>
            </a:r>
            <a:endParaRPr lang="en-US" sz="1200" dirty="0"/>
          </a:p>
        </p:txBody>
      </p:sp>
      <p:pic>
        <p:nvPicPr>
          <p:cNvPr id="99" name="Screenshot" descr="Second form last page with the WhatsApp group link and Submit"/>
          <p:cNvPicPr>
            <a:picLocks noChangeAspect="1"/>
          </p:cNvPicPr>
          <p:nvPr/>
        </p:nvPicPr>
        <p:blipFill>
          <a:blip r:embed="rId50"/>
          <a:srcRect l="20833" t="23148" r="20833" b="21296"/>
          <a:stretch>
            <a:fillRect/>
          </a:stretch>
        </p:blipFill>
        <p:spPr>
          <a:xfrm>
            <a:off x="5120640" y="2011680"/>
            <a:ext cx="6519672" cy="3492681"/>
          </a:xfrm>
          <a:prstGeom prst="roundRect">
            <a:avLst>
              <a:gd name="adj" fmla="val 2000"/>
            </a:avLst>
          </a:prstGeom>
          <a:ln w="12700">
            <a:solidFill>
              <a:srgbClr val="DADCE0"/>
            </a:solidFill>
          </a:ln>
        </p:spPr>
      </p:pic>
      <p:sp>
        <p:nvSpPr>
          <p:cNvPr id="100" name="Highlight box 1"/>
          <p:cNvSpPr/>
          <p:nvPr/>
        </p:nvSpPr>
        <p:spPr>
          <a:xfrm>
            <a:off x="5987989" y="4555516"/>
            <a:ext cx="2235316" cy="250309"/>
          </a:xfrm>
          <a:prstGeom prst="roundRect">
            <a:avLst>
              <a:gd name="adj" fmla="val 15000"/>
            </a:avLst>
          </a:prstGeom>
          <a:noFill/>
          <a:ln w="31750">
            <a:solidFill>
              <a:srgbClr val="EA4335"/>
            </a:solidFill>
          </a:ln>
        </p:spPr>
        <p:txBody>
          <a:bodyPr/>
          <a:lstStyle/>
          <a:p>
            <a:endParaRPr lang="en-US"/>
          </a:p>
        </p:txBody>
      </p:sp>
      <p:sp>
        <p:nvSpPr>
          <p:cNvPr id="101" name="Highlight box 2"/>
          <p:cNvSpPr/>
          <p:nvPr/>
        </p:nvSpPr>
        <p:spPr>
          <a:xfrm>
            <a:off x="6605030" y="5015386"/>
            <a:ext cx="832422" cy="372553"/>
          </a:xfrm>
          <a:prstGeom prst="roundRect">
            <a:avLst>
              <a:gd name="adj" fmla="val 15000"/>
            </a:avLst>
          </a:prstGeom>
          <a:noFill/>
          <a:ln w="31750">
            <a:solidFill>
              <a:srgbClr val="EA4335"/>
            </a:solidFill>
          </a:ln>
        </p:spPr>
        <p:txBody>
          <a:bodyPr/>
          <a:lstStyle/>
          <a:p>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0">
    <p:bg>
      <p:bgPr>
        <a:solidFill>
          <a:srgbClr val="1A73E8"/>
        </a:solidFill>
        <a:effectLst/>
      </p:bgPr>
    </p:bg>
    <p:spTree>
      <p:nvGrpSpPr>
        <p:cNvPr id="1" name=""/>
        <p:cNvGrpSpPr/>
        <p:nvPr/>
      </p:nvGrpSpPr>
      <p:grpSpPr>
        <a:xfrm>
          <a:off x="0" y="0"/>
          <a:ext cx="0" cy="0"/>
          <a:chOff x="0" y="0"/>
          <a:chExt cx="0" cy="0"/>
        </a:xfrm>
      </p:grpSpPr>
      <p:pic>
        <p:nvPicPr>
          <p:cNvPr id="2" name="Image 0" descr="ellipse"/>
          <p:cNvPicPr>
            <a:picLocks noChangeAspect="1"/>
          </p:cNvPicPr>
          <p:nvPr/>
        </p:nvPicPr>
        <p:blipFill>
          <a:blip r:embed="rId3"/>
          <a:srcRect/>
          <a:stretch/>
        </p:blipFill>
        <p:spPr>
          <a:xfrm>
            <a:off x="10413999" y="0"/>
            <a:ext cx="2286000" cy="2286000"/>
          </a:xfrm>
          <a:prstGeom prst="rect">
            <a:avLst/>
          </a:prstGeom>
        </p:spPr>
      </p:pic>
      <p:pic>
        <p:nvPicPr>
          <p:cNvPr id="3" name="Image 1" descr="ellipse"/>
          <p:cNvPicPr>
            <a:picLocks noChangeAspect="1"/>
          </p:cNvPicPr>
          <p:nvPr/>
        </p:nvPicPr>
        <p:blipFill>
          <a:blip r:embed="rId4"/>
          <a:srcRect/>
          <a:stretch/>
        </p:blipFill>
        <p:spPr>
          <a:xfrm>
            <a:off x="11302999" y="1905000"/>
            <a:ext cx="1270000" cy="1270000"/>
          </a:xfrm>
          <a:prstGeom prst="rect">
            <a:avLst/>
          </a:prstGeom>
        </p:spPr>
      </p:pic>
      <p:pic>
        <p:nvPicPr>
          <p:cNvPr id="4" name="Image 2" descr="ellipse"/>
          <p:cNvPicPr>
            <a:picLocks noChangeAspect="1"/>
          </p:cNvPicPr>
          <p:nvPr/>
        </p:nvPicPr>
        <p:blipFill>
          <a:blip r:embed="rId5"/>
          <a:srcRect/>
          <a:stretch/>
        </p:blipFill>
        <p:spPr>
          <a:xfrm>
            <a:off x="10794999" y="5334000"/>
            <a:ext cx="2032000" cy="2032000"/>
          </a:xfrm>
          <a:prstGeom prst="rect">
            <a:avLst/>
          </a:prstGeom>
        </p:spPr>
      </p:pic>
      <p:sp>
        <p:nvSpPr>
          <p:cNvPr id="5" name="Text 0"/>
          <p:cNvSpPr/>
          <p:nvPr/>
        </p:nvSpPr>
        <p:spPr>
          <a:xfrm>
            <a:off x="812788" y="711150"/>
            <a:ext cx="10883417" cy="292050"/>
          </a:xfrm>
          <a:prstGeom prst="rect">
            <a:avLst/>
          </a:prstGeom>
          <a:noFill/>
          <a:ln/>
        </p:spPr>
        <p:txBody>
          <a:bodyPr wrap="square" lIns="0" tIns="0" rIns="0" bIns="0" rtlCol="0" anchor="t"/>
          <a:lstStyle/>
          <a:p>
            <a:pPr marL="0" indent="0" algn="l">
              <a:lnSpc>
                <a:spcPts val="2100"/>
              </a:lnSpc>
              <a:buNone/>
            </a:pPr>
            <a:r>
              <a:rPr lang="en-US" sz="1500" b="1" dirty="0">
                <a:solidFill>
                  <a:srgbClr val="FEF7E0"/>
                </a:solidFill>
                <a:latin typeface="Google Sans" pitchFamily="34" charset="0"/>
                <a:ea typeface="Google Sans" pitchFamily="34" charset="-122"/>
                <a:cs typeface="Google Sans" pitchFamily="34" charset="-120"/>
              </a:rPr>
              <a:t>Both parts are complete</a:t>
            </a:r>
            <a:endParaRPr lang="en-US" sz="1500" dirty="0"/>
          </a:p>
        </p:txBody>
      </p:sp>
      <p:sp>
        <p:nvSpPr>
          <p:cNvPr id="6" name="Text 1"/>
          <p:cNvSpPr>
            <a:spLocks noGrp="1"/>
          </p:cNvSpPr>
          <p:nvPr>
            <p:ph type="title"/>
          </p:nvPr>
        </p:nvSpPr>
        <p:spPr>
          <a:xfrm>
            <a:off x="812788" y="1206376"/>
            <a:ext cx="9509760" cy="612093"/>
          </a:xfrm>
          <a:prstGeom prst="rect">
            <a:avLst/>
          </a:prstGeom>
          <a:noFill/>
          <a:ln/>
        </p:spPr>
        <p:txBody>
          <a:bodyPr wrap="square" lIns="0" tIns="0" rIns="0" bIns="0" rtlCol="0" anchor="t"/>
          <a:lstStyle/>
          <a:p>
            <a:pPr marL="0" indent="0" algn="l">
              <a:lnSpc>
                <a:spcPts val="4620"/>
              </a:lnSpc>
              <a:buNone/>
            </a:pPr>
            <a:r>
              <a:rPr lang="en-US" sz="3800" b="1" i="0" dirty="0">
                <a:solidFill>
                  <a:srgbClr val="FFFFFF"/>
                </a:solidFill>
                <a:latin typeface="Google Sans" pitchFamily="34" charset="0"/>
                <a:ea typeface="Google Sans" pitchFamily="34" charset="-122"/>
                <a:cs typeface="Google Sans" pitchFamily="34" charset="-120"/>
              </a:rPr>
              <a:t>Congratulations, you're done!</a:t>
            </a:r>
            <a:endParaRPr lang="en-US" sz="4400" dirty="0"/>
          </a:p>
        </p:txBody>
      </p:sp>
      <p:sp>
        <p:nvSpPr>
          <p:cNvPr id="7" name="Shape 2"/>
          <p:cNvSpPr/>
          <p:nvPr/>
        </p:nvSpPr>
        <p:spPr>
          <a:xfrm>
            <a:off x="812788" y="2021644"/>
            <a:ext cx="4559287" cy="1112490"/>
          </a:xfrm>
          <a:prstGeom prst="roundRect">
            <a:avLst>
              <a:gd name="adj" fmla="val 11416"/>
            </a:avLst>
          </a:prstGeom>
          <a:solidFill>
            <a:srgbClr val="FFFFFF"/>
          </a:solidFill>
          <a:ln/>
        </p:spPr>
        <p:txBody>
          <a:bodyPr/>
          <a:lstStyle/>
          <a:p>
            <a:endParaRPr/>
          </a:p>
        </p:txBody>
      </p:sp>
      <p:sp>
        <p:nvSpPr>
          <p:cNvPr id="8" name="Text 3"/>
          <p:cNvSpPr/>
          <p:nvPr/>
        </p:nvSpPr>
        <p:spPr>
          <a:xfrm>
            <a:off x="1015938" y="2199432"/>
            <a:ext cx="4277576" cy="253975"/>
          </a:xfrm>
          <a:prstGeom prst="rect">
            <a:avLst/>
          </a:prstGeom>
          <a:noFill/>
          <a:ln/>
        </p:spPr>
        <p:txBody>
          <a:bodyPr wrap="square" lIns="0" tIns="0" rIns="0" bIns="0" rtlCol="0" anchor="t"/>
          <a:lstStyle/>
          <a:p>
            <a:pPr marL="0" indent="0" algn="l">
              <a:lnSpc>
                <a:spcPts val="1800"/>
              </a:lnSpc>
              <a:buNone/>
            </a:pPr>
            <a:r>
              <a:rPr lang="en-US" sz="1500" b="1" dirty="0">
                <a:solidFill>
                  <a:srgbClr val="202124"/>
                </a:solidFill>
                <a:latin typeface="Google Sans" pitchFamily="34" charset="0"/>
                <a:ea typeface="Google Sans" pitchFamily="34" charset="-122"/>
                <a:cs typeface="Google Sans" pitchFamily="34" charset="-120"/>
              </a:rPr>
              <a:t>Jamil Khan</a:t>
            </a:r>
            <a:endParaRPr lang="en-US" sz="1500" dirty="0"/>
          </a:p>
        </p:txBody>
      </p:sp>
      <p:sp>
        <p:nvSpPr>
          <p:cNvPr id="9" name="Text 4"/>
          <p:cNvSpPr/>
          <p:nvPr/>
        </p:nvSpPr>
        <p:spPr>
          <a:xfrm>
            <a:off x="1015938" y="2478794"/>
            <a:ext cx="4277576" cy="238782"/>
          </a:xfrm>
          <a:prstGeom prst="rect">
            <a:avLst/>
          </a:prstGeom>
          <a:noFill/>
          <a:ln/>
        </p:spPr>
        <p:txBody>
          <a:bodyPr wrap="square" lIns="0" tIns="0" rIns="0" bIns="0" rtlCol="0" anchor="t"/>
          <a:lstStyle/>
          <a:p>
            <a:pPr marL="0" indent="0" algn="l">
              <a:lnSpc>
                <a:spcPts val="1680"/>
              </a:lnSpc>
              <a:buNone/>
            </a:pPr>
            <a:r>
              <a:rPr lang="en-US" sz="1200" dirty="0">
                <a:solidFill>
                  <a:srgbClr val="5F6368"/>
                </a:solidFill>
                <a:latin typeface="Google Sans" pitchFamily="34" charset="0"/>
                <a:ea typeface="Google Sans" pitchFamily="34" charset="-122"/>
                <a:cs typeface="Google Sans" pitchFamily="34" charset="-120"/>
              </a:rPr>
              <a:t>+91 79000 46862</a:t>
            </a:r>
            <a:endParaRPr lang="en-US" sz="1200" dirty="0"/>
          </a:p>
        </p:txBody>
      </p:sp>
      <p:sp>
        <p:nvSpPr>
          <p:cNvPr id="10" name="Text 5"/>
          <p:cNvSpPr/>
          <p:nvPr/>
        </p:nvSpPr>
        <p:spPr>
          <a:xfrm>
            <a:off x="1015938" y="2742964"/>
            <a:ext cx="4277576" cy="238782"/>
          </a:xfrm>
          <a:prstGeom prst="rect">
            <a:avLst/>
          </a:prstGeom>
          <a:noFill/>
          <a:ln/>
        </p:spPr>
        <p:txBody>
          <a:bodyPr wrap="square" lIns="0" tIns="0" rIns="0" bIns="0" rtlCol="0" anchor="t"/>
          <a:lstStyle/>
          <a:p>
            <a:pPr marL="0" indent="0" algn="l">
              <a:lnSpc>
                <a:spcPts val="1680"/>
              </a:lnSpc>
              <a:buNone/>
            </a:pPr>
            <a:r>
              <a:rPr lang="en-US" sz="1200" u="sng" dirty="0">
                <a:solidFill>
                  <a:srgbClr val="1A73E8"/>
                </a:solidFill>
                <a:latin typeface="Google Sans" pitchFamily="34" charset="0"/>
                <a:ea typeface="Google Sans" pitchFamily="34" charset="-122"/>
                <a:cs typeface="Google Sans" pitchFamily="34" charset="-120"/>
                <a:hlinkClick r:id="rId6">
                  <a:extLst>
                    <a:ext uri="{A12FA001-AC4F-418D-AE19-62706E023703}">
                      <ahyp:hlinkClr xmlns:ahyp="http://schemas.microsoft.com/office/drawing/2018/hyperlinkcolor" val="tx"/>
                    </a:ext>
                  </a:extLst>
                </a:hlinkClick>
              </a:rPr>
              <a:t>Message on WhatsApp</a:t>
            </a:r>
            <a:endParaRPr lang="en-US" sz="1200" dirty="0"/>
          </a:p>
        </p:txBody>
      </p:sp>
      <p:sp>
        <p:nvSpPr>
          <p:cNvPr id="11" name="Shape 6"/>
          <p:cNvSpPr/>
          <p:nvPr/>
        </p:nvSpPr>
        <p:spPr>
          <a:xfrm>
            <a:off x="5524438" y="2021644"/>
            <a:ext cx="4559349" cy="1112490"/>
          </a:xfrm>
          <a:prstGeom prst="roundRect">
            <a:avLst>
              <a:gd name="adj" fmla="val 11416"/>
            </a:avLst>
          </a:prstGeom>
          <a:solidFill>
            <a:srgbClr val="FFFFFF"/>
          </a:solidFill>
          <a:ln/>
        </p:spPr>
        <p:txBody>
          <a:bodyPr/>
          <a:lstStyle/>
          <a:p>
            <a:endParaRPr/>
          </a:p>
        </p:txBody>
      </p:sp>
      <p:sp>
        <p:nvSpPr>
          <p:cNvPr id="12" name="Text 7"/>
          <p:cNvSpPr/>
          <p:nvPr/>
        </p:nvSpPr>
        <p:spPr>
          <a:xfrm>
            <a:off x="5727588" y="2199432"/>
            <a:ext cx="4277640" cy="253975"/>
          </a:xfrm>
          <a:prstGeom prst="rect">
            <a:avLst/>
          </a:prstGeom>
          <a:noFill/>
          <a:ln/>
        </p:spPr>
        <p:txBody>
          <a:bodyPr wrap="square" lIns="0" tIns="0" rIns="0" bIns="0" rtlCol="0" anchor="t"/>
          <a:lstStyle/>
          <a:p>
            <a:pPr marL="0" indent="0" algn="l">
              <a:lnSpc>
                <a:spcPts val="1800"/>
              </a:lnSpc>
              <a:buNone/>
            </a:pPr>
            <a:r>
              <a:rPr lang="en-US" sz="1500" b="1" dirty="0">
                <a:solidFill>
                  <a:srgbClr val="202124"/>
                </a:solidFill>
                <a:latin typeface="Google Sans" pitchFamily="34" charset="0"/>
                <a:ea typeface="Google Sans" pitchFamily="34" charset="-122"/>
                <a:cs typeface="Google Sans" pitchFamily="34" charset="-120"/>
              </a:rPr>
              <a:t>Nitish Jain</a:t>
            </a:r>
            <a:endParaRPr lang="en-US" sz="1500" dirty="0"/>
          </a:p>
        </p:txBody>
      </p:sp>
      <p:sp>
        <p:nvSpPr>
          <p:cNvPr id="13" name="Text 8"/>
          <p:cNvSpPr/>
          <p:nvPr/>
        </p:nvSpPr>
        <p:spPr>
          <a:xfrm>
            <a:off x="5727588" y="2478794"/>
            <a:ext cx="4277640" cy="238782"/>
          </a:xfrm>
          <a:prstGeom prst="rect">
            <a:avLst/>
          </a:prstGeom>
          <a:noFill/>
          <a:ln/>
        </p:spPr>
        <p:txBody>
          <a:bodyPr wrap="square" lIns="0" tIns="0" rIns="0" bIns="0" rtlCol="0" anchor="t"/>
          <a:lstStyle/>
          <a:p>
            <a:pPr marL="0" indent="0" algn="l">
              <a:lnSpc>
                <a:spcPts val="1680"/>
              </a:lnSpc>
              <a:buNone/>
            </a:pPr>
            <a:r>
              <a:rPr lang="en-US" sz="1200" dirty="0">
                <a:solidFill>
                  <a:srgbClr val="5F6368"/>
                </a:solidFill>
                <a:latin typeface="Google Sans" pitchFamily="34" charset="0"/>
                <a:ea typeface="Google Sans" pitchFamily="34" charset="-122"/>
                <a:cs typeface="Google Sans" pitchFamily="34" charset="-120"/>
              </a:rPr>
              <a:t>+91 820 080 1599</a:t>
            </a:r>
            <a:endParaRPr lang="en-US" sz="1200" dirty="0"/>
          </a:p>
        </p:txBody>
      </p:sp>
      <p:sp>
        <p:nvSpPr>
          <p:cNvPr id="14" name="Text 9"/>
          <p:cNvSpPr/>
          <p:nvPr/>
        </p:nvSpPr>
        <p:spPr>
          <a:xfrm>
            <a:off x="5727588" y="2742964"/>
            <a:ext cx="4277640" cy="238782"/>
          </a:xfrm>
          <a:prstGeom prst="rect">
            <a:avLst/>
          </a:prstGeom>
          <a:noFill/>
          <a:ln/>
        </p:spPr>
        <p:txBody>
          <a:bodyPr wrap="square" lIns="0" tIns="0" rIns="0" bIns="0" rtlCol="0" anchor="t"/>
          <a:lstStyle/>
          <a:p>
            <a:pPr marL="0" indent="0" algn="l">
              <a:lnSpc>
                <a:spcPts val="1680"/>
              </a:lnSpc>
              <a:buNone/>
            </a:pPr>
            <a:r>
              <a:rPr lang="en-US" sz="1200" u="sng" dirty="0">
                <a:solidFill>
                  <a:srgbClr val="1A73E8"/>
                </a:solidFill>
                <a:latin typeface="Google Sans" pitchFamily="34" charset="0"/>
                <a:ea typeface="Google Sans" pitchFamily="34" charset="-122"/>
                <a:cs typeface="Google Sans" pitchFamily="34" charset="-120"/>
                <a:hlinkClick r:id="rId7">
                  <a:extLst>
                    <a:ext uri="{A12FA001-AC4F-418D-AE19-62706E023703}">
                      <ahyp:hlinkClr xmlns:ahyp="http://schemas.microsoft.com/office/drawing/2018/hyperlinkcolor" val="tx"/>
                    </a:ext>
                  </a:extLst>
                </a:hlinkClick>
              </a:rPr>
              <a:t>Message on WhatsApp</a:t>
            </a:r>
            <a:endParaRPr lang="en-US" sz="1200" dirty="0"/>
          </a:p>
        </p:txBody>
      </p:sp>
      <p:sp>
        <p:nvSpPr>
          <p:cNvPr id="15" name="Shape 10"/>
          <p:cNvSpPr/>
          <p:nvPr/>
        </p:nvSpPr>
        <p:spPr>
          <a:xfrm>
            <a:off x="3167368" y="3286497"/>
            <a:ext cx="4559287" cy="1112490"/>
          </a:xfrm>
          <a:prstGeom prst="roundRect">
            <a:avLst>
              <a:gd name="adj" fmla="val 11416"/>
            </a:avLst>
          </a:prstGeom>
          <a:solidFill>
            <a:srgbClr val="FFFFFF"/>
          </a:solidFill>
          <a:ln/>
        </p:spPr>
        <p:txBody>
          <a:bodyPr/>
          <a:lstStyle/>
          <a:p>
            <a:endParaRPr/>
          </a:p>
        </p:txBody>
      </p:sp>
      <p:sp>
        <p:nvSpPr>
          <p:cNvPr id="16" name="Text 11"/>
          <p:cNvSpPr/>
          <p:nvPr/>
        </p:nvSpPr>
        <p:spPr>
          <a:xfrm>
            <a:off x="3370518" y="3464285"/>
            <a:ext cx="4277576" cy="253975"/>
          </a:xfrm>
          <a:prstGeom prst="rect">
            <a:avLst/>
          </a:prstGeom>
          <a:noFill/>
          <a:ln/>
        </p:spPr>
        <p:txBody>
          <a:bodyPr wrap="square" lIns="0" tIns="0" rIns="0" bIns="0" rtlCol="0" anchor="t"/>
          <a:lstStyle/>
          <a:p>
            <a:pPr marL="0" indent="0" algn="l">
              <a:lnSpc>
                <a:spcPts val="1800"/>
              </a:lnSpc>
              <a:buNone/>
            </a:pPr>
            <a:r>
              <a:rPr lang="en-US" sz="1500" b="1" dirty="0">
                <a:solidFill>
                  <a:srgbClr val="202124"/>
                </a:solidFill>
                <a:latin typeface="Google Sans" pitchFamily="34" charset="0"/>
                <a:ea typeface="Google Sans" pitchFamily="34" charset="-122"/>
                <a:cs typeface="Google Sans" pitchFamily="34" charset="-120"/>
              </a:rPr>
              <a:t>Sairaj Lad</a:t>
            </a:r>
            <a:endParaRPr lang="en-US" sz="1500" dirty="0"/>
          </a:p>
        </p:txBody>
      </p:sp>
      <p:sp>
        <p:nvSpPr>
          <p:cNvPr id="17" name="Text 12"/>
          <p:cNvSpPr/>
          <p:nvPr/>
        </p:nvSpPr>
        <p:spPr>
          <a:xfrm>
            <a:off x="3370518" y="3743647"/>
            <a:ext cx="4277576" cy="238782"/>
          </a:xfrm>
          <a:prstGeom prst="rect">
            <a:avLst/>
          </a:prstGeom>
          <a:noFill/>
          <a:ln/>
        </p:spPr>
        <p:txBody>
          <a:bodyPr wrap="square" lIns="0" tIns="0" rIns="0" bIns="0" rtlCol="0" anchor="t"/>
          <a:lstStyle/>
          <a:p>
            <a:pPr marL="0" indent="0" algn="l">
              <a:lnSpc>
                <a:spcPts val="1680"/>
              </a:lnSpc>
              <a:buNone/>
            </a:pPr>
            <a:r>
              <a:rPr lang="en-US" sz="1200" dirty="0">
                <a:solidFill>
                  <a:srgbClr val="5F6368"/>
                </a:solidFill>
                <a:latin typeface="Google Sans" pitchFamily="34" charset="0"/>
                <a:ea typeface="Google Sans" pitchFamily="34" charset="-122"/>
                <a:cs typeface="Google Sans" pitchFamily="34" charset="-120"/>
              </a:rPr>
              <a:t>+91 98196 16475</a:t>
            </a:r>
            <a:endParaRPr lang="en-US" sz="1200" dirty="0"/>
          </a:p>
        </p:txBody>
      </p:sp>
      <p:sp>
        <p:nvSpPr>
          <p:cNvPr id="18" name="Text 13"/>
          <p:cNvSpPr/>
          <p:nvPr/>
        </p:nvSpPr>
        <p:spPr>
          <a:xfrm>
            <a:off x="3370518" y="4007817"/>
            <a:ext cx="4277576" cy="238782"/>
          </a:xfrm>
          <a:prstGeom prst="rect">
            <a:avLst/>
          </a:prstGeom>
          <a:noFill/>
          <a:ln/>
        </p:spPr>
        <p:txBody>
          <a:bodyPr wrap="square" lIns="0" tIns="0" rIns="0" bIns="0" rtlCol="0" anchor="t"/>
          <a:lstStyle/>
          <a:p>
            <a:pPr marL="0" indent="0" algn="l">
              <a:lnSpc>
                <a:spcPts val="1680"/>
              </a:lnSpc>
              <a:buNone/>
            </a:pPr>
            <a:r>
              <a:rPr lang="en-US" sz="1200" u="sng" dirty="0">
                <a:solidFill>
                  <a:srgbClr val="1A73E8"/>
                </a:solidFill>
                <a:latin typeface="Google Sans" pitchFamily="34" charset="0"/>
                <a:ea typeface="Google Sans" pitchFamily="34" charset="-122"/>
                <a:cs typeface="Google Sans" pitchFamily="34" charset="-120"/>
                <a:hlinkClick r:id="rId8">
                  <a:extLst>
                    <a:ext uri="{A12FA001-AC4F-418D-AE19-62706E023703}">
                      <ahyp:hlinkClr xmlns:ahyp="http://schemas.microsoft.com/office/drawing/2018/hyperlinkcolor" val="tx"/>
                    </a:ext>
                  </a:extLst>
                </a:hlinkClick>
              </a:rPr>
              <a:t>Message on WhatsApp</a:t>
            </a:r>
            <a:endParaRPr lang="en-US" sz="1200" dirty="0"/>
          </a:p>
        </p:txBody>
      </p:sp>
      <p:sp>
        <p:nvSpPr>
          <p:cNvPr id="23" name="Text 18"/>
          <p:cNvSpPr/>
          <p:nvPr/>
        </p:nvSpPr>
        <p:spPr>
          <a:xfrm>
            <a:off x="812788" y="4627563"/>
            <a:ext cx="10883417" cy="256456"/>
          </a:xfrm>
          <a:prstGeom prst="rect">
            <a:avLst/>
          </a:prstGeom>
          <a:noFill/>
          <a:ln/>
        </p:spPr>
        <p:txBody>
          <a:bodyPr wrap="square" lIns="0" tIns="0" rIns="0" bIns="0" rtlCol="0" anchor="t"/>
          <a:lstStyle/>
          <a:p>
            <a:pPr marL="0" indent="0" algn="l">
              <a:lnSpc>
                <a:spcPts val="1820"/>
              </a:lnSpc>
              <a:buNone/>
            </a:pPr>
            <a:r>
              <a:rPr lang="en-US" sz="1300" dirty="0">
                <a:solidFill>
                  <a:srgbClr val="E8F0FE"/>
                </a:solidFill>
                <a:latin typeface="Google Sans" pitchFamily="34" charset="0"/>
                <a:ea typeface="Google Sans" pitchFamily="34" charset="-122"/>
                <a:cs typeface="Google Sans" pitchFamily="34" charset="-120"/>
              </a:rPr>
              <a:t>Any doubt in any step? Contact the technical team above, tap a link to open WhatsApp.</a:t>
            </a:r>
            <a:endParaRPr lang="en-US" sz="1300" dirty="0"/>
          </a:p>
        </p:txBody>
      </p:sp>
    </p:spTree>
  </p:cSld>
  <p:clrMapOvr>
    <a:masterClrMapping/>
  </p:clrMapOvr>
</p:sld>
</file>

<file path=ppt/theme/theme1.xml><?xml version="1.0" encoding="utf-8"?>
<a:theme xmlns:a="http://schemas.openxmlformats.org/drawingml/2006/main" name="Learn with Communities · GDGoC APSIT 2026-27">
  <a:themeElements>
    <a:clrScheme name="Learn with Communities · GDGoC APSIT 2026-27">
      <a:dk1>
        <a:srgbClr val="3C4043"/>
      </a:dk1>
      <a:lt1>
        <a:srgbClr val="FFFFFF"/>
      </a:lt1>
      <a:dk2>
        <a:srgbClr val="6D7072"/>
      </a:dk2>
      <a:lt2>
        <a:srgbClr val="ECECEC"/>
      </a:lt2>
      <a:accent1>
        <a:srgbClr val="1A73E8"/>
      </a:accent1>
      <a:accent2>
        <a:srgbClr val="137333"/>
      </a:accent2>
      <a:accent3>
        <a:srgbClr val="C5221F"/>
      </a:accent3>
      <a:accent4>
        <a:srgbClr val="B06000"/>
      </a:accent4>
      <a:accent5>
        <a:srgbClr val="E37400"/>
      </a:accent5>
      <a:accent6>
        <a:srgbClr val="202124"/>
      </a:accent6>
      <a:hlink>
        <a:srgbClr val="0563C1"/>
      </a:hlink>
      <a:folHlink>
        <a:srgbClr val="954F72"/>
      </a:folHlink>
    </a:clrScheme>
    <a:fontScheme name="Learn with Communities · GDGoC APSIT 2026-27">
      <a:majorFont>
        <a:latin typeface="Google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oogle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29</TotalTime>
  <Words>1017</Words>
  <Application>Microsoft Office PowerPoint</Application>
  <PresentationFormat>Widescreen</PresentationFormat>
  <Paragraphs>122</Paragraphs>
  <Slides>9</Slides>
  <Notes>8</Notes>
  <HiddenSlides>0</HiddenSlides>
  <MMClips>1</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9</vt:i4>
      </vt:variant>
    </vt:vector>
  </HeadingPairs>
  <TitlesOfParts>
    <vt:vector size="13" baseType="lpstr">
      <vt:lpstr>Arial</vt:lpstr>
      <vt:lpstr>Google Sans</vt:lpstr>
      <vt:lpstr>Poppins Bold</vt:lpstr>
      <vt:lpstr>Learn with Communities · GDGoC APSIT 2026-27</vt:lpstr>
      <vt:lpstr>PowerPoint Presentation</vt:lpstr>
      <vt:lpstr>Learn with Communities</vt:lpstr>
      <vt:lpstr>What is Learn with Communities?</vt:lpstr>
      <vt:lpstr>Why you should register</vt:lpstr>
      <vt:lpstr>Rewards &amp; milestones</vt:lpstr>
      <vt:lpstr>Before you register: set up Google Skills</vt:lpstr>
      <vt:lpstr>How to register (limited seats)</vt:lpstr>
      <vt:lpstr>A look inside the labs</vt:lpstr>
      <vt:lpstr>Register early. Start learning.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Learn with Communities · GDGoC APSIT 2026-27</dc:title>
  <dc:subject/>
  <dc:creator>LOQ</dc:creator>
  <dc:description>The font files embedded in this presentation (stored inside it under ppt/fonts/) are files Google Fonts served when the presentation was exported, unpacked from WOFF2 to TrueType and wrapped as Embedded OpenType, the form PowerPoint reads. A file that named another cut of its family, unless it reserves that name, was also changed where it could be, so that PowerPoint matches it to this presentationâ€™s text: its family and style names and the weight and style it declares were rewritten, and any digital signature, which no longer matched, was removed. Google Fonts serves each family in parts, one file per range of characters, so these may not be a familyâ€™s complete files. Each familyâ€™s copyright lines and license follow, and each family stays under its own license; if you pass this file on, keep these notices with it.
Roboto
Copyright 2011 The Roboto Project Authors (https://github.com/googlefonts/roboto-classic)
This Font Software is licensed under the SIL Open Font License, Version 1.1.
This license is copied below, and is also available with a FAQ at:
https://openfontlicense.org
-----------------------------------------------------------
SIL OPEN FONT LICENSE Version 1.1 - 26 February 2007
-----------------------------------------------------------
PREAMBLE
The goals of the Open Font License (OFL) are to stimulate worldwide
development of collaborative font projects, to support the font creation
efforts of academic and linguistic communities, and to provide a free and
open framework in which fonts may be shared and improved in partnership
with others.
The OFL allows the licensed fonts to be used, studied, modified and
redistributed freely as long as they are not sold by themselves. The
fonts, including any derivative works, can be bundled, embedded,
redistributed and/or sold with any software provided that any reserved
names are not used by derivative works. The fonts and derivatives,
however, cannot be released under any other type of license. The
requirement for fonts to remain under this license does not apply
to any document creat</dc:description>
  <cp:lastModifiedBy>Nishit Jain</cp:lastModifiedBy>
  <cp:revision>7</cp:revision>
  <dcterms:created xsi:type="dcterms:W3CDTF">2026-10-24T14:14:01Z</dcterms:created>
  <dcterms:modified xsi:type="dcterms:W3CDTF">2026-10-25T10:28:21Z</dcterms:modified>
</cp:coreProperties>
</file>