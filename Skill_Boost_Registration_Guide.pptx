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presProps" Target="presProps.xml"/><Relationship Id="rId12" Type="http://schemas.openxmlformats.org/officeDocument/2006/relationships/font" Target="fonts/font1.fntdata"/><Relationship Id="rId17" Type="http://schemas.microsoft.com/office/2016/11/relationships/changesInfo" Target="changesInfos/changesInfo1.xml"/><Relationship Id="rId16" Type="http://schemas.openxmlformats.org/officeDocument/2006/relationships/tableStyles" Target="tableStyles.xml"/><Relationship Id="rId1" Type="http://schemas.openxmlformats.org/officeDocument/2006/relationships/slideMaster" Target="slideMasters/slideMaster1.xml"/><Relationship Id="rId11" Type="http://schemas.openxmlformats.org/officeDocument/2006/relationships/notesMaster" Target="notesMasters/notesMaster1.xml"/><Relationship Id="rId15" Type="http://schemas.openxmlformats.org/officeDocument/2006/relationships/theme" Target="theme/theme1.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 Id="rId23" Type="http://schemas.openxmlformats.org/officeDocument/2006/relationships/slide" Target="slides/slide15.xml"/>
  <Relationship Id="rId24" Type="http://schemas.openxmlformats.org/officeDocument/2006/relationships/slide" Target="slides/slide16.xml"/>
  <Relationship Id="rId25" Type="http://schemas.openxmlformats.org/officeDocument/2006/relationships/slide" Target="slides/slide17.xml"/>
  <Relationship Id="rId26" Type="http://schemas.openxmlformats.org/officeDocument/2006/relationships/slide" Target="slides/slide18.xml"/>
  <Relationship Id="rId27" Type="http://schemas.openxmlformats.org/officeDocument/2006/relationships/slide" Target="slides/slide19.xml"/>
  <Relationship Id="rId28" Type="http://schemas.openxmlformats.org/officeDocument/2006/relationships/slide" Target="slides/slide20.xml"/>
  <Relationship Id="rId29" Type="http://schemas.openxmlformats.org/officeDocument/2006/relationships/slide" Target="slides/slide21.xml"/>
  <Relationship Id="rId30" Type="http://schemas.openxmlformats.org/officeDocument/2006/relationships/slide" Target="slides/slide22.xml"/>
  <Relationship Id="rId31" Type="http://schemas.openxmlformats.org/officeDocument/2006/relationships/slide" Target="slides/slide23.xml"/>
  <Relationship Id="rId32" Type="http://schemas.openxmlformats.org/officeDocument/2006/relationships/slide" Target="slides/slide24.xml"/>
  <Relationship Id="rId33" Type="http://schemas.openxmlformats.org/officeDocument/2006/relationships/slide" Target="slides/slide25.xml"/>
  <Relationship Id="rId34" Type="http://schemas.openxmlformats.org/officeDocument/2006/relationships/slide" Target="slides/slide26.xml"/>
  <Relationship Id="rId35" Type="http://schemas.openxmlformats.org/officeDocument/2006/relationships/slide" Target="slides/slide27.xml"/>
  <Relationship Id="rId36" Type="http://schemas.openxmlformats.org/officeDocument/2006/relationships/slide" Target="slides/slide28.xml"/>
  <Relationship Id="rId37" Type="http://schemas.openxmlformats.org/officeDocument/2006/relationships/slide" Target="slides/slide29.xml"/>
  <Relationship Id="rId38" Type="http://schemas.openxmlformats.org/officeDocument/2006/relationships/slide" Target="slides/slide30.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create.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_rels/slide1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ublic_link_blur.png"/></Relationships>
</file>

<file path=ppt/slides/_rels/slide1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enrolment_form.png"/><Relationship Id="rId60" Type="http://schemas.openxmlformats.org/officeDocument/2006/relationships/hyperlink" Target="https://forms.gle/VDXwE13LoaNhA2VeA"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email.png"/></Relationships>
</file>

<file path=ppt/slides/_rels/slide1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terms.png"/></Relationships>
</file>

<file path=ppt/slides/_rels/slide1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details.png"/></Relationships>
</file>

<file path=ppt/slides/_rels/slide20.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organiser.png"/></Relationships>
</file>

<file path=ppt/slides/_rels/slide2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filled.png"/></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verify.png"/></Relationships>
</file>

<file path=ppt/slides/_rels/slide2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1" Type="http://schemas.openxmlformats.org/officeDocument/2006/relationships/image" Target="../media/profile_link_crop.png"/><Relationship Id="rId52" Type="http://schemas.openxmlformats.org/officeDocument/2006/relationships/image" Target="../media/form_url_crop.png"/></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acknowledge.png"/></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form_submit.png"/></Relationships>
</file>

<file path=ppt/slides/_rels/slide2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27.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gmail_receipt.png"/></Relationships>
</file>

<file path=ppt/slides/_rels/slide28.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econd_form.png"/><Relationship Id="rId60" Type="http://schemas.openxmlformats.org/officeDocument/2006/relationships/hyperlink" Target="https://forms.gle/kkvPUmsR8FRjVuf47" TargetMode="External"/></Relationships>
</file>

<file path=ppt/slides/_rels/slide2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whatsapp_submit.png"/></Relationships>
</file>

<file path=ppt/slides/_rels/slide30.xml.rels><?xml version="1.0" encoding="UTF-8" standalone="yes"?>
<Relationships xmlns="http://schemas.openxmlformats.org/package/2006/relationships"><Relationship Id="rId8" Type="http://schemas.openxmlformats.org/officeDocument/2006/relationships/hyperlink" Target="https://wa.me/919819616475" TargetMode="External"/><Relationship Id="rId3" Type="http://schemas.openxmlformats.org/officeDocument/2006/relationships/image" Target="../media/image23.png"/><Relationship Id="rId7" Type="http://schemas.openxmlformats.org/officeDocument/2006/relationships/hyperlink" Target="https://wa.me/918200801599" TargetMode="External"/><Relationship Id="rId1" Type="http://schemas.openxmlformats.org/officeDocument/2006/relationships/slideLayout" Target="../slideLayouts/slideLayout2.xml"/><Relationship Id="rId6" Type="http://schemas.openxmlformats.org/officeDocument/2006/relationships/hyperlink" Target="https://wa.me/917900046862" TargetMode="External"/><Relationship Id="rId5" Type="http://schemas.openxmlformats.org/officeDocument/2006/relationships/image" Target="../media/image25.png"/><Relationship Id="rId4" Type="http://schemas.openxmlformats.org/officeDocument/2006/relationships/image" Target="../media/image24.png"/></Relationships>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For everyone who missed the session: how to register for Skill Boost (now called Google Skills).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in the first red box, then click Next.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pic>
        <p:nvPicPr>
          <p:cNvPr id="99" name="Google account creation" descr="Create a Google Account page with First name, Last name and Nex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8536676" y="2792682"/>
            <a:ext cx="2950831" cy="113075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10804979" y="4279983"/>
            <a:ext cx="682528" cy="38031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215854" y="2035450"/>
            <a:ext cx="342962" cy="237696"/>
          </a:xfrm>
          <a:prstGeom prst="roundRect">
            <a:avLst>
              <a:gd name="adj" fmla="val 15000"/>
            </a:avLst>
          </a:prstGeom>
          <a:noFill/>
          <a:ln w="31750">
            <a:solidFill>
              <a:srgbClr val="EA4335"/>
            </a:solidFill>
          </a:ln>
        </p:spPr>
        <p:txBody>
          <a:bodyPr/>
          <a:lstStyle/>
          <a:p>
            <a:endParaRPr lang="en-US"/>
          </a:p>
        </p:txBody>
      </p:sp>
      <p:cxnSp>
        <p:nvCxnSpPr>
          <p:cNvPr id="110" name="Arrow 1"/>
          <p:cNvCxnSpPr/>
          <p:nvPr/>
        </p:nvCxnSpPr>
        <p:spPr>
          <a:xfrm>
            <a:off x="11385637" y="1486810"/>
            <a:ext cx="0" cy="521208"/>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rcRect l="0" t="0" r="0" b="0"/>
          <a:stretch>
            <a:fillRect/>
          </a:stretch>
        </p:blipFill>
        <p:spPr>
          <a:xfrm>
            <a:off x="5120640" y="2011680"/>
            <a:ext cx="6519672" cy="3667316"/>
          </a:xfrm>
          <a:prstGeom prst="roundRect">
            <a:avLst>
              <a:gd name="adj" fmla="val 2000"/>
            </a:avLst>
          </a:prstGeom>
          <a:ln w="12700">
            <a:solidFill>
              <a:srgbClr val="DADCE0"/>
            </a:solidFill>
          </a:ln>
        </p:spPr>
      </p:pic>
      <p:sp>
        <p:nvSpPr>
          <p:cNvPr id="100" name="Highlight box 1"/>
          <p:cNvSpPr/>
          <p:nvPr/>
        </p:nvSpPr>
        <p:spPr>
          <a:xfrm>
            <a:off x="11324515" y="2025263"/>
            <a:ext cx="234301" cy="234301"/>
          </a:xfrm>
          <a:prstGeom prst="roundRect">
            <a:avLst>
              <a:gd name="adj" fmla="val 50000"/>
            </a:avLst>
          </a:prstGeom>
          <a:noFill/>
          <a:ln w="31750">
            <a:solidFill>
              <a:srgbClr val="EA4335"/>
            </a:solidFill>
          </a:ln>
        </p:spPr>
        <p:txBody>
          <a:bodyPr/>
          <a:lstStyle/>
          <a:p>
            <a:endParaRPr lang="en-US"/>
          </a:p>
        </p:txBody>
      </p:sp>
      <p:cxnSp>
        <p:nvCxnSpPr>
          <p:cNvPr id="110" name="Arrow 1"/>
          <p:cNvCxnSpPr/>
          <p:nvPr/>
        </p:nvCxnSpPr>
        <p:spPr>
          <a:xfrm>
            <a:off x="9590789" y="3566893"/>
            <a:ext cx="521208"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87516" y="2832608"/>
            <a:ext cx="1068832" cy="21132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287516" y="5376672"/>
            <a:ext cx="865632" cy="345440"/>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5: Copy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 need this link for the registration form, so save it before you move on.</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your public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green box shows your profile link, marked with the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the link</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the whole link and copy 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Save it somewhere safe</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Notes or a message to yourself. You will need it soon.</a:t>
            </a:r>
            <a:endParaRPr lang="en-US" sz="1200" dirty="0"/>
          </a:p>
        </p:txBody>
      </p:sp>
      <p:pic>
        <p:nvPicPr>
          <p:cNvPr id="99" name="Public profile link" descr="Account settings showing the public profile link in a green box"/>
          <p:cNvPicPr>
            <a:picLocks noChangeAspect="1"/>
          </p:cNvPicPr>
          <p:nvPr/>
        </p:nvPicPr>
        <p:blipFill>
          <a:blip r:embed="rId50"/>
          <a:srcRect l="17188" t="8333" r="21875" b="0"/>
          <a:stretch>
            <a:fillRect/>
          </a:stretch>
        </p:blipFill>
        <p:spPr>
          <a:xfrm>
            <a:off x="6003036" y="2011680"/>
            <a:ext cx="4754880" cy="4023360"/>
          </a:xfrm>
          <a:prstGeom prst="roundRect">
            <a:avLst>
              <a:gd name="adj" fmla="val 2000"/>
            </a:avLst>
          </a:prstGeom>
          <a:ln w="12700">
            <a:solidFill>
              <a:srgbClr val="DADCE0"/>
            </a:solidFill>
          </a:ln>
        </p:spPr>
      </p:pic>
      <p:sp>
        <p:nvSpPr>
          <p:cNvPr id="100" name="Highlight box 1"/>
          <p:cNvSpPr/>
          <p:nvPr/>
        </p:nvSpPr>
        <p:spPr>
          <a:xfrm>
            <a:off x="6295644" y="3503168"/>
            <a:ext cx="3364992" cy="37388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6: Open the enrolment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With your profile link saved, open the Participant Enrolment Form.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form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forms.gle/VDXwE13LoaNhA2VeA</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the form title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 should see Google Cloud Learn with Communities - Participant Enrolment Form.</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before you fill</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at the top, then start filling in the form.</a:t>
            </a:r>
            <a:endParaRPr lang="en-US" sz="1200" dirty="0"/>
          </a:p>
        </p:txBody>
      </p:sp>
      <p:pic>
        <p:nvPicPr>
          <p:cNvPr id="99" name="Enrolment form" descr="Google Cloud Learn with Communities Participant Enrolment Form"/>
          <p:cNvPicPr>
            <a:picLocks noChangeAspect="1"/>
          </p:cNvPicPr>
          <p:nvPr/>
        </p:nvPicPr>
        <p:blipFill>
          <a:blip r:embed="rId50"/>
          <a:srcRect l="16667" t="1852" r="16667" b="0"/>
          <a:stretch>
            <a:fillRect/>
          </a:stretch>
        </p:blipFill>
        <p:spPr>
          <a:xfrm>
            <a:off x="5951278" y="2011680"/>
            <a:ext cx="4858397" cy="4023360"/>
          </a:xfrm>
          <a:prstGeom prst="roundRect">
            <a:avLst>
              <a:gd name="adj" fmla="val 2000"/>
            </a:avLst>
          </a:prstGeom>
          <a:ln w="12700">
            <a:solidFill>
              <a:srgbClr val="DADCE0"/>
            </a:solidFill>
          </a:ln>
        </p:spPr>
      </p:pic>
      <p:sp>
        <p:nvSpPr>
          <p:cNvPr id="100" name="Highlight box 1"/>
          <p:cNvSpPr/>
          <p:nvPr/>
        </p:nvSpPr>
        <p:spPr>
          <a:xfrm>
            <a:off x="6091716" y="3499564"/>
            <a:ext cx="4520587" cy="952701"/>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7: Enter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1 of 13: start with your email address.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your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the email of the fresh Google account you created,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Check it carefully</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Make sure there are no typos, because Google emails your access code.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Next, marked with the second red box, to go to the next page.</a:t>
            </a:r>
            <a:endParaRPr lang="en-US" sz="1200" dirty="0"/>
          </a:p>
        </p:txBody>
      </p:sp>
      <p:pic>
        <p:nvPicPr>
          <p:cNvPr id="99" name="Enrolment form screenshot" descr="Enrolment form page 1 with the Email field"/>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078220" y="4836973"/>
            <a:ext cx="2338019" cy="31739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890463" y="5431536"/>
            <a:ext cx="688442" cy="348691"/>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8: Accept the terms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2 of 13: read the terms, then accept them.</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terms</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terms above, including Communication and Tracking.</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Accept the terms</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I accept the terms,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If you decline you will not receive your Google Skills Access Code. Accept, then click Next.</a:t>
            </a:r>
            <a:endParaRPr lang="en-US" sz="1200" dirty="0"/>
          </a:p>
        </p:txBody>
      </p:sp>
      <p:pic>
        <p:nvPicPr>
          <p:cNvPr id="99" name="Enrolment form screenshot" descr="Enrolment form page 2 with the terms and the accept option"/>
          <p:cNvPicPr>
            <a:picLocks noChangeAspect="1"/>
          </p:cNvPicPr>
          <p:nvPr/>
        </p:nvPicPr>
        <p:blipFill>
          <a:blip r:embed="rId50"/>
          <a:srcRect l="20833" t="0" r="20833" b="16667"/>
          <a:stretch>
            <a:fillRect/>
          </a:stretch>
        </p:blipFill>
        <p:spPr>
          <a:xfrm>
            <a:off x="5877052" y="2011680"/>
            <a:ext cx="5006848" cy="4023360"/>
          </a:xfrm>
          <a:prstGeom prst="roundRect">
            <a:avLst>
              <a:gd name="adj" fmla="val 2000"/>
            </a:avLst>
          </a:prstGeom>
          <a:ln w="12700">
            <a:solidFill>
              <a:srgbClr val="DADCE0"/>
            </a:solidFill>
          </a:ln>
        </p:spPr>
      </p:pic>
      <p:sp>
        <p:nvSpPr>
          <p:cNvPr id="100" name="Highlight box 1"/>
          <p:cNvSpPr/>
          <p:nvPr/>
        </p:nvSpPr>
        <p:spPr>
          <a:xfrm>
            <a:off x="6346444" y="4738624"/>
            <a:ext cx="1332179" cy="32633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9: Fill in your details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3 of 13: three required fields, marked with red boxes.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full name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in the first red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Gender</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the dropdown in the second red box and choose your gender.</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Learner category</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Choose the option that fits you, such as Student, then click Next.</a:t>
            </a:r>
            <a:endParaRPr lang="en-US" sz="1200" dirty="0"/>
          </a:p>
        </p:txBody>
      </p:sp>
      <p:pic>
        <p:nvPicPr>
          <p:cNvPr id="99" name="Enrolment form screenshot" descr="Enrolment form page 3 with name, gender and learner category"/>
          <p:cNvPicPr>
            <a:picLocks noChangeAspect="1"/>
          </p:cNvPicPr>
          <p:nvPr/>
        </p:nvPicPr>
        <p:blipFill>
          <a:blip r:embed="rId50"/>
          <a:srcRect l="20833" t="11111" r="20833" b="18519"/>
          <a:stretch>
            <a:fillRect/>
          </a:stretch>
        </p:blipFill>
        <p:spPr>
          <a:xfrm>
            <a:off x="5415895" y="2011680"/>
            <a:ext cx="5929162" cy="4023360"/>
          </a:xfrm>
          <a:prstGeom prst="roundRect">
            <a:avLst>
              <a:gd name="adj" fmla="val 2000"/>
            </a:avLst>
          </a:prstGeom>
          <a:ln w="12700">
            <a:solidFill>
              <a:srgbClr val="DADCE0"/>
            </a:solidFill>
          </a:ln>
        </p:spPr>
      </p:pic>
      <p:sp>
        <p:nvSpPr>
          <p:cNvPr id="100" name="Highlight box 1"/>
          <p:cNvSpPr/>
          <p:nvPr/>
        </p:nvSpPr>
        <p:spPr>
          <a:xfrm>
            <a:off x="6051162" y="2594008"/>
            <a:ext cx="2371665" cy="307046"/>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051162" y="3711020"/>
            <a:ext cx="1932272" cy="460569"/>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051162" y="4965673"/>
            <a:ext cx="2218142" cy="46056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10: Choose your organiser</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4 of 13: the most important page, so choose carefully.</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dropdown</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Select Your Organiser Name, click the dropdown that says Choose.</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the first option</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GDG on Campus Organizer, marked with the red box.</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Do not pick the others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Do not choose GDG or Developer Community.</a:t>
            </a:r>
            <a:endParaRPr lang="en-US" sz="1200" dirty="0"/>
          </a:p>
        </p:txBody>
      </p:sp>
      <p:pic>
        <p:nvPicPr>
          <p:cNvPr id="99" name="Enrolment form screenshot" descr="Enrolment form page 4 with the organiser dropdown open"/>
          <p:cNvPicPr>
            <a:picLocks noChangeAspect="1"/>
          </p:cNvPicPr>
          <p:nvPr/>
        </p:nvPicPr>
        <p:blipFill>
          <a:blip r:embed="rId50"/>
          <a:srcRect l="20833" t="0" r="20833" b="40741"/>
          <a:stretch>
            <a:fillRect/>
          </a:stretch>
        </p:blipFill>
        <p:spPr>
          <a:xfrm>
            <a:off x="5120640" y="2011680"/>
            <a:ext cx="6519672" cy="3725527"/>
          </a:xfrm>
          <a:prstGeom prst="roundRect">
            <a:avLst>
              <a:gd name="adj" fmla="val 2000"/>
            </a:avLst>
          </a:prstGeom>
          <a:ln w="12700">
            <a:solidFill>
              <a:srgbClr val="DADCE0"/>
            </a:solidFill>
          </a:ln>
        </p:spPr>
      </p:pic>
      <p:sp>
        <p:nvSpPr>
          <p:cNvPr id="100" name="Highlight box 1"/>
          <p:cNvSpPr/>
          <p:nvPr/>
        </p:nvSpPr>
        <p:spPr>
          <a:xfrm>
            <a:off x="5824997" y="3676525"/>
            <a:ext cx="2194568" cy="48897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11: Enter the referral code</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Still on page 4: the code links your registration to GDG on Campus APSIT.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the answer box</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Please share your Organizer's Referral Code, click the answer box.</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Type GDGC-APSIT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Enter it exactly as given, in capital letters with the hyphen. Without it you cannot be credited to APSIT.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Yes, then 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Select Yes for the internet and laptop question, then click Next.</a:t>
            </a:r>
            <a:endParaRPr lang="en-US" sz="1200" dirty="0"/>
          </a:p>
        </p:txBody>
      </p:sp>
      <p:pic>
        <p:nvPicPr>
          <p:cNvPr id="99" name="Enrolment form screenshot" descr="Enrolment form page 4 with the referral code field and the laptop question"/>
          <p:cNvPicPr>
            <a:picLocks noChangeAspect="1"/>
          </p:cNvPicPr>
          <p:nvPr/>
        </p:nvPicPr>
        <p:blipFill>
          <a:blip r:embed="rId50"/>
          <a:srcRect l="20833" t="30556" r="20833" b="1852"/>
          <a:stretch>
            <a:fillRect/>
          </a:stretch>
        </p:blipFill>
        <p:spPr>
          <a:xfrm>
            <a:off x="5294063" y="2011680"/>
            <a:ext cx="6172826" cy="4023360"/>
          </a:xfrm>
          <a:prstGeom prst="roundRect">
            <a:avLst>
              <a:gd name="adj" fmla="val 2000"/>
            </a:avLst>
          </a:prstGeom>
          <a:ln w="12700">
            <a:solidFill>
              <a:srgbClr val="DADCE0"/>
            </a:solidFill>
          </a:ln>
        </p:spPr>
      </p:pic>
      <p:sp>
        <p:nvSpPr>
          <p:cNvPr id="100" name="Highlight box 1"/>
          <p:cNvSpPr/>
          <p:nvPr/>
        </p:nvSpPr>
        <p:spPr>
          <a:xfrm>
            <a:off x="5955437" y="3169085"/>
            <a:ext cx="2469131" cy="30864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955437" y="4530414"/>
            <a:ext cx="551145" cy="259038"/>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528628" y="5401223"/>
            <a:ext cx="738535" cy="374779"/>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12: Verify and confirm your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5 of 13: confirm your new Google Skills account.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verify</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Confirm you created a NEW Google Skills account on or after September 14th, 2026.</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Google Skills email</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the email you used for your Google Skills profile. Double check it for typos.</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Next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Check the email once more, then press Next.</a:t>
            </a:r>
            <a:endParaRPr lang="en-US" sz="1200" dirty="0"/>
          </a:p>
        </p:txBody>
      </p:sp>
      <p:pic>
        <p:nvPicPr>
          <p:cNvPr id="99" name="Enrolment form screenshot" descr="Enrolment form page 5 with the I verify option and Google Skills email field"/>
          <p:cNvPicPr>
            <a:picLocks noChangeAspect="1"/>
          </p:cNvPicPr>
          <p:nvPr/>
        </p:nvPicPr>
        <p:blipFill>
          <a:blip r:embed="rId50"/>
          <a:srcRect l="20833" t="23148" r="20833" b="16667"/>
          <a:stretch>
            <a:fillRect/>
          </a:stretch>
        </p:blipFill>
        <p:spPr>
          <a:xfrm>
            <a:off x="5120640" y="2011680"/>
            <a:ext cx="6519672" cy="3783738"/>
          </a:xfrm>
          <a:prstGeom prst="roundRect">
            <a:avLst>
              <a:gd name="adj" fmla="val 2000"/>
            </a:avLst>
          </a:prstGeom>
          <a:ln w="12700">
            <a:solidFill>
              <a:srgbClr val="DADCE0"/>
            </a:solidFill>
          </a:ln>
        </p:spPr>
      </p:pic>
      <p:sp>
        <p:nvSpPr>
          <p:cNvPr id="100" name="Highlight box 1"/>
          <p:cNvSpPr/>
          <p:nvPr/>
        </p:nvSpPr>
        <p:spPr>
          <a:xfrm>
            <a:off x="5819176" y="2826639"/>
            <a:ext cx="745105" cy="279415"/>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819176" y="4689402"/>
            <a:ext cx="2607869" cy="291057"/>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424574" y="5265695"/>
            <a:ext cx="780032" cy="40165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13: Paste your public profile link</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 6 of 13: use your own link, never ours.</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Copy your own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back to the green box from Step 5 (top picture) and copy YOUR profile link.</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Paste it in the form</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Paste it in the answer box (bottom picture) so it ends with your own unique ID.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Use your own, not ours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Our link is blurred on purpose. Copied links get rejected, so use only yours.</a:t>
            </a:r>
            <a:endParaRPr lang="en-US" sz="1200" dirty="0"/>
          </a:p>
        </p:txBody>
      </p:sp>
      <p:pic>
        <p:nvPicPr>
          <p:cNvPr id="99" name="Public profile link" descr="Your Google Skills public profile link, blurred"/>
          <p:cNvPicPr>
            <a:picLocks noChangeAspect="1"/>
          </p:cNvPicPr>
          <p:nvPr/>
        </p:nvPicPr>
        <p:blipFill>
          <a:blip r:embed="rId51"/>
          <a:stretch>
            <a:fillRect/>
          </a:stretch>
        </p:blipFill>
        <p:spPr>
          <a:xfrm>
            <a:off x="5500116" y="2011680"/>
            <a:ext cx="5760720" cy="1508760"/>
          </a:xfrm>
          <a:prstGeom prst="roundRect">
            <a:avLst>
              <a:gd name="adj" fmla="val 4000"/>
            </a:avLst>
          </a:prstGeom>
          <a:ln w="12700">
            <a:solidFill>
              <a:srgbClr val="DADCE0"/>
            </a:solidFill>
          </a:ln>
        </p:spPr>
      </p:pic>
      <p:pic>
        <p:nvPicPr>
          <p:cNvPr id="98" name="Form profile URL field" descr="Enrolment form page 6 with the profile URL field, blurred"/>
          <p:cNvPicPr>
            <a:picLocks noChangeAspect="1"/>
          </p:cNvPicPr>
          <p:nvPr/>
        </p:nvPicPr>
        <p:blipFill>
          <a:blip r:embed="rId52"/>
          <a:stretch>
            <a:fillRect/>
          </a:stretch>
        </p:blipFill>
        <p:spPr>
          <a:xfrm>
            <a:off x="5500116" y="3749040"/>
            <a:ext cx="5760720" cy="2509621"/>
          </a:xfrm>
          <a:prstGeom prst="roundRect">
            <a:avLst>
              <a:gd name="adj" fmla="val 4000"/>
            </a:avLst>
          </a:prstGeom>
          <a:ln w="12700">
            <a:solidFill>
              <a:srgbClr val="DADCE0"/>
            </a:solidFill>
          </a:ln>
        </p:spPr>
      </p:pic>
      <p:sp>
        <p:nvSpPr>
          <p:cNvPr id="100" name="Highlight box 1"/>
          <p:cNvSpPr/>
          <p:nvPr/>
        </p:nvSpPr>
        <p:spPr>
          <a:xfrm>
            <a:off x="5568696" y="2594610"/>
            <a:ext cx="5568696" cy="521208"/>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688338" y="5711107"/>
            <a:ext cx="2726361" cy="250962"/>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14: Acknowledge the declarations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Pages 7 to 12 need no input: just click Next until you reach page 13.</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I Acknowledge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first red box: the information you gave is true and correct.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Select Yes, I Agree</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Tick the second red box: you agree to finish the Learning Pathway on Google Skills on time.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Scroll down</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Read the Points to Note before you submit, shown on the next slide.</a:t>
            </a:r>
            <a:endParaRPr lang="en-US" sz="1200" dirty="0"/>
          </a:p>
        </p:txBody>
      </p:sp>
      <p:pic>
        <p:nvPicPr>
          <p:cNvPr id="99" name="Acknowledge page" descr="Enrolment form last page with I Acknowledge and Yes, I Agree options"/>
          <p:cNvPicPr>
            <a:picLocks noChangeAspect="1"/>
          </p:cNvPicPr>
          <p:nvPr/>
        </p:nvPicPr>
        <p:blipFill>
          <a:blip r:embed="rId50"/>
          <a:srcRect l="20833" t="29630" r="20833" b="14815"/>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6040379" y="3129338"/>
            <a:ext cx="1117658" cy="267772"/>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040379" y="4689402"/>
            <a:ext cx="954666" cy="279415"/>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15: Read the notes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Check everything, then submit the form only once.</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Read the points to note</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wrong profile URL gets you rejected. Submit only once: if you fill it again, earlier entries are deleted.</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(last red box) once all answers are correct. A copy is emailed to you.</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Wait for your result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Submitting does not guarantee a seat. For queries, contact your GDG on Campus Organizers.</a:t>
            </a:r>
            <a:endParaRPr lang="en-US" sz="1200" dirty="0"/>
          </a:p>
        </p:txBody>
      </p:sp>
      <p:pic>
        <p:nvPicPr>
          <p:cNvPr id="99" name="Submit page" descr="Enrolment form last page with Points to Note and the Submit button"/>
          <p:cNvPicPr>
            <a:picLocks noChangeAspect="1"/>
          </p:cNvPicPr>
          <p:nvPr/>
        </p:nvPicPr>
        <p:blipFill>
          <a:blip r:embed="rId50"/>
          <a:srcRect l="20833" t="12037" r="20833" b="21296"/>
          <a:stretch>
            <a:fillRect/>
          </a:stretch>
        </p:blipFill>
        <p:spPr>
          <a:xfrm>
            <a:off x="5251196" y="2011680"/>
            <a:ext cx="6258560" cy="4023360"/>
          </a:xfrm>
          <a:prstGeom prst="roundRect">
            <a:avLst>
              <a:gd name="adj" fmla="val 2000"/>
            </a:avLst>
          </a:prstGeom>
          <a:ln w="12700">
            <a:solidFill>
              <a:srgbClr val="DADCE0"/>
            </a:solidFill>
          </a:ln>
        </p:spPr>
      </p:pic>
      <p:sp>
        <p:nvSpPr>
          <p:cNvPr id="100" name="Highlight box 1"/>
          <p:cNvSpPr/>
          <p:nvPr/>
        </p:nvSpPr>
        <p:spPr>
          <a:xfrm>
            <a:off x="6346444" y="2682240"/>
            <a:ext cx="4269232" cy="307340"/>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346444" y="3017520"/>
            <a:ext cx="4269232" cy="648208"/>
          </a:xfrm>
          <a:prstGeom prst="roundRect">
            <a:avLst>
              <a:gd name="adj" fmla="val 15000"/>
            </a:avLst>
          </a:prstGeom>
          <a:noFill/>
          <a:ln w="31750">
            <a:solidFill>
              <a:srgbClr val="EA4335"/>
            </a:solidFill>
          </a:ln>
        </p:spPr>
        <p:txBody>
          <a:bodyPr/>
          <a:lstStyle/>
          <a:p>
            <a:endParaRPr lang="en-US"/>
          </a:p>
        </p:txBody>
      </p:sp>
      <p:sp>
        <p:nvSpPr>
          <p:cNvPr id="102" name="Highlight box 3"/>
          <p:cNvSpPr/>
          <p:nvPr/>
        </p:nvSpPr>
        <p:spPr>
          <a:xfrm>
            <a:off x="6698488" y="5588000"/>
            <a:ext cx="754380" cy="312928"/>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Part 1 </a:t>
            </a:r>
            <a:r>
              <a:rPr lang="en-US" sz="6400" b="1" i="0" dirty="0">
                <a:solidFill>
                  <a:srgbClr val="4285F4"/>
                </a:solidFill>
                <a:latin typeface="Google Sans" pitchFamily="34" charset="0"/>
                <a:ea typeface="Google Sans" pitchFamily="34" charset="-122"/>
                <a:cs typeface="Google Sans" pitchFamily="34" charset="-120"/>
              </a:rPr>
              <a:t>complete!</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Enrolment form submitted, </a:t>
            </a:r>
            <a:r>
              <a:rPr lang="en-US" sz="2200" b="1" dirty="0">
                <a:solidFill>
                  <a:srgbClr val="34A853"/>
                </a:solidFill>
                <a:latin typeface="Google Sans" pitchFamily="34" charset="0"/>
                <a:ea typeface="Google Sans" pitchFamily="34" charset="-122"/>
                <a:cs typeface="Google Sans" pitchFamily="34" charset="-120"/>
              </a:rPr>
              <a:t>now the second form</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Well done! Next, check your inbox for the form receipt, then fill in the second form to confirm your seat. You are not finished yet.</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Part 1 done</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Check inbox</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Then form 2</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Not done yet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16: Check your confirmation email</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Your first form is done. Now look in your inbox.</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Find the email</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Look for Thanks for filling out this form from Forms Response Receipts.</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it</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It confirms your enrolment form was received.</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This is the next step, shown on the next slide. It is mandatory.</a:t>
            </a:r>
            <a:endParaRPr lang="en-US" sz="1200" dirty="0"/>
          </a:p>
        </p:txBody>
      </p:sp>
      <p:pic>
        <p:nvPicPr>
          <p:cNvPr id="99" name="Screenshot" descr="Gmail inbox with the Google Forms confirmation email"/>
          <p:cNvPicPr>
            <a:picLocks noChangeAspect="1"/>
          </p:cNvPicPr>
          <p:nvPr/>
        </p:nvPicPr>
        <p:blipFill>
          <a:blip r:embed="rId50"/>
          <a:srcRect l="17708" t="7870" r="3646" b="1852"/>
          <a:stretch>
            <a:fillRect/>
          </a:stretch>
        </p:blipFill>
        <p:spPr>
          <a:xfrm>
            <a:off x="5264951" y="2011680"/>
            <a:ext cx="6231050" cy="4023360"/>
          </a:xfrm>
          <a:prstGeom prst="roundRect">
            <a:avLst>
              <a:gd name="adj" fmla="val 2000"/>
            </a:avLst>
          </a:prstGeom>
          <a:ln w="12700">
            <a:solidFill>
              <a:srgbClr val="DADCE0"/>
            </a:solidFill>
          </a:ln>
        </p:spPr>
      </p:pic>
      <p:sp>
        <p:nvSpPr>
          <p:cNvPr id="100" name="Highlight box 1"/>
          <p:cNvSpPr/>
          <p:nvPr/>
        </p:nvSpPr>
        <p:spPr>
          <a:xfrm>
            <a:off x="5632212" y="2350055"/>
            <a:ext cx="5133395" cy="367261"/>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5632212" y="2775087"/>
            <a:ext cx="2232449" cy="173314"/>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17: Open the second form</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This step is mandatory to confirm your seat for the Main event.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second form</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a:t>
            </a:r>
            <a:r>
              <a:rPr u="sng" lang="en-US" sz="1200" dirty="0">
                <a:solidFill>
                  <a:srgbClr val="1A73E8"/>
                </a:solidFill>
                <a:latin typeface="Google Sans" pitchFamily="34" charset="0"/>
                <a:ea typeface="Google Sans" pitchFamily="34" charset="-122"/>
                <a:cs typeface="Google Sans" pitchFamily="34" charset="-120"/>
                <a:hlinkClick r:id="rId60"/>
              </a:rPr>
              <a:t>forms.gle/kkvPUmsR8FRjVuf47</a:t>
            </a:r>
            <a:r>
              <a:rPr lang="en-US" sz="1200" dirty="0">
                <a:solidFill>
                  <a:srgbClr val="3C4043"/>
                </a:solidFill>
                <a:latin typeface="Google Sans" pitchFamily="34" charset="0"/>
                <a:ea typeface="Google Sans" pitchFamily="34" charset="-122"/>
                <a:cs typeface="Google Sans" pitchFamily="34" charset="-120"/>
              </a:rPr>
              <a:t> to open it.</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the email box</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Keep the box ticked so your email is recorded with your response.</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details</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full name, then fill in the questions below it.</a:t>
            </a:r>
            <a:endParaRPr lang="en-US" sz="1200" dirty="0"/>
          </a:p>
        </p:txBody>
      </p:sp>
      <p:pic>
        <p:nvPicPr>
          <p:cNvPr id="99" name="Screenshot" descr="Second form: Confirmation for Learn With Communities Campaign"/>
          <p:cNvPicPr>
            <a:picLocks noChangeAspect="1"/>
          </p:cNvPicPr>
          <p:nvPr/>
        </p:nvPicPr>
        <p:blipFill>
          <a:blip r:embed="rId50"/>
          <a:srcRect l="20833" t="23148" r="20833" b="7407"/>
          <a:stretch>
            <a:fillRect/>
          </a:stretch>
        </p:blipFill>
        <p:spPr>
          <a:xfrm>
            <a:off x="5376367" y="2011680"/>
            <a:ext cx="6008218" cy="4023360"/>
          </a:xfrm>
          <a:prstGeom prst="roundRect">
            <a:avLst>
              <a:gd name="adj" fmla="val 2000"/>
            </a:avLst>
          </a:prstGeom>
          <a:ln w="12700">
            <a:solidFill>
              <a:srgbClr val="DADCE0"/>
            </a:solidFill>
          </a:ln>
        </p:spPr>
      </p:pic>
      <p:sp>
        <p:nvSpPr>
          <p:cNvPr id="100" name="Highlight box 1"/>
          <p:cNvSpPr/>
          <p:nvPr/>
        </p:nvSpPr>
        <p:spPr>
          <a:xfrm>
            <a:off x="6223955" y="4500799"/>
            <a:ext cx="4130650" cy="386243"/>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223955" y="5680984"/>
            <a:ext cx="2199437" cy="27895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18: Join WhatsApp and submit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last page of the second form confirms your seat.</a:t>
            </a:r>
            <a:endParaRPr lang="en-US" sz="1400" dirty="0"/>
          </a:p>
        </p:txBody>
      </p:sp>
      <p:sp>
        <p:nvSpPr>
          <p:cNvPr id="8" name="Shape 2"/>
          <p:cNvSpPr/>
          <p:nvPr/>
        </p:nvSpPr>
        <p:spPr>
          <a:xfrm>
            <a:off x="813816" y="2011680"/>
            <a:ext cx="4069080" cy="1188720"/>
          </a:xfrm>
          <a:prstGeom prst="roundRect">
            <a:avLst>
              <a:gd name="adj" fmla="val 16484"/>
            </a:avLst>
          </a:prstGeom>
          <a:solidFill>
            <a:srgbClr val="E8F0FE"/>
          </a:solidFill>
          <a:ln/>
        </p:spPr>
      </p:sp>
      <p:sp>
        <p:nvSpPr>
          <p:cNvPr id="9" name="Text 3"/>
          <p:cNvSpPr/>
          <p:nvPr/>
        </p:nvSpPr>
        <p:spPr>
          <a:xfrm>
            <a:off x="932688"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481328" y="216712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WhatsApp group link</a:t>
            </a:r>
            <a:endParaRPr lang="en-US" sz="1600" dirty="0"/>
          </a:p>
        </p:txBody>
      </p:sp>
      <p:sp>
        <p:nvSpPr>
          <p:cNvPr id="11" name="Text 5"/>
          <p:cNvSpPr/>
          <p:nvPr/>
        </p:nvSpPr>
        <p:spPr>
          <a:xfrm>
            <a:off x="1481328" y="248716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Learn With Communities Whatsapp Group and join the group.</a:t>
            </a:r>
            <a:endParaRPr lang="en-US" sz="1200" dirty="0"/>
          </a:p>
        </p:txBody>
      </p:sp>
      <p:sp>
        <p:nvSpPr>
          <p:cNvPr id="12" name="Shape 6"/>
          <p:cNvSpPr/>
          <p:nvPr/>
        </p:nvSpPr>
        <p:spPr>
          <a:xfrm>
            <a:off x="813816" y="3337560"/>
            <a:ext cx="4069080" cy="1188720"/>
          </a:xfrm>
          <a:prstGeom prst="roundRect">
            <a:avLst>
              <a:gd name="adj" fmla="val 16484"/>
            </a:avLst>
          </a:prstGeom>
          <a:solidFill>
            <a:srgbClr val="FCE8E6"/>
          </a:solidFill>
          <a:ln/>
        </p:spPr>
      </p:sp>
      <p:sp>
        <p:nvSpPr>
          <p:cNvPr id="13" name="Text 7"/>
          <p:cNvSpPr/>
          <p:nvPr/>
        </p:nvSpPr>
        <p:spPr>
          <a:xfrm>
            <a:off x="932688" y="361188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481328" y="349300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the group</a:t>
            </a:r>
            <a:endParaRPr lang="en-US" sz="1600" dirty="0"/>
          </a:p>
        </p:txBody>
      </p:sp>
      <p:sp>
        <p:nvSpPr>
          <p:cNvPr id="15" name="Text 9"/>
          <p:cNvSpPr/>
          <p:nvPr/>
        </p:nvSpPr>
        <p:spPr>
          <a:xfrm>
            <a:off x="1481328" y="381304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The form asks you to join the event WhatsApp group to confirm your seat.</a:t>
            </a:r>
            <a:endParaRPr lang="en-US" sz="1200" dirty="0"/>
          </a:p>
        </p:txBody>
      </p:sp>
      <p:sp>
        <p:nvSpPr>
          <p:cNvPr id="16" name="Shape 10"/>
          <p:cNvSpPr/>
          <p:nvPr/>
        </p:nvSpPr>
        <p:spPr>
          <a:xfrm>
            <a:off x="813816" y="4663440"/>
            <a:ext cx="4069080" cy="1188720"/>
          </a:xfrm>
          <a:prstGeom prst="roundRect">
            <a:avLst>
              <a:gd name="adj" fmla="val 14320"/>
            </a:avLst>
          </a:prstGeom>
          <a:solidFill>
            <a:srgbClr val="FEF7E0"/>
          </a:solidFill>
          <a:ln/>
        </p:spPr>
      </p:sp>
      <p:sp>
        <p:nvSpPr>
          <p:cNvPr id="17" name="Text 11"/>
          <p:cNvSpPr/>
          <p:nvPr/>
        </p:nvSpPr>
        <p:spPr>
          <a:xfrm>
            <a:off x="932688" y="493776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481328" y="4818888"/>
            <a:ext cx="329184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Submit</a:t>
            </a:r>
            <a:endParaRPr lang="en-US" sz="1600" dirty="0"/>
          </a:p>
        </p:txBody>
      </p:sp>
      <p:sp>
        <p:nvSpPr>
          <p:cNvPr id="19" name="Text 13"/>
          <p:cNvSpPr/>
          <p:nvPr/>
        </p:nvSpPr>
        <p:spPr>
          <a:xfrm>
            <a:off x="1481328" y="5138928"/>
            <a:ext cx="3291840" cy="6858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Submit to finish the second form.</a:t>
            </a:r>
            <a:endParaRPr lang="en-US" sz="1200" dirty="0"/>
          </a:p>
        </p:txBody>
      </p:sp>
      <p:pic>
        <p:nvPicPr>
          <p:cNvPr id="99" name="Screenshot" descr="Second form last page with the WhatsApp group link and Submit"/>
          <p:cNvPicPr>
            <a:picLocks noChangeAspect="1"/>
          </p:cNvPicPr>
          <p:nvPr/>
        </p:nvPicPr>
        <p:blipFill>
          <a:blip r:embed="rId50"/>
          <a:srcRect l="20833" t="23148" r="20833" b="21296"/>
          <a:stretch>
            <a:fillRect/>
          </a:stretch>
        </p:blipFill>
        <p:spPr>
          <a:xfrm>
            <a:off x="5120640" y="2011680"/>
            <a:ext cx="6519672" cy="3492681"/>
          </a:xfrm>
          <a:prstGeom prst="roundRect">
            <a:avLst>
              <a:gd name="adj" fmla="val 2000"/>
            </a:avLst>
          </a:prstGeom>
          <a:ln w="12700">
            <a:solidFill>
              <a:srgbClr val="DADCE0"/>
            </a:solidFill>
          </a:ln>
        </p:spPr>
      </p:pic>
      <p:sp>
        <p:nvSpPr>
          <p:cNvPr id="100" name="Highlight box 1"/>
          <p:cNvSpPr/>
          <p:nvPr/>
        </p:nvSpPr>
        <p:spPr>
          <a:xfrm>
            <a:off x="5987989" y="4555516"/>
            <a:ext cx="2235316" cy="250309"/>
          </a:xfrm>
          <a:prstGeom prst="roundRect">
            <a:avLst>
              <a:gd name="adj" fmla="val 15000"/>
            </a:avLst>
          </a:prstGeom>
          <a:noFill/>
          <a:ln w="31750">
            <a:solidFill>
              <a:srgbClr val="EA4335"/>
            </a:solidFill>
          </a:ln>
        </p:spPr>
        <p:txBody>
          <a:bodyPr/>
          <a:lstStyle/>
          <a:p>
            <a:endParaRPr lang="en-US"/>
          </a:p>
        </p:txBody>
      </p:sp>
      <p:sp>
        <p:nvSpPr>
          <p:cNvPr id="101" name="Highlight box 2"/>
          <p:cNvSpPr/>
          <p:nvPr/>
        </p:nvSpPr>
        <p:spPr>
          <a:xfrm>
            <a:off x="6605030" y="5015386"/>
            <a:ext cx="832422" cy="372553"/>
          </a:xfrm>
          <a:prstGeom prst="roundRect">
            <a:avLst>
              <a:gd name="adj" fmla="val 15000"/>
            </a:avLst>
          </a:prstGeom>
          <a:noFill/>
          <a:ln w="31750">
            <a:solidFill>
              <a:srgbClr val="EA4335"/>
            </a:solid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Both parts are complete</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Congratulations, you're done!</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Jamil Khan</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+91 79000 46862</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Message on WhatsApp</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Nitish Jain</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+91 820 080 1599</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Message on WhatsApp</a:t>
            </a:r>
            <a:endParaRPr lang="en-US" sz="1200" dirty="0"/>
          </a:p>
        </p:txBody>
      </p:sp>
      <p:sp>
        <p:nvSpPr>
          <p:cNvPr id="15" name="Shape 10"/>
          <p:cNvSpPr/>
          <p:nvPr/>
        </p:nvSpPr>
        <p:spPr>
          <a:xfrm>
            <a:off x="316736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337051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Sairaj Lad</a:t>
            </a:r>
            <a:endParaRPr lang="en-US" sz="1500" dirty="0"/>
          </a:p>
        </p:txBody>
      </p:sp>
      <p:sp>
        <p:nvSpPr>
          <p:cNvPr id="17" name="Text 12"/>
          <p:cNvSpPr/>
          <p:nvPr/>
        </p:nvSpPr>
        <p:spPr>
          <a:xfrm>
            <a:off x="337051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+91 98196 16475</a:t>
            </a:r>
            <a:endParaRPr lang="en-US" sz="1200" dirty="0"/>
          </a:p>
        </p:txBody>
      </p:sp>
      <p:sp>
        <p:nvSpPr>
          <p:cNvPr id="18" name="Text 13"/>
          <p:cNvSpPr/>
          <p:nvPr/>
        </p:nvSpPr>
        <p:spPr>
          <a:xfrm>
            <a:off x="337051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Message on WhatsApp</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Any doubt in any step? Contact the technical team above, tap a link to open WhatsApp.</a:t>
            </a:r>
            <a:endParaRPr lang="en-US" sz="1300" dirty="0"/>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