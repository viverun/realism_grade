
<file path=[Content_Types].xml><?xml version="1.0" encoding="utf-8"?>
<Types xmlns="http://schemas.openxmlformats.org/package/2006/content-types">
  <Default Extension="fntdata" ContentType="application/x-fontdata"/>
  <Default Extension="gif" ContentType="image/gif"/>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1"/>
  </p:notesMasterIdLst>
  <p:sldIdLst>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Lst>
  <p:sldSz cx="12192000" cy="6858000"/>
  <p:notesSz cx="6858000" cy="12192000"/>
  <p:embeddedFontLst>
    <p:embeddedFont>
      <p:font typeface="Poppins Bold" panose="020B0604020202020204" charset="0"/>
      <p:regular r:id="rId1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3" Type="http://schemas.openxmlformats.org/officeDocument/2006/relationships/presProps" Target="presProps.xml"/><Relationship Id="rId12" Type="http://schemas.openxmlformats.org/officeDocument/2006/relationships/font" Target="fonts/font1.fntdata"/><Relationship Id="rId17" Type="http://schemas.microsoft.com/office/2016/11/relationships/changesInfo" Target="changesInfos/changesInfo1.xml"/><Relationship Id="rId16" Type="http://schemas.openxmlformats.org/officeDocument/2006/relationships/tableStyles" Target="tableStyles.xml"/><Relationship Id="rId1" Type="http://schemas.openxmlformats.org/officeDocument/2006/relationships/slideMaster" Target="slideMasters/slideMaster1.xml"/><Relationship Id="rId11" Type="http://schemas.openxmlformats.org/officeDocument/2006/relationships/notesMaster" Target="notesMasters/notesMaster1.xml"/><Relationship Id="rId15" Type="http://schemas.openxmlformats.org/officeDocument/2006/relationships/theme" Target="theme/theme1.xml"/><Relationship Id="rId14" Type="http://schemas.openxmlformats.org/officeDocument/2006/relationships/viewProps" Target="viewProps.xml"/>  <Relationship Id="rId18" Type="http://schemas.openxmlformats.org/officeDocument/2006/relationships/slide" Target="slides/slide10.xml"/>
  <Relationship Id="rId19" Type="http://schemas.openxmlformats.org/officeDocument/2006/relationships/slide" Target="slides/slide11.xml"/>
  <Relationship Id="rId20" Type="http://schemas.openxmlformats.org/officeDocument/2006/relationships/slide" Target="slides/slide12.xml"/>
  <Relationship Id="rId21" Type="http://schemas.openxmlformats.org/officeDocument/2006/relationships/slide" Target="slides/slide13.xml"/>
  <Relationship Id="rId22" Type="http://schemas.openxmlformats.org/officeDocument/2006/relationships/slide" Target="slides/slide14.xml"/>
  <Relationship Id="rId23" Type="http://schemas.openxmlformats.org/officeDocument/2006/relationships/slide" Target="slides/slide15.xml"/>
  <Relationship Id="rId24" Type="http://schemas.openxmlformats.org/officeDocument/2006/relationships/slide" Target="slides/slide16.xml"/>
  <Relationship Id="rId25" Type="http://schemas.openxmlformats.org/officeDocument/2006/relationships/slide" Target="slides/slide17.xml"/>
  <Relationship Id="rId26" Type="http://schemas.openxmlformats.org/officeDocument/2006/relationships/slide" Target="slides/slide18.xml"/>
  <Relationship Id="rId27" Type="http://schemas.openxmlformats.org/officeDocument/2006/relationships/slide" Target="slides/slide19.xml"/>
  <Relationship Id="rId28" Type="http://schemas.openxmlformats.org/officeDocument/2006/relationships/slide" Target="slides/slide20.xml"/>
  <Relationship Id="rId29" Type="http://schemas.openxmlformats.org/officeDocument/2006/relationships/slide" Target="slides/slide21.xml"/>
  <Relationship Id="rId30" Type="http://schemas.openxmlformats.org/officeDocument/2006/relationships/slide" Target="slides/slide22.xml"/>
  <Relationship Id="rId31" Type="http://schemas.openxmlformats.org/officeDocument/2006/relationships/slide" Target="slides/slide23.xml"/>
  <Relationship Id="rId32" Type="http://schemas.openxmlformats.org/officeDocument/2006/relationships/slide" Target="slides/slide24.xml"/>
  <Relationship Id="rId33" Type="http://schemas.openxmlformats.org/officeDocument/2006/relationships/slide" Target="slides/slide25.xml"/>
  <Relationship Id="rId34" Type="http://schemas.openxmlformats.org/officeDocument/2006/relationships/slide" Target="slides/slide26.xml"/>
  <Relationship Id="rId35" Type="http://schemas.openxmlformats.org/officeDocument/2006/relationships/slide" Target="slides/slide27.xml"/>
  <Relationship Id="rId36" Type="http://schemas.openxmlformats.org/officeDocument/2006/relationships/slide" Target="slides/slide28.xml"/>
  <Relationship Id="rId37" Type="http://schemas.openxmlformats.org/officeDocument/2006/relationships/slide" Target="slides/slide29.xml"/>
  <Relationship Id="rId38" Type="http://schemas.openxmlformats.org/officeDocument/2006/relationships/slide" Target="slides/slide30.xml"/>
</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shit Jain" userId="c2ba80963b7cb5e4" providerId="LiveId" clId="{B86CD3D9-95A3-4058-89D8-1F11307AEE5A}"/>
    <pc:docChg chg="modSld sldOrd">
      <pc:chgData name="Nishit Jain" userId="c2ba80963b7cb5e4" providerId="LiveId" clId="{B86CD3D9-95A3-4058-89D8-1F11307AEE5A}" dt="2026-10-25T10:28:21.665" v="7"/>
      <pc:docMkLst>
        <pc:docMk/>
      </pc:docMkLst>
      <pc:sldChg chg="ord">
        <pc:chgData name="Nishit Jain" userId="c2ba80963b7cb5e4" providerId="LiveId" clId="{B86CD3D9-95A3-4058-89D8-1F11307AEE5A}" dt="2026-10-25T10:28:03.896" v="3"/>
        <pc:sldMkLst>
          <pc:docMk/>
          <pc:sldMk cId="0" sldId="259"/>
        </pc:sldMkLst>
      </pc:sldChg>
      <pc:sldChg chg="ord">
        <pc:chgData name="Nishit Jain" userId="c2ba80963b7cb5e4" providerId="LiveId" clId="{B86CD3D9-95A3-4058-89D8-1F11307AEE5A}" dt="2026-10-25T10:28:10.330" v="5"/>
        <pc:sldMkLst>
          <pc:docMk/>
          <pc:sldMk cId="0" sldId="261"/>
        </pc:sldMkLst>
      </pc:sldChg>
      <pc:sldChg chg="ord">
        <pc:chgData name="Nishit Jain" userId="c2ba80963b7cb5e4" providerId="LiveId" clId="{B86CD3D9-95A3-4058-89D8-1F11307AEE5A}" dt="2026-10-25T10:28:21.665" v="7"/>
        <pc:sldMkLst>
          <pc:docMk/>
          <pc:sldMk cId="0" sldId="262"/>
        </pc:sldMkLst>
      </pc:sldChg>
      <pc:sldChg chg="ord">
        <pc:chgData name="Nishit Jain" userId="c2ba80963b7cb5e4" providerId="LiveId" clId="{B86CD3D9-95A3-4058-89D8-1F11307AEE5A}" dt="2026-10-25T10:27:33.891" v="1"/>
        <pc:sldMkLst>
          <pc:docMk/>
          <pc:sldMk cId="0" sldId="26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71040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26263301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11.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account_create.png"/></Relationships>
</file>

<file path=ppt/slides/_rels/slide12.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skills_home.png"/></Relationships>
</file>

<file path=ppt/slides/_rels/slide13.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profile_menu.png"/></Relationships>
</file>

<file path=ppt/slides/_rels/slide14.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account_settings.png"/></Relationships>
</file>

<file path=ppt/slides/_rels/slide15.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public_link_blur.png"/></Relationships>
</file>

<file path=ppt/slides/_rels/slide16.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enrolment_form.png"/><Relationship Id="rId60" Type="http://schemas.openxmlformats.org/officeDocument/2006/relationships/hyperlink" Target="https://forms.gle/VDXwE13LoaNhA2VeA" TargetMode="External"/></Relationships>
</file>

<file path=ppt/slides/_rels/slide17.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email.png"/></Relationships>
</file>

<file path=ppt/slides/_rels/slide18.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terms.png"/></Relationships>
</file>

<file path=ppt/slides/_rels/slide1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details.png"/></Relationships>
</file>

<file path=ppt/slides/_rels/slide20.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organiser.png"/></Relationships>
</file>

<file path=ppt/slides/_rels/slide21.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filled.png"/></Relationships>
</file>

<file path=ppt/slides/_rels/slide22.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verify.png"/></Relationships>
</file>

<file path=ppt/slides/_rels/slide23.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1" Type="http://schemas.openxmlformats.org/officeDocument/2006/relationships/image" Target="../media/profile_link_crop.png"/><Relationship Id="rId52" Type="http://schemas.openxmlformats.org/officeDocument/2006/relationships/image" Target="../media/form_url_crop.png"/></Relationships>
</file>

<file path=ppt/slides/_rels/slide24.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acknowledge.png"/></Relationships>
</file>

<file path=ppt/slides/_rels/slide25.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submit.png"/></Relationships>
</file>

<file path=ppt/slides/_rels/slide2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27.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gmail_receipt.png"/></Relationships>
</file>

<file path=ppt/slides/_rels/slide28.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second_form.png"/><Relationship Id="rId60" Type="http://schemas.openxmlformats.org/officeDocument/2006/relationships/hyperlink" Target="https://forms.gle/kkvPUmsR8FRjVuf47" TargetMode="External"/></Relationships>
</file>

<file path=ppt/slides/_rels/slide2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whatsapp_submit.png"/></Relationships>
</file>

<file path=ppt/slides/_rels/slide30.xml.rels><?xml version="1.0" encoding="UTF-8" standalone="yes"?>
<Relationships xmlns="http://schemas.openxmlformats.org/package/2006/relationships"><Relationship Id="rId8" Type="http://schemas.openxmlformats.org/officeDocument/2006/relationships/hyperlink" Target="https://wa.me/919819616475" TargetMode="External"/><Relationship Id="rId3" Type="http://schemas.openxmlformats.org/officeDocument/2006/relationships/image" Target="../media/image23.png"/><Relationship Id="rId7" Type="http://schemas.openxmlformats.org/officeDocument/2006/relationships/hyperlink" Target="https://wa.me/918200801599" TargetMode="External"/><Relationship Id="rId1" Type="http://schemas.openxmlformats.org/officeDocument/2006/relationships/slideLayout" Target="../slideLayouts/slideLayout2.xml"/><Relationship Id="rId6" Type="http://schemas.openxmlformats.org/officeDocument/2006/relationships/hyperlink" Target="https://wa.me/917900046862" TargetMode="External"/><Relationship Id="rId5" Type="http://schemas.openxmlformats.org/officeDocument/2006/relationships/image" Target="../media/image25.png"/><Relationship Id="rId4" Type="http://schemas.openxmlformats.org/officeDocument/2006/relationships/image" Target="../media/image24.png"/></Relationships>
</file>

<file path=ppt/slides/slide10.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Missed the </a:t>
            </a:r>
            <a:r>
              <a:rPr lang="en-US" sz="6400" b="1" i="0" dirty="0">
                <a:solidFill>
                  <a:srgbClr val="4285F4"/>
                </a:solidFill>
                <a:latin typeface="Google Sans" pitchFamily="34" charset="0"/>
                <a:ea typeface="Google Sans" pitchFamily="34" charset="-122"/>
                <a:cs typeface="Google Sans" pitchFamily="34" charset="-120"/>
              </a:rPr>
              <a:t>session?</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Skill Boost registration guide, </a:t>
            </a:r>
            <a:r>
              <a:rPr lang="en-US" sz="2200" b="1" dirty="0">
                <a:solidFill>
                  <a:srgbClr val="34A853"/>
                </a:solidFill>
                <a:latin typeface="Google Sans" pitchFamily="34" charset="0"/>
                <a:ea typeface="Google Sans" pitchFamily="34" charset="-122"/>
                <a:cs typeface="Google Sans" pitchFamily="34" charset="-120"/>
              </a:rPr>
              <a:t>step by step</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For anyone who missed the session: how to register for Skill Boost (now called Google Skills). Follow the screenshots to fill in both forms.</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Short steps</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Screenshots</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Both forms covered</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Register by 31 Oct 2026</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 Create a fresh Google account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Start with a new account made for this program, so only your new badges count.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sign-up page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to accounts.google.com and choose Create account, then For my personal use.</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name</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first and last name in the first red box, then click Next.</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Finish the setup properly</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Add birthday, pick a username and a strong password, and verify your phone. Note them down.</a:t>
            </a:r>
            <a:endParaRPr lang="en-US" sz="1200" dirty="0"/>
          </a:p>
        </p:txBody>
      </p:sp>
      <p:pic>
        <p:nvPicPr>
          <p:cNvPr id="99" name="Google account creation" descr="Create a Google Account page with First name, Last name and Next"/>
          <p:cNvPicPr>
            <a:picLocks noChangeAspect="1"/>
          </p:cNvPicPr>
          <p:nvPr/>
        </p:nvPicPr>
        <p:blipFill>
          <a:blip r:embed="rId50"/>
          <a:srcRect l="0" t="0" r="0" b="0"/>
          <a:stretch>
            <a:fillRect/>
          </a:stretch>
        </p:blipFill>
        <p:spPr>
          <a:xfrm>
            <a:off x="5120640" y="2011680"/>
            <a:ext cx="6519672" cy="3667316"/>
          </a:xfrm>
          <a:prstGeom prst="roundRect">
            <a:avLst>
              <a:gd name="adj" fmla="val 2000"/>
            </a:avLst>
          </a:prstGeom>
          <a:ln w="12700">
            <a:solidFill>
              <a:srgbClr val="DADCE0"/>
            </a:solidFill>
          </a:ln>
        </p:spPr>
      </p:pic>
      <p:sp>
        <p:nvSpPr>
          <p:cNvPr id="100" name="Highlight box 1"/>
          <p:cNvSpPr/>
          <p:nvPr/>
        </p:nvSpPr>
        <p:spPr>
          <a:xfrm>
            <a:off x="8523094" y="2711186"/>
            <a:ext cx="2977996" cy="1222438"/>
          </a:xfrm>
          <a:prstGeom prst="roundRect">
            <a:avLst>
              <a:gd name="adj" fmla="val 15000"/>
            </a:avLst>
          </a:prstGeom>
          <a:noFill/>
          <a:ln w="19050">
            <a:solidFill>
              <a:srgbClr val="EA4335"/>
            </a:solidFill>
          </a:ln>
        </p:spPr>
        <p:txBody>
          <a:bodyPr/>
          <a:lstStyle/>
          <a:p>
            <a:endParaRPr lang="en-US"/>
          </a:p>
        </p:txBody>
      </p:sp>
      <p:sp>
        <p:nvSpPr>
          <p:cNvPr id="101" name="Highlight box 2"/>
          <p:cNvSpPr/>
          <p:nvPr/>
        </p:nvSpPr>
        <p:spPr>
          <a:xfrm>
            <a:off x="10811770" y="4286774"/>
            <a:ext cx="668946" cy="366732"/>
          </a:xfrm>
          <a:prstGeom prst="roundRect">
            <a:avLst>
              <a:gd name="adj" fmla="val 15000"/>
            </a:avLst>
          </a:prstGeom>
          <a:noFill/>
          <a:ln w="19050">
            <a:solidFill>
              <a:srgbClr val="EA4335"/>
            </a:solidFill>
          </a:ln>
        </p:spPr>
        <p:txBody>
          <a:bodyPr/>
          <a:lstStyle/>
          <a:p>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2: Go to Google Skills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Go to this site, then join with the fresh Google account you created in Step 1.</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Go to this site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Open skills.google (Google Skills, formerly Cloud Skills Boost) in your browser.</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Join</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Join at the top right, marked with the red box and arrow.</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Join with your fresh account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Use the new Google account you just created, not an old one.</a:t>
            </a:r>
            <a:endParaRPr lang="en-US" sz="1200" dirty="0"/>
          </a:p>
        </p:txBody>
      </p:sp>
      <p:pic>
        <p:nvPicPr>
          <p:cNvPr id="99" name="Google Skills home page" descr="Google Skills home page with the Join and Sign in buttons at the top right"/>
          <p:cNvPicPr>
            <a:picLocks noChangeAspect="1"/>
          </p:cNvPicPr>
          <p:nvPr/>
        </p:nvPicPr>
        <p:blipFill>
          <a:blip r:embed="rId50"/>
          <a:srcRect l="0" t="0" r="0" b="0"/>
          <a:stretch>
            <a:fillRect/>
          </a:stretch>
        </p:blipFill>
        <p:spPr>
          <a:xfrm>
            <a:off x="5120640" y="2011680"/>
            <a:ext cx="6519672" cy="3667316"/>
          </a:xfrm>
          <a:prstGeom prst="roundRect">
            <a:avLst>
              <a:gd name="adj" fmla="val 2000"/>
            </a:avLst>
          </a:prstGeom>
          <a:ln w="12700">
            <a:solidFill>
              <a:srgbClr val="DADCE0"/>
            </a:solidFill>
          </a:ln>
        </p:spPr>
      </p:pic>
      <p:sp>
        <p:nvSpPr>
          <p:cNvPr id="100" name="Highlight box 1"/>
          <p:cNvSpPr/>
          <p:nvPr/>
        </p:nvSpPr>
        <p:spPr>
          <a:xfrm>
            <a:off x="11215854" y="2035450"/>
            <a:ext cx="342962" cy="237696"/>
          </a:xfrm>
          <a:prstGeom prst="roundRect">
            <a:avLst>
              <a:gd name="adj" fmla="val 15000"/>
            </a:avLst>
          </a:prstGeom>
          <a:noFill/>
          <a:ln w="19050">
            <a:solidFill>
              <a:srgbClr val="EA4335"/>
            </a:solidFill>
          </a:ln>
        </p:spPr>
        <p:txBody>
          <a:bodyPr/>
          <a:lstStyle/>
          <a:p>
            <a:endParaRPr lang="en-US"/>
          </a:p>
        </p:txBody>
      </p:sp>
      <p:cxnSp>
        <p:nvCxnSpPr>
          <p:cNvPr id="110" name="Arrow 1"/>
          <p:cNvCxnSpPr/>
          <p:nvPr/>
        </p:nvCxnSpPr>
        <p:spPr>
          <a:xfrm>
            <a:off x="11385637" y="1486810"/>
            <a:ext cx="0" cy="521208"/>
          </a:xfrm>
          <a:prstGeom prst="line">
            <a:avLst/>
          </a:prstGeom>
          <a:ln w="28575">
            <a:solidFill>
              <a:srgbClr val="EA4335"/>
            </a:solidFill>
            <a:tailEnd type="triangle" w="med" len="med"/>
          </a:ln>
        </p:spPr>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3: Open your profile settings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Once you have joined, open Settings from your profile menu.</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your profile icon</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your profile icon at the top right, marked with the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Settings</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Pick Settings from the menu, shown by the arrow.</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Get ready to go Public</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Next, you will set your profile to Public.</a:t>
            </a:r>
            <a:endParaRPr lang="en-US" sz="1200" dirty="0"/>
          </a:p>
        </p:txBody>
      </p:sp>
      <p:pic>
        <p:nvPicPr>
          <p:cNvPr id="99" name="Google Skills profile menu" descr="Google Skills profile menu open with the Settings option"/>
          <p:cNvPicPr>
            <a:picLocks noChangeAspect="1"/>
          </p:cNvPicPr>
          <p:nvPr/>
        </p:nvPicPr>
        <p:blipFill>
          <a:blip r:embed="rId50"/>
          <a:srcRect l="0" t="0" r="0" b="0"/>
          <a:stretch>
            <a:fillRect/>
          </a:stretch>
        </p:blipFill>
        <p:spPr>
          <a:xfrm>
            <a:off x="5120640" y="2011680"/>
            <a:ext cx="6519672" cy="3667316"/>
          </a:xfrm>
          <a:prstGeom prst="roundRect">
            <a:avLst>
              <a:gd name="adj" fmla="val 2000"/>
            </a:avLst>
          </a:prstGeom>
          <a:ln w="12700">
            <a:solidFill>
              <a:srgbClr val="DADCE0"/>
            </a:solidFill>
          </a:ln>
        </p:spPr>
      </p:pic>
      <p:sp>
        <p:nvSpPr>
          <p:cNvPr id="100" name="Highlight box 1"/>
          <p:cNvSpPr/>
          <p:nvPr/>
        </p:nvSpPr>
        <p:spPr>
          <a:xfrm>
            <a:off x="11324515" y="2025263"/>
            <a:ext cx="234301" cy="234301"/>
          </a:xfrm>
          <a:prstGeom prst="roundRect">
            <a:avLst>
              <a:gd name="adj" fmla="val 50000"/>
            </a:avLst>
          </a:prstGeom>
          <a:noFill/>
          <a:ln w="19050">
            <a:solidFill>
              <a:srgbClr val="EA4335"/>
            </a:solidFill>
          </a:ln>
        </p:spPr>
        <p:txBody>
          <a:bodyPr/>
          <a:lstStyle/>
          <a:p>
            <a:endParaRPr lang="en-US"/>
          </a:p>
        </p:txBody>
      </p:sp>
      <p:cxnSp>
        <p:nvCxnSpPr>
          <p:cNvPr id="110" name="Arrow 1"/>
          <p:cNvCxnSpPr/>
          <p:nvPr/>
        </p:nvCxnSpPr>
        <p:spPr>
          <a:xfrm>
            <a:off x="9590789" y="3566893"/>
            <a:ext cx="521208" cy="0"/>
          </a:xfrm>
          <a:prstGeom prst="line">
            <a:avLst/>
          </a:prstGeom>
          <a:ln w="28575">
            <a:solidFill>
              <a:srgbClr val="EA4335"/>
            </a:solidFill>
            <a:tailEnd type="triangle" w="med" len="med"/>
          </a:ln>
        </p:spPr>
      </p:cxn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4: Make your profile public</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In Settings, scroll down to the Public visibility section so Google can verify your badges.</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Tick Make profile public</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Scroll down to Public visibility, then tick the checkbox in the first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Update settings</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the blue button at the bottom to save, marked with the second red box.</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Your profile is now public</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Your badges can now be verified.</a:t>
            </a:r>
            <a:endParaRPr lang="en-US" sz="1200" dirty="0"/>
          </a:p>
        </p:txBody>
      </p:sp>
      <p:pic>
        <p:nvPicPr>
          <p:cNvPr id="99" name="Google Skills account settings" descr="Account settings page with Make profile public checkbox and Update settings button"/>
          <p:cNvPicPr>
            <a:picLocks noChangeAspect="1"/>
          </p:cNvPicPr>
          <p:nvPr/>
        </p:nvPicPr>
        <p:blipFill>
          <a:blip r:embed="rId50"/>
          <a:srcRect l="17188" t="8333" r="21875" b="0"/>
          <a:stretch>
            <a:fillRect/>
          </a:stretch>
        </p:blipFill>
        <p:spPr>
          <a:xfrm>
            <a:off x="6003036" y="2011680"/>
            <a:ext cx="4754880" cy="4023360"/>
          </a:xfrm>
          <a:prstGeom prst="roundRect">
            <a:avLst>
              <a:gd name="adj" fmla="val 2000"/>
            </a:avLst>
          </a:prstGeom>
          <a:ln w="12700">
            <a:solidFill>
              <a:srgbClr val="DADCE0"/>
            </a:solidFill>
          </a:ln>
        </p:spPr>
      </p:pic>
      <p:sp>
        <p:nvSpPr>
          <p:cNvPr id="100" name="Highlight box 1"/>
          <p:cNvSpPr/>
          <p:nvPr/>
        </p:nvSpPr>
        <p:spPr>
          <a:xfrm>
            <a:off x="6287516" y="2832608"/>
            <a:ext cx="1068832" cy="211328"/>
          </a:xfrm>
          <a:prstGeom prst="roundRect">
            <a:avLst>
              <a:gd name="adj" fmla="val 15000"/>
            </a:avLst>
          </a:prstGeom>
          <a:noFill/>
          <a:ln w="19050">
            <a:solidFill>
              <a:srgbClr val="EA4335"/>
            </a:solidFill>
          </a:ln>
        </p:spPr>
        <p:txBody>
          <a:bodyPr/>
          <a:lstStyle/>
          <a:p>
            <a:endParaRPr lang="en-US"/>
          </a:p>
        </p:txBody>
      </p:sp>
      <p:sp>
        <p:nvSpPr>
          <p:cNvPr id="101" name="Highlight box 2"/>
          <p:cNvSpPr/>
          <p:nvPr/>
        </p:nvSpPr>
        <p:spPr>
          <a:xfrm>
            <a:off x="6287516" y="5376672"/>
            <a:ext cx="865632" cy="345440"/>
          </a:xfrm>
          <a:prstGeom prst="roundRect">
            <a:avLst>
              <a:gd name="adj" fmla="val 15000"/>
            </a:avLst>
          </a:prstGeom>
          <a:noFill/>
          <a:ln w="19050">
            <a:solidFill>
              <a:srgbClr val="EA4335"/>
            </a:solidFill>
          </a:ln>
        </p:spPr>
        <p:txBody>
          <a:bodyPr/>
          <a:lstStyle/>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5: Copy your public profile link</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You need this link for the registration form, so save it before you move on.</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Find your public link</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green box shows your profile link, marked with the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Copy the link</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the whole link and copy it.</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Save it somewhere safe</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Paste it in Notes or a message to yourself. You will need it soon.</a:t>
            </a:r>
            <a:endParaRPr lang="en-US" sz="1200" dirty="0"/>
          </a:p>
        </p:txBody>
      </p:sp>
      <p:pic>
        <p:nvPicPr>
          <p:cNvPr id="99" name="Public profile link" descr="Account settings showing the public profile link in a green box"/>
          <p:cNvPicPr>
            <a:picLocks noChangeAspect="1"/>
          </p:cNvPicPr>
          <p:nvPr/>
        </p:nvPicPr>
        <p:blipFill>
          <a:blip r:embed="rId50"/>
          <a:srcRect l="17188" t="8333" r="21875" b="0"/>
          <a:stretch>
            <a:fillRect/>
          </a:stretch>
        </p:blipFill>
        <p:spPr>
          <a:xfrm>
            <a:off x="6003036" y="2011680"/>
            <a:ext cx="4754880" cy="4023360"/>
          </a:xfrm>
          <a:prstGeom prst="roundRect">
            <a:avLst>
              <a:gd name="adj" fmla="val 2000"/>
            </a:avLst>
          </a:prstGeom>
          <a:ln w="12700">
            <a:solidFill>
              <a:srgbClr val="DADCE0"/>
            </a:solidFill>
          </a:ln>
        </p:spPr>
      </p:pic>
      <p:sp>
        <p:nvSpPr>
          <p:cNvPr id="100" name="Highlight box 1"/>
          <p:cNvSpPr/>
          <p:nvPr/>
        </p:nvSpPr>
        <p:spPr>
          <a:xfrm>
            <a:off x="6295644" y="3503168"/>
            <a:ext cx="3364992" cy="373888"/>
          </a:xfrm>
          <a:prstGeom prst="roundRect">
            <a:avLst>
              <a:gd name="adj" fmla="val 15000"/>
            </a:avLst>
          </a:prstGeom>
          <a:noFill/>
          <a:ln w="19050">
            <a:solidFill>
              <a:srgbClr val="EA4335"/>
            </a:solidFill>
          </a:ln>
        </p:spPr>
        <p:txBody>
          <a:bodyPr/>
          <a:lstStyle/>
          <a:p>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6: Open the enrolment form</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With your profile link saved, open the Participant Enrolment Form.</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form link</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a:t>
            </a:r>
            <a:r>
              <a:rPr u="sng" lang="en-US" sz="1200" dirty="0">
                <a:solidFill>
                  <a:srgbClr val="1A73E8"/>
                </a:solidFill>
                <a:latin typeface="Google Sans" pitchFamily="34" charset="0"/>
                <a:ea typeface="Google Sans" pitchFamily="34" charset="-122"/>
                <a:cs typeface="Google Sans" pitchFamily="34" charset="-120"/>
                <a:hlinkClick r:id="rId60"/>
              </a:rPr>
              <a:t>forms.gle/VDXwE13LoaNhA2VeA</a:t>
            </a:r>
            <a:r>
              <a:rPr lang="en-US" sz="1200" dirty="0">
                <a:solidFill>
                  <a:srgbClr val="3C4043"/>
                </a:solidFill>
                <a:latin typeface="Google Sans" pitchFamily="34" charset="0"/>
                <a:ea typeface="Google Sans" pitchFamily="34" charset="-122"/>
                <a:cs typeface="Google Sans" pitchFamily="34" charset="-120"/>
              </a:rPr>
              <a:t> to open it.</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Check the form title</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 should see Google Cloud Learn with Communities - Participant Enrolment Form.</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before you fill</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points to note at the top, then start filling in the form.</a:t>
            </a:r>
            <a:endParaRPr lang="en-US" sz="1200" dirty="0"/>
          </a:p>
        </p:txBody>
      </p:sp>
      <p:pic>
        <p:nvPicPr>
          <p:cNvPr id="99" name="Enrolment form" descr="Google Cloud Learn with Communities Participant Enrolment Form"/>
          <p:cNvPicPr>
            <a:picLocks noChangeAspect="1"/>
          </p:cNvPicPr>
          <p:nvPr/>
        </p:nvPicPr>
        <p:blipFill>
          <a:blip r:embed="rId50"/>
          <a:srcRect l="16667" t="1852" r="16667" b="0"/>
          <a:stretch>
            <a:fillRect/>
          </a:stretch>
        </p:blipFill>
        <p:spPr>
          <a:xfrm>
            <a:off x="5951278" y="2011680"/>
            <a:ext cx="4858397" cy="4023360"/>
          </a:xfrm>
          <a:prstGeom prst="roundRect">
            <a:avLst>
              <a:gd name="adj" fmla="val 2000"/>
            </a:avLst>
          </a:prstGeom>
          <a:ln w="12700">
            <a:solidFill>
              <a:srgbClr val="DADCE0"/>
            </a:solidFill>
          </a:ln>
        </p:spPr>
      </p:pic>
      <p:sp>
        <p:nvSpPr>
          <p:cNvPr id="100" name="Highlight box 1"/>
          <p:cNvSpPr/>
          <p:nvPr/>
        </p:nvSpPr>
        <p:spPr>
          <a:xfrm>
            <a:off x="6091716" y="3499564"/>
            <a:ext cx="4520587" cy="952701"/>
          </a:xfrm>
          <a:prstGeom prst="roundRect">
            <a:avLst>
              <a:gd name="adj" fmla="val 15000"/>
            </a:avLst>
          </a:prstGeom>
          <a:noFill/>
          <a:ln w="19050">
            <a:solidFill>
              <a:srgbClr val="EA4335"/>
            </a:solidFill>
          </a:ln>
        </p:spPr>
        <p:txBody>
          <a:bodyPr/>
          <a:lstStyle/>
          <a:p>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7: Enter your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1 of 13: start with your email address.</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Type your email</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Enter the email of the fresh Google account you created, in the first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Check it carefully</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Make sure there are no typos, because Google emails your access code.</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Next, marked with the second red box, to go to the next page.</a:t>
            </a:r>
            <a:endParaRPr lang="en-US" sz="1200" dirty="0"/>
          </a:p>
        </p:txBody>
      </p:sp>
      <p:pic>
        <p:nvPicPr>
          <p:cNvPr id="99" name="Enrolment form screenshot" descr="Enrolment form page 1 with the Email field"/>
          <p:cNvPicPr>
            <a:picLocks noChangeAspect="1"/>
          </p:cNvPicPr>
          <p:nvPr/>
        </p:nvPicPr>
        <p:blipFill>
          <a:blip r:embed="rId50"/>
          <a:srcRect l="20833" t="0" r="20833" b="16667"/>
          <a:stretch>
            <a:fillRect/>
          </a:stretch>
        </p:blipFill>
        <p:spPr>
          <a:xfrm>
            <a:off x="5877052" y="2011680"/>
            <a:ext cx="5006848" cy="4023360"/>
          </a:xfrm>
          <a:prstGeom prst="roundRect">
            <a:avLst>
              <a:gd name="adj" fmla="val 2000"/>
            </a:avLst>
          </a:prstGeom>
          <a:ln w="12700">
            <a:solidFill>
              <a:srgbClr val="DADCE0"/>
            </a:solidFill>
          </a:ln>
        </p:spPr>
      </p:pic>
      <p:sp>
        <p:nvSpPr>
          <p:cNvPr id="100" name="Highlight box 1"/>
          <p:cNvSpPr/>
          <p:nvPr/>
        </p:nvSpPr>
        <p:spPr>
          <a:xfrm>
            <a:off x="6078220" y="4836973"/>
            <a:ext cx="2338019" cy="317398"/>
          </a:xfrm>
          <a:prstGeom prst="roundRect">
            <a:avLst>
              <a:gd name="adj" fmla="val 15000"/>
            </a:avLst>
          </a:prstGeom>
          <a:noFill/>
          <a:ln w="19050">
            <a:solidFill>
              <a:srgbClr val="EA4335"/>
            </a:solidFill>
          </a:ln>
        </p:spPr>
        <p:txBody>
          <a:bodyPr/>
          <a:lstStyle/>
          <a:p>
            <a:endParaRPr lang="en-US"/>
          </a:p>
        </p:txBody>
      </p:sp>
      <p:sp>
        <p:nvSpPr>
          <p:cNvPr id="101" name="Highlight box 2"/>
          <p:cNvSpPr/>
          <p:nvPr/>
        </p:nvSpPr>
        <p:spPr>
          <a:xfrm>
            <a:off x="5890463" y="5431536"/>
            <a:ext cx="688442" cy="348691"/>
          </a:xfrm>
          <a:prstGeom prst="roundRect">
            <a:avLst>
              <a:gd name="adj" fmla="val 15000"/>
            </a:avLst>
          </a:prstGeom>
          <a:noFill/>
          <a:ln w="19050">
            <a:solidFill>
              <a:srgbClr val="EA4335"/>
            </a:solidFill>
          </a:ln>
        </p:spPr>
        <p:txBody>
          <a:bodyPr/>
          <a:lstStyle/>
          <a:p>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8: Accept the terms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2 of 13: read the terms, then accept them.</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the terms</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terms above, including Communication and Tracking.</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Accept the terms</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Yes, I accept the terms, marked with the red box.</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If you decline you will not receive your Google Skills Access Code. Accept, then click Next.</a:t>
            </a:r>
            <a:endParaRPr lang="en-US" sz="1200" dirty="0"/>
          </a:p>
        </p:txBody>
      </p:sp>
      <p:pic>
        <p:nvPicPr>
          <p:cNvPr id="99" name="Enrolment form screenshot" descr="Enrolment form page 2 with the terms and the accept option"/>
          <p:cNvPicPr>
            <a:picLocks noChangeAspect="1"/>
          </p:cNvPicPr>
          <p:nvPr/>
        </p:nvPicPr>
        <p:blipFill>
          <a:blip r:embed="rId50"/>
          <a:srcRect l="20833" t="0" r="20833" b="16667"/>
          <a:stretch>
            <a:fillRect/>
          </a:stretch>
        </p:blipFill>
        <p:spPr>
          <a:xfrm>
            <a:off x="5877052" y="2011680"/>
            <a:ext cx="5006848" cy="4023360"/>
          </a:xfrm>
          <a:prstGeom prst="roundRect">
            <a:avLst>
              <a:gd name="adj" fmla="val 2000"/>
            </a:avLst>
          </a:prstGeom>
          <a:ln w="12700">
            <a:solidFill>
              <a:srgbClr val="DADCE0"/>
            </a:solidFill>
          </a:ln>
        </p:spPr>
      </p:pic>
      <p:sp>
        <p:nvSpPr>
          <p:cNvPr id="100" name="Highlight box 1"/>
          <p:cNvSpPr/>
          <p:nvPr/>
        </p:nvSpPr>
        <p:spPr>
          <a:xfrm>
            <a:off x="6346444" y="4738624"/>
            <a:ext cx="1332179" cy="326339"/>
          </a:xfrm>
          <a:prstGeom prst="roundRect">
            <a:avLst>
              <a:gd name="adj" fmla="val 15000"/>
            </a:avLst>
          </a:prstGeom>
          <a:noFill/>
          <a:ln w="19050">
            <a:solidFill>
              <a:srgbClr val="EA4335"/>
            </a:solidFill>
          </a:ln>
        </p:spPr>
        <p:txBody>
          <a:bodyPr/>
          <a:lstStyle/>
          <a:p>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9: Fill in your details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3 of 13: three required fields, marked with red boxes.</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Your full name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full name in the first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Gender</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Open the dropdown in the second red box and choose your gender.</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Learner category</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Choose the option that fits you, such as Student, then click Next.</a:t>
            </a:r>
            <a:endParaRPr lang="en-US" sz="1200" dirty="0"/>
          </a:p>
        </p:txBody>
      </p:sp>
      <p:pic>
        <p:nvPicPr>
          <p:cNvPr id="99" name="Enrolment form screenshot" descr="Enrolment form page 3 with name, gender and learner category"/>
          <p:cNvPicPr>
            <a:picLocks noChangeAspect="1"/>
          </p:cNvPicPr>
          <p:nvPr/>
        </p:nvPicPr>
        <p:blipFill>
          <a:blip r:embed="rId50"/>
          <a:srcRect l="20833" t="11111" r="20833" b="18519"/>
          <a:stretch>
            <a:fillRect/>
          </a:stretch>
        </p:blipFill>
        <p:spPr>
          <a:xfrm>
            <a:off x="5415895" y="2011680"/>
            <a:ext cx="5929162" cy="4023360"/>
          </a:xfrm>
          <a:prstGeom prst="roundRect">
            <a:avLst>
              <a:gd name="adj" fmla="val 2000"/>
            </a:avLst>
          </a:prstGeom>
          <a:ln w="12700">
            <a:solidFill>
              <a:srgbClr val="DADCE0"/>
            </a:solidFill>
          </a:ln>
        </p:spPr>
      </p:pic>
      <p:sp>
        <p:nvSpPr>
          <p:cNvPr id="100" name="Highlight box 1"/>
          <p:cNvSpPr/>
          <p:nvPr/>
        </p:nvSpPr>
        <p:spPr>
          <a:xfrm>
            <a:off x="6051162" y="2594008"/>
            <a:ext cx="2371665" cy="307046"/>
          </a:xfrm>
          <a:prstGeom prst="roundRect">
            <a:avLst>
              <a:gd name="adj" fmla="val 15000"/>
            </a:avLst>
          </a:prstGeom>
          <a:noFill/>
          <a:ln w="19050">
            <a:solidFill>
              <a:srgbClr val="EA4335"/>
            </a:solidFill>
          </a:ln>
        </p:spPr>
        <p:txBody>
          <a:bodyPr/>
          <a:lstStyle/>
          <a:p>
            <a:endParaRPr lang="en-US"/>
          </a:p>
        </p:txBody>
      </p:sp>
      <p:sp>
        <p:nvSpPr>
          <p:cNvPr id="101" name="Highlight box 2"/>
          <p:cNvSpPr/>
          <p:nvPr/>
        </p:nvSpPr>
        <p:spPr>
          <a:xfrm>
            <a:off x="6051162" y="3711020"/>
            <a:ext cx="1932272" cy="460569"/>
          </a:xfrm>
          <a:prstGeom prst="roundRect">
            <a:avLst>
              <a:gd name="adj" fmla="val 15000"/>
            </a:avLst>
          </a:prstGeom>
          <a:noFill/>
          <a:ln w="19050">
            <a:solidFill>
              <a:srgbClr val="EA4335"/>
            </a:solidFill>
          </a:ln>
        </p:spPr>
        <p:txBody>
          <a:bodyPr/>
          <a:lstStyle/>
          <a:p>
            <a:endParaRPr lang="en-US"/>
          </a:p>
        </p:txBody>
      </p:sp>
      <p:sp>
        <p:nvSpPr>
          <p:cNvPr id="102" name="Highlight box 3"/>
          <p:cNvSpPr/>
          <p:nvPr/>
        </p:nvSpPr>
        <p:spPr>
          <a:xfrm>
            <a:off x="6051162" y="4965673"/>
            <a:ext cx="2218142" cy="460569"/>
          </a:xfrm>
          <a:prstGeom prst="roundRect">
            <a:avLst>
              <a:gd name="adj" fmla="val 15000"/>
            </a:avLst>
          </a:prstGeom>
          <a:noFill/>
          <a:ln w="19050">
            <a:solidFill>
              <a:srgbClr val="EA4335"/>
            </a:solidFill>
          </a:ln>
        </p:spPr>
        <p:txBody>
          <a:bodyPr/>
          <a:lstStyle/>
          <a:p>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10: Choose your organiser</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4 of 13: the most important page, so choose carefully.</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dropdown</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Select Your Organiser Name, click the dropdown that says Choose.</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the first option</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GDG on Campus Organizer, marked with the red box.</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Do not pick the others</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Do not choose GDG or Developer Community.</a:t>
            </a:r>
            <a:endParaRPr lang="en-US" sz="1200" dirty="0"/>
          </a:p>
        </p:txBody>
      </p:sp>
      <p:pic>
        <p:nvPicPr>
          <p:cNvPr id="99" name="Enrolment form screenshot" descr="Enrolment form page 4 with the organiser dropdown open"/>
          <p:cNvPicPr>
            <a:picLocks noChangeAspect="1"/>
          </p:cNvPicPr>
          <p:nvPr/>
        </p:nvPicPr>
        <p:blipFill>
          <a:blip r:embed="rId50"/>
          <a:srcRect l="20833" t="0" r="20833" b="40741"/>
          <a:stretch>
            <a:fillRect/>
          </a:stretch>
        </p:blipFill>
        <p:spPr>
          <a:xfrm>
            <a:off x="5120640" y="2011680"/>
            <a:ext cx="6519672" cy="3725527"/>
          </a:xfrm>
          <a:prstGeom prst="roundRect">
            <a:avLst>
              <a:gd name="adj" fmla="val 2000"/>
            </a:avLst>
          </a:prstGeom>
          <a:ln w="12700">
            <a:solidFill>
              <a:srgbClr val="DADCE0"/>
            </a:solidFill>
          </a:ln>
        </p:spPr>
      </p:pic>
      <p:sp>
        <p:nvSpPr>
          <p:cNvPr id="100" name="Highlight box 1"/>
          <p:cNvSpPr/>
          <p:nvPr/>
        </p:nvSpPr>
        <p:spPr>
          <a:xfrm>
            <a:off x="5824997" y="3676525"/>
            <a:ext cx="2194568" cy="488975"/>
          </a:xfrm>
          <a:prstGeom prst="roundRect">
            <a:avLst>
              <a:gd name="adj" fmla="val 15000"/>
            </a:avLst>
          </a:prstGeom>
          <a:noFill/>
          <a:ln w="19050">
            <a:solidFill>
              <a:srgbClr val="EA4335"/>
            </a:solidFill>
          </a:ln>
        </p:spPr>
        <p:txBody>
          <a:bodyPr/>
          <a:lstStyle/>
          <a:p>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11: Enter the referral code</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Still on page 4: the code links your registration to GDG on Campus APSIT.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the answer box</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Please share your Organizer's Referral Code, click the answer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Type GDGC-APSIT</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Enter it exactly as given, in capital letters with the hyphen. Without it you cannot be credited to APSIT.</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Yes, then click Next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Yes for the internet and laptop question, then click Next.</a:t>
            </a:r>
            <a:endParaRPr lang="en-US" sz="1200" dirty="0"/>
          </a:p>
        </p:txBody>
      </p:sp>
      <p:pic>
        <p:nvPicPr>
          <p:cNvPr id="99" name="Enrolment form screenshot" descr="Enrolment form page 4 with the referral code field and the laptop question"/>
          <p:cNvPicPr>
            <a:picLocks noChangeAspect="1"/>
          </p:cNvPicPr>
          <p:nvPr/>
        </p:nvPicPr>
        <p:blipFill>
          <a:blip r:embed="rId50"/>
          <a:srcRect l="20833" t="30556" r="20833" b="1852"/>
          <a:stretch>
            <a:fillRect/>
          </a:stretch>
        </p:blipFill>
        <p:spPr>
          <a:xfrm>
            <a:off x="5294063" y="2011680"/>
            <a:ext cx="6172826" cy="4023360"/>
          </a:xfrm>
          <a:prstGeom prst="roundRect">
            <a:avLst>
              <a:gd name="adj" fmla="val 2000"/>
            </a:avLst>
          </a:prstGeom>
          <a:ln w="12700">
            <a:solidFill>
              <a:srgbClr val="DADCE0"/>
            </a:solidFill>
          </a:ln>
        </p:spPr>
      </p:pic>
      <p:sp>
        <p:nvSpPr>
          <p:cNvPr id="100" name="Highlight box 1"/>
          <p:cNvSpPr/>
          <p:nvPr/>
        </p:nvSpPr>
        <p:spPr>
          <a:xfrm>
            <a:off x="5955437" y="3169085"/>
            <a:ext cx="2469131" cy="308641"/>
          </a:xfrm>
          <a:prstGeom prst="roundRect">
            <a:avLst>
              <a:gd name="adj" fmla="val 15000"/>
            </a:avLst>
          </a:prstGeom>
          <a:noFill/>
          <a:ln w="19050">
            <a:solidFill>
              <a:srgbClr val="EA4335"/>
            </a:solidFill>
          </a:ln>
        </p:spPr>
        <p:txBody>
          <a:bodyPr/>
          <a:lstStyle/>
          <a:p>
            <a:endParaRPr lang="en-US"/>
          </a:p>
        </p:txBody>
      </p:sp>
      <p:sp>
        <p:nvSpPr>
          <p:cNvPr id="101" name="Highlight box 2"/>
          <p:cNvSpPr/>
          <p:nvPr/>
        </p:nvSpPr>
        <p:spPr>
          <a:xfrm>
            <a:off x="5955437" y="4530414"/>
            <a:ext cx="551145" cy="259038"/>
          </a:xfrm>
          <a:prstGeom prst="roundRect">
            <a:avLst>
              <a:gd name="adj" fmla="val 15000"/>
            </a:avLst>
          </a:prstGeom>
          <a:noFill/>
          <a:ln w="19050">
            <a:solidFill>
              <a:srgbClr val="EA4335"/>
            </a:solidFill>
          </a:ln>
        </p:spPr>
        <p:txBody>
          <a:bodyPr/>
          <a:lstStyle/>
          <a:p>
            <a:endParaRPr lang="en-US"/>
          </a:p>
        </p:txBody>
      </p:sp>
      <p:sp>
        <p:nvSpPr>
          <p:cNvPr id="102" name="Highlight box 3"/>
          <p:cNvSpPr/>
          <p:nvPr/>
        </p:nvSpPr>
        <p:spPr>
          <a:xfrm>
            <a:off x="6528628" y="5401223"/>
            <a:ext cx="738535" cy="374779"/>
          </a:xfrm>
          <a:prstGeom prst="roundRect">
            <a:avLst>
              <a:gd name="adj" fmla="val 15000"/>
            </a:avLst>
          </a:prstGeom>
          <a:noFill/>
          <a:ln w="19050">
            <a:solidFill>
              <a:srgbClr val="EA4335"/>
            </a:solidFill>
          </a:ln>
        </p:spPr>
        <p:txBody>
          <a:bodyPr/>
          <a:lstStyle/>
          <a:p>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12: Verify and confirm your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5 of 13: confirm your new Google Skills account.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I verify</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Confirm you created a NEW Google Skills account on or after September 14th, 2026.</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Google Skills email</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the email you used for your Google Skills profile. Double check it for typos.</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Check the email once more, then press Next.</a:t>
            </a:r>
            <a:endParaRPr lang="en-US" sz="1200" dirty="0"/>
          </a:p>
        </p:txBody>
      </p:sp>
      <p:pic>
        <p:nvPicPr>
          <p:cNvPr id="99" name="Enrolment form screenshot" descr="Enrolment form page 5 with the I verify option and Google Skills email field"/>
          <p:cNvPicPr>
            <a:picLocks noChangeAspect="1"/>
          </p:cNvPicPr>
          <p:nvPr/>
        </p:nvPicPr>
        <p:blipFill>
          <a:blip r:embed="rId50"/>
          <a:srcRect l="20833" t="23148" r="20833" b="16667"/>
          <a:stretch>
            <a:fillRect/>
          </a:stretch>
        </p:blipFill>
        <p:spPr>
          <a:xfrm>
            <a:off x="5120640" y="2011680"/>
            <a:ext cx="6519672" cy="3783738"/>
          </a:xfrm>
          <a:prstGeom prst="roundRect">
            <a:avLst>
              <a:gd name="adj" fmla="val 2000"/>
            </a:avLst>
          </a:prstGeom>
          <a:ln w="12700">
            <a:solidFill>
              <a:srgbClr val="DADCE0"/>
            </a:solidFill>
          </a:ln>
        </p:spPr>
      </p:pic>
      <p:sp>
        <p:nvSpPr>
          <p:cNvPr id="100" name="Highlight box 1"/>
          <p:cNvSpPr/>
          <p:nvPr/>
        </p:nvSpPr>
        <p:spPr>
          <a:xfrm>
            <a:off x="5819176" y="2826639"/>
            <a:ext cx="745105" cy="279415"/>
          </a:xfrm>
          <a:prstGeom prst="roundRect">
            <a:avLst>
              <a:gd name="adj" fmla="val 15000"/>
            </a:avLst>
          </a:prstGeom>
          <a:noFill/>
          <a:ln w="19050">
            <a:solidFill>
              <a:srgbClr val="EA4335"/>
            </a:solidFill>
          </a:ln>
        </p:spPr>
        <p:txBody>
          <a:bodyPr/>
          <a:lstStyle/>
          <a:p>
            <a:endParaRPr lang="en-US"/>
          </a:p>
        </p:txBody>
      </p:sp>
      <p:sp>
        <p:nvSpPr>
          <p:cNvPr id="101" name="Highlight box 2"/>
          <p:cNvSpPr/>
          <p:nvPr/>
        </p:nvSpPr>
        <p:spPr>
          <a:xfrm>
            <a:off x="5819176" y="4689402"/>
            <a:ext cx="2607869" cy="291057"/>
          </a:xfrm>
          <a:prstGeom prst="roundRect">
            <a:avLst>
              <a:gd name="adj" fmla="val 15000"/>
            </a:avLst>
          </a:prstGeom>
          <a:noFill/>
          <a:ln w="19050">
            <a:solidFill>
              <a:srgbClr val="EA4335"/>
            </a:solidFill>
          </a:ln>
        </p:spPr>
        <p:txBody>
          <a:bodyPr/>
          <a:lstStyle/>
          <a:p>
            <a:endParaRPr lang="en-US"/>
          </a:p>
        </p:txBody>
      </p:sp>
      <p:sp>
        <p:nvSpPr>
          <p:cNvPr id="102" name="Highlight box 3"/>
          <p:cNvSpPr/>
          <p:nvPr/>
        </p:nvSpPr>
        <p:spPr>
          <a:xfrm>
            <a:off x="6424574" y="5265695"/>
            <a:ext cx="780032" cy="401658"/>
          </a:xfrm>
          <a:prstGeom prst="roundRect">
            <a:avLst>
              <a:gd name="adj" fmla="val 15000"/>
            </a:avLst>
          </a:prstGeom>
          <a:noFill/>
          <a:ln w="19050">
            <a:solidFill>
              <a:srgbClr val="EA4335"/>
            </a:solidFill>
          </a:ln>
        </p:spPr>
        <p:txBody>
          <a:bodyPr/>
          <a:lstStyle/>
          <a:p>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13: Paste your public profile link</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6 of 13: use your own link, never ours.</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Copy your own link</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back to the green box from Step 5 (top picture) and copy YOUR profile link.</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Paste it in the form</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Paste it in the answer box (bottom picture) so it ends with your own unique ID.</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Use your own, not ours</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Our link is blurred on purpose. Copied links get rejected, so use only yours.</a:t>
            </a:r>
            <a:endParaRPr lang="en-US" sz="1200" dirty="0"/>
          </a:p>
        </p:txBody>
      </p:sp>
      <p:pic>
        <p:nvPicPr>
          <p:cNvPr id="99" name="Public profile link" descr="Your Google Skills public profile link, blurred"/>
          <p:cNvPicPr>
            <a:picLocks noChangeAspect="1"/>
          </p:cNvPicPr>
          <p:nvPr/>
        </p:nvPicPr>
        <p:blipFill>
          <a:blip r:embed="rId51"/>
          <a:stretch>
            <a:fillRect/>
          </a:stretch>
        </p:blipFill>
        <p:spPr>
          <a:xfrm>
            <a:off x="5500116" y="2011680"/>
            <a:ext cx="5760720" cy="1508760"/>
          </a:xfrm>
          <a:prstGeom prst="roundRect">
            <a:avLst>
              <a:gd name="adj" fmla="val 4000"/>
            </a:avLst>
          </a:prstGeom>
          <a:ln w="12700">
            <a:solidFill>
              <a:srgbClr val="DADCE0"/>
            </a:solidFill>
          </a:ln>
        </p:spPr>
      </p:pic>
      <p:pic>
        <p:nvPicPr>
          <p:cNvPr id="98" name="Form profile URL field" descr="Enrolment form page 6 with the profile URL field, blurred"/>
          <p:cNvPicPr>
            <a:picLocks noChangeAspect="1"/>
          </p:cNvPicPr>
          <p:nvPr/>
        </p:nvPicPr>
        <p:blipFill>
          <a:blip r:embed="rId52"/>
          <a:stretch>
            <a:fillRect/>
          </a:stretch>
        </p:blipFill>
        <p:spPr>
          <a:xfrm>
            <a:off x="5500116" y="3749040"/>
            <a:ext cx="5760720" cy="2509621"/>
          </a:xfrm>
          <a:prstGeom prst="roundRect">
            <a:avLst>
              <a:gd name="adj" fmla="val 4000"/>
            </a:avLst>
          </a:prstGeom>
          <a:ln w="12700">
            <a:solidFill>
              <a:srgbClr val="DADCE0"/>
            </a:solidFill>
          </a:ln>
        </p:spPr>
      </p:pic>
      <p:sp>
        <p:nvSpPr>
          <p:cNvPr id="100" name="Highlight box 1"/>
          <p:cNvSpPr/>
          <p:nvPr/>
        </p:nvSpPr>
        <p:spPr>
          <a:xfrm>
            <a:off x="5568696" y="2594610"/>
            <a:ext cx="5568696" cy="521208"/>
          </a:xfrm>
          <a:prstGeom prst="roundRect">
            <a:avLst>
              <a:gd name="adj" fmla="val 15000"/>
            </a:avLst>
          </a:prstGeom>
          <a:noFill/>
          <a:ln w="19050">
            <a:solidFill>
              <a:srgbClr val="EA4335"/>
            </a:solidFill>
          </a:ln>
        </p:spPr>
        <p:txBody>
          <a:bodyPr/>
          <a:lstStyle/>
          <a:p>
            <a:endParaRPr lang="en-US"/>
          </a:p>
        </p:txBody>
      </p:sp>
      <p:sp>
        <p:nvSpPr>
          <p:cNvPr id="101" name="Highlight box 2"/>
          <p:cNvSpPr/>
          <p:nvPr/>
        </p:nvSpPr>
        <p:spPr>
          <a:xfrm>
            <a:off x="5688338" y="5711107"/>
            <a:ext cx="2726361" cy="250962"/>
          </a:xfrm>
          <a:prstGeom prst="roundRect">
            <a:avLst>
              <a:gd name="adj" fmla="val 15000"/>
            </a:avLst>
          </a:prstGeom>
          <a:noFill/>
          <a:ln w="19050">
            <a:solidFill>
              <a:srgbClr val="EA4335"/>
            </a:solidFill>
          </a:ln>
        </p:spPr>
        <p:txBody>
          <a:bodyPr/>
          <a:lstStyle/>
          <a:p>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14: Acknowledge the declarations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Pages 7 to 12 need no input: just click Next until you reach page 13.</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I Acknowledge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Tick the first red box: the information you gave is true and correct.</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Yes, I Agree</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Tick the second red box: you agree to finish the Learning Pathway on time.</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Scroll down</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Points to Note before you submit, shown on the next slide.</a:t>
            </a:r>
            <a:endParaRPr lang="en-US" sz="1200" dirty="0"/>
          </a:p>
        </p:txBody>
      </p:sp>
      <p:pic>
        <p:nvPicPr>
          <p:cNvPr id="99" name="Acknowledge page" descr="Enrolment form last page with I Acknowledge and Yes, I Agree options"/>
          <p:cNvPicPr>
            <a:picLocks noChangeAspect="1"/>
          </p:cNvPicPr>
          <p:nvPr/>
        </p:nvPicPr>
        <p:blipFill>
          <a:blip r:embed="rId50"/>
          <a:srcRect l="20833" t="29630" r="20833" b="14815"/>
          <a:stretch>
            <a:fillRect/>
          </a:stretch>
        </p:blipFill>
        <p:spPr>
          <a:xfrm>
            <a:off x="5120640" y="2011680"/>
            <a:ext cx="6519672" cy="3492681"/>
          </a:xfrm>
          <a:prstGeom prst="roundRect">
            <a:avLst>
              <a:gd name="adj" fmla="val 2000"/>
            </a:avLst>
          </a:prstGeom>
          <a:ln w="12700">
            <a:solidFill>
              <a:srgbClr val="DADCE0"/>
            </a:solidFill>
          </a:ln>
        </p:spPr>
      </p:pic>
      <p:sp>
        <p:nvSpPr>
          <p:cNvPr id="100" name="Highlight box 1"/>
          <p:cNvSpPr/>
          <p:nvPr/>
        </p:nvSpPr>
        <p:spPr>
          <a:xfrm>
            <a:off x="6040379" y="3129338"/>
            <a:ext cx="1117658" cy="267772"/>
          </a:xfrm>
          <a:prstGeom prst="roundRect">
            <a:avLst>
              <a:gd name="adj" fmla="val 15000"/>
            </a:avLst>
          </a:prstGeom>
          <a:noFill/>
          <a:ln w="19050">
            <a:solidFill>
              <a:srgbClr val="EA4335"/>
            </a:solidFill>
          </a:ln>
        </p:spPr>
        <p:txBody>
          <a:bodyPr/>
          <a:lstStyle/>
          <a:p>
            <a:endParaRPr lang="en-US"/>
          </a:p>
        </p:txBody>
      </p:sp>
      <p:sp>
        <p:nvSpPr>
          <p:cNvPr id="101" name="Highlight box 2"/>
          <p:cNvSpPr/>
          <p:nvPr/>
        </p:nvSpPr>
        <p:spPr>
          <a:xfrm>
            <a:off x="6040379" y="4689402"/>
            <a:ext cx="954666" cy="279415"/>
          </a:xfrm>
          <a:prstGeom prst="roundRect">
            <a:avLst>
              <a:gd name="adj" fmla="val 15000"/>
            </a:avLst>
          </a:prstGeom>
          <a:noFill/>
          <a:ln w="19050">
            <a:solidFill>
              <a:srgbClr val="EA4335"/>
            </a:solidFill>
          </a:ln>
        </p:spPr>
        <p:txBody>
          <a:bodyPr/>
          <a:lstStyle/>
          <a:p>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15: Read the notes and submit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Check everything, then submit the form only once.</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the points to note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wrong profile URL gets you rejected. Submit only once: if you fill it again, earlier entries are deleted.</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Submit</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Submit (last red box) once all answers are correct. A copy is emailed to you.</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Wait for your result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Submitting does not guarantee a seat. For queries, contact your GDG on Campus Organizers.</a:t>
            </a:r>
            <a:endParaRPr lang="en-US" sz="1200" dirty="0"/>
          </a:p>
        </p:txBody>
      </p:sp>
      <p:pic>
        <p:nvPicPr>
          <p:cNvPr id="99" name="Submit page" descr="Enrolment form last page with Points to Note and the Submit button"/>
          <p:cNvPicPr>
            <a:picLocks noChangeAspect="1"/>
          </p:cNvPicPr>
          <p:nvPr/>
        </p:nvPicPr>
        <p:blipFill>
          <a:blip r:embed="rId50"/>
          <a:srcRect l="20833" t="12037" r="20833" b="21296"/>
          <a:stretch>
            <a:fillRect/>
          </a:stretch>
        </p:blipFill>
        <p:spPr>
          <a:xfrm>
            <a:off x="5251196" y="2011680"/>
            <a:ext cx="6258560" cy="4023360"/>
          </a:xfrm>
          <a:prstGeom prst="roundRect">
            <a:avLst>
              <a:gd name="adj" fmla="val 2000"/>
            </a:avLst>
          </a:prstGeom>
          <a:ln w="12700">
            <a:solidFill>
              <a:srgbClr val="DADCE0"/>
            </a:solidFill>
          </a:ln>
        </p:spPr>
      </p:pic>
      <p:sp>
        <p:nvSpPr>
          <p:cNvPr id="100" name="Highlight box 1"/>
          <p:cNvSpPr/>
          <p:nvPr/>
        </p:nvSpPr>
        <p:spPr>
          <a:xfrm>
            <a:off x="6346444" y="2682240"/>
            <a:ext cx="4269232" cy="307340"/>
          </a:xfrm>
          <a:prstGeom prst="roundRect">
            <a:avLst>
              <a:gd name="adj" fmla="val 15000"/>
            </a:avLst>
          </a:prstGeom>
          <a:noFill/>
          <a:ln w="19050">
            <a:solidFill>
              <a:srgbClr val="EA4335"/>
            </a:solidFill>
          </a:ln>
        </p:spPr>
        <p:txBody>
          <a:bodyPr/>
          <a:lstStyle/>
          <a:p>
            <a:endParaRPr lang="en-US"/>
          </a:p>
        </p:txBody>
      </p:sp>
      <p:sp>
        <p:nvSpPr>
          <p:cNvPr id="101" name="Highlight box 2"/>
          <p:cNvSpPr/>
          <p:nvPr/>
        </p:nvSpPr>
        <p:spPr>
          <a:xfrm>
            <a:off x="6346444" y="3017520"/>
            <a:ext cx="4269232" cy="648208"/>
          </a:xfrm>
          <a:prstGeom prst="roundRect">
            <a:avLst>
              <a:gd name="adj" fmla="val 15000"/>
            </a:avLst>
          </a:prstGeom>
          <a:noFill/>
          <a:ln w="19050">
            <a:solidFill>
              <a:srgbClr val="EA4335"/>
            </a:solidFill>
          </a:ln>
        </p:spPr>
        <p:txBody>
          <a:bodyPr/>
          <a:lstStyle/>
          <a:p>
            <a:endParaRPr lang="en-US"/>
          </a:p>
        </p:txBody>
      </p:sp>
      <p:sp>
        <p:nvSpPr>
          <p:cNvPr id="102" name="Highlight box 3"/>
          <p:cNvSpPr/>
          <p:nvPr/>
        </p:nvSpPr>
        <p:spPr>
          <a:xfrm>
            <a:off x="6698488" y="5588000"/>
            <a:ext cx="754380" cy="312928"/>
          </a:xfrm>
          <a:prstGeom prst="roundRect">
            <a:avLst>
              <a:gd name="adj" fmla="val 15000"/>
            </a:avLst>
          </a:prstGeom>
          <a:noFill/>
          <a:ln w="19050">
            <a:solidFill>
              <a:srgbClr val="EA4335"/>
            </a:solidFill>
          </a:ln>
        </p:spPr>
        <p:txBody>
          <a:bodyPr/>
          <a:lstStyle/>
          <a:p>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Part 1 </a:t>
            </a:r>
            <a:r>
              <a:rPr lang="en-US" sz="6400" b="1" i="0" dirty="0">
                <a:solidFill>
                  <a:srgbClr val="4285F4"/>
                </a:solidFill>
                <a:latin typeface="Google Sans" pitchFamily="34" charset="0"/>
                <a:ea typeface="Google Sans" pitchFamily="34" charset="-122"/>
                <a:cs typeface="Google Sans" pitchFamily="34" charset="-120"/>
              </a:rPr>
              <a:t>complete!</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Enrolment form submitted, </a:t>
            </a:r>
            <a:r>
              <a:rPr lang="en-US" sz="2200" b="1" dirty="0">
                <a:solidFill>
                  <a:srgbClr val="34A853"/>
                </a:solidFill>
                <a:latin typeface="Google Sans" pitchFamily="34" charset="0"/>
                <a:ea typeface="Google Sans" pitchFamily="34" charset="-122"/>
                <a:cs typeface="Google Sans" pitchFamily="34" charset="-120"/>
              </a:rPr>
              <a:t>now the second form</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Well done! Next, check your inbox for the form receipt, then fill in the second form to confirm your seat. You are not finished yet.</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Part 1 done</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Check inbox</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Then form 2</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Not done yet</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16: Check your confirmation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Your first form is done. Now look in your inbox.</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Find the email</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Look for Thanks for filling out this form from Forms Response Receipts.</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it</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It confirms your enrolment form was received.</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second form</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This is the next step, shown on the next slide. It is mandatory.</a:t>
            </a:r>
            <a:endParaRPr lang="en-US" sz="1200" dirty="0"/>
          </a:p>
        </p:txBody>
      </p:sp>
      <p:pic>
        <p:nvPicPr>
          <p:cNvPr id="99" name="Screenshot" descr="Gmail inbox with the Google Forms confirmation email"/>
          <p:cNvPicPr>
            <a:picLocks noChangeAspect="1"/>
          </p:cNvPicPr>
          <p:nvPr/>
        </p:nvPicPr>
        <p:blipFill>
          <a:blip r:embed="rId50"/>
          <a:srcRect l="17708" t="7870" r="3646" b="1852"/>
          <a:stretch>
            <a:fillRect/>
          </a:stretch>
        </p:blipFill>
        <p:spPr>
          <a:xfrm>
            <a:off x="5264951" y="2011680"/>
            <a:ext cx="6231050" cy="4023360"/>
          </a:xfrm>
          <a:prstGeom prst="roundRect">
            <a:avLst>
              <a:gd name="adj" fmla="val 2000"/>
            </a:avLst>
          </a:prstGeom>
          <a:ln w="12700">
            <a:solidFill>
              <a:srgbClr val="DADCE0"/>
            </a:solidFill>
          </a:ln>
        </p:spPr>
      </p:pic>
      <p:sp>
        <p:nvSpPr>
          <p:cNvPr id="100" name="Highlight box 1"/>
          <p:cNvSpPr/>
          <p:nvPr/>
        </p:nvSpPr>
        <p:spPr>
          <a:xfrm>
            <a:off x="5632212" y="2350055"/>
            <a:ext cx="5133395" cy="367261"/>
          </a:xfrm>
          <a:prstGeom prst="roundRect">
            <a:avLst>
              <a:gd name="adj" fmla="val 15000"/>
            </a:avLst>
          </a:prstGeom>
          <a:noFill/>
          <a:ln w="19050">
            <a:solidFill>
              <a:srgbClr val="EA4335"/>
            </a:solidFill>
          </a:ln>
        </p:spPr>
        <p:txBody>
          <a:bodyPr/>
          <a:lstStyle/>
          <a:p>
            <a:endParaRPr lang="en-US"/>
          </a:p>
        </p:txBody>
      </p:sp>
      <p:sp>
        <p:nvSpPr>
          <p:cNvPr id="101" name="Highlight box 2"/>
          <p:cNvSpPr/>
          <p:nvPr/>
        </p:nvSpPr>
        <p:spPr>
          <a:xfrm>
            <a:off x="5632212" y="2775087"/>
            <a:ext cx="2232449" cy="173314"/>
          </a:xfrm>
          <a:prstGeom prst="roundRect">
            <a:avLst>
              <a:gd name="adj" fmla="val 15000"/>
            </a:avLst>
          </a:prstGeom>
          <a:noFill/>
          <a:ln w="19050">
            <a:solidFill>
              <a:srgbClr val="EA4335"/>
            </a:solidFill>
          </a:ln>
        </p:spPr>
        <p:txBody>
          <a:bodyPr/>
          <a:lstStyle/>
          <a:p>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17: Open the second form</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This step is mandatory to confirm your seat for the Main event.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second form</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a:t>
            </a:r>
            <a:r>
              <a:rPr u="sng" lang="en-US" sz="1200" dirty="0">
                <a:solidFill>
                  <a:srgbClr val="1A73E8"/>
                </a:solidFill>
                <a:latin typeface="Google Sans" pitchFamily="34" charset="0"/>
                <a:ea typeface="Google Sans" pitchFamily="34" charset="-122"/>
                <a:cs typeface="Google Sans" pitchFamily="34" charset="-120"/>
                <a:hlinkClick r:id="rId60"/>
              </a:rPr>
              <a:t>forms.gle/kkvPUmsR8FRjVuf47</a:t>
            </a:r>
            <a:r>
              <a:rPr lang="en-US" sz="1200" dirty="0">
                <a:solidFill>
                  <a:srgbClr val="3C4043"/>
                </a:solidFill>
                <a:latin typeface="Google Sans" pitchFamily="34" charset="0"/>
                <a:ea typeface="Google Sans" pitchFamily="34" charset="-122"/>
                <a:cs typeface="Google Sans" pitchFamily="34" charset="-120"/>
              </a:rPr>
              <a:t> to open it.</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Tick the email box</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Keep the box ticked so your email is recorded with your response.</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details</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full name, then fill in the questions below it.</a:t>
            </a:r>
            <a:endParaRPr lang="en-US" sz="1200" dirty="0"/>
          </a:p>
        </p:txBody>
      </p:sp>
      <p:pic>
        <p:nvPicPr>
          <p:cNvPr id="99" name="Screenshot" descr="Second form: Confirmation for Learn With Communities Campaign"/>
          <p:cNvPicPr>
            <a:picLocks noChangeAspect="1"/>
          </p:cNvPicPr>
          <p:nvPr/>
        </p:nvPicPr>
        <p:blipFill>
          <a:blip r:embed="rId50"/>
          <a:srcRect l="20833" t="23148" r="20833" b="7407"/>
          <a:stretch>
            <a:fillRect/>
          </a:stretch>
        </p:blipFill>
        <p:spPr>
          <a:xfrm>
            <a:off x="5376367" y="2011680"/>
            <a:ext cx="6008218" cy="4023360"/>
          </a:xfrm>
          <a:prstGeom prst="roundRect">
            <a:avLst>
              <a:gd name="adj" fmla="val 2000"/>
            </a:avLst>
          </a:prstGeom>
          <a:ln w="12700">
            <a:solidFill>
              <a:srgbClr val="DADCE0"/>
            </a:solidFill>
          </a:ln>
        </p:spPr>
      </p:pic>
      <p:sp>
        <p:nvSpPr>
          <p:cNvPr id="100" name="Highlight box 1"/>
          <p:cNvSpPr/>
          <p:nvPr/>
        </p:nvSpPr>
        <p:spPr>
          <a:xfrm>
            <a:off x="6223955" y="4500799"/>
            <a:ext cx="4130650" cy="386243"/>
          </a:xfrm>
          <a:prstGeom prst="roundRect">
            <a:avLst>
              <a:gd name="adj" fmla="val 15000"/>
            </a:avLst>
          </a:prstGeom>
          <a:noFill/>
          <a:ln w="19050">
            <a:solidFill>
              <a:srgbClr val="EA4335"/>
            </a:solidFill>
          </a:ln>
        </p:spPr>
        <p:txBody>
          <a:bodyPr/>
          <a:lstStyle/>
          <a:p>
            <a:endParaRPr lang="en-US"/>
          </a:p>
        </p:txBody>
      </p:sp>
      <p:sp>
        <p:nvSpPr>
          <p:cNvPr id="101" name="Highlight box 2"/>
          <p:cNvSpPr/>
          <p:nvPr/>
        </p:nvSpPr>
        <p:spPr>
          <a:xfrm>
            <a:off x="6223955" y="5680984"/>
            <a:ext cx="2199437" cy="278953"/>
          </a:xfrm>
          <a:prstGeom prst="roundRect">
            <a:avLst>
              <a:gd name="adj" fmla="val 15000"/>
            </a:avLst>
          </a:prstGeom>
          <a:noFill/>
          <a:ln w="19050">
            <a:solidFill>
              <a:srgbClr val="EA4335"/>
            </a:solidFill>
          </a:ln>
        </p:spPr>
        <p:txBody>
          <a:bodyPr/>
          <a:lstStyle/>
          <a:p>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18: Join WhatsApp and submit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The last page of the second form confirms your seat.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WhatsApp group link</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Learn With Communities Whatsapp Group and join the group.</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Join the group</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The form asks you to join the event WhatsApp group to confirm your seat.</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Submit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Submit to finish the second form.</a:t>
            </a:r>
            <a:endParaRPr lang="en-US" sz="1200" dirty="0"/>
          </a:p>
        </p:txBody>
      </p:sp>
      <p:pic>
        <p:nvPicPr>
          <p:cNvPr id="99" name="Screenshot" descr="Second form last page with the WhatsApp group link and Submit"/>
          <p:cNvPicPr>
            <a:picLocks noChangeAspect="1"/>
          </p:cNvPicPr>
          <p:nvPr/>
        </p:nvPicPr>
        <p:blipFill>
          <a:blip r:embed="rId50"/>
          <a:srcRect l="20833" t="23148" r="20833" b="21296"/>
          <a:stretch>
            <a:fillRect/>
          </a:stretch>
        </p:blipFill>
        <p:spPr>
          <a:xfrm>
            <a:off x="5120640" y="2011680"/>
            <a:ext cx="6519672" cy="3492681"/>
          </a:xfrm>
          <a:prstGeom prst="roundRect">
            <a:avLst>
              <a:gd name="adj" fmla="val 2000"/>
            </a:avLst>
          </a:prstGeom>
          <a:ln w="12700">
            <a:solidFill>
              <a:srgbClr val="DADCE0"/>
            </a:solidFill>
          </a:ln>
        </p:spPr>
      </p:pic>
      <p:sp>
        <p:nvSpPr>
          <p:cNvPr id="100" name="Highlight box 1"/>
          <p:cNvSpPr/>
          <p:nvPr/>
        </p:nvSpPr>
        <p:spPr>
          <a:xfrm>
            <a:off x="5987989" y="4555516"/>
            <a:ext cx="2235316" cy="250309"/>
          </a:xfrm>
          <a:prstGeom prst="roundRect">
            <a:avLst>
              <a:gd name="adj" fmla="val 15000"/>
            </a:avLst>
          </a:prstGeom>
          <a:noFill/>
          <a:ln w="19050">
            <a:solidFill>
              <a:srgbClr val="EA4335"/>
            </a:solidFill>
          </a:ln>
        </p:spPr>
        <p:txBody>
          <a:bodyPr/>
          <a:lstStyle/>
          <a:p>
            <a:endParaRPr lang="en-US"/>
          </a:p>
        </p:txBody>
      </p:sp>
      <p:sp>
        <p:nvSpPr>
          <p:cNvPr id="101" name="Highlight box 2"/>
          <p:cNvSpPr/>
          <p:nvPr/>
        </p:nvSpPr>
        <p:spPr>
          <a:xfrm>
            <a:off x="6605030" y="5015386"/>
            <a:ext cx="832422" cy="372553"/>
          </a:xfrm>
          <a:prstGeom prst="roundRect">
            <a:avLst>
              <a:gd name="adj" fmla="val 15000"/>
            </a:avLst>
          </a:prstGeom>
          <a:noFill/>
          <a:ln w="19050">
            <a:solidFill>
              <a:srgbClr val="EA4335"/>
            </a:solidFill>
          </a:ln>
        </p:spPr>
        <p:txBody>
          <a:bodyPr/>
          <a:lstStyle/>
          <a:p>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1A73E8"/>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10413999" y="0"/>
            <a:ext cx="2286000" cy="2286000"/>
          </a:xfrm>
          <a:prstGeom prst="rect">
            <a:avLst/>
          </a:prstGeom>
        </p:spPr>
      </p:pic>
      <p:pic>
        <p:nvPicPr>
          <p:cNvPr id="3" name="Image 1" descr="ellipse"/>
          <p:cNvPicPr>
            <a:picLocks noChangeAspect="1"/>
          </p:cNvPicPr>
          <p:nvPr/>
        </p:nvPicPr>
        <p:blipFill>
          <a:blip r:embed="rId4"/>
          <a:srcRect/>
          <a:stretch/>
        </p:blipFill>
        <p:spPr>
          <a:xfrm>
            <a:off x="11302999" y="1905000"/>
            <a:ext cx="1270000" cy="1270000"/>
          </a:xfrm>
          <a:prstGeom prst="rect">
            <a:avLst/>
          </a:prstGeom>
        </p:spPr>
      </p:pic>
      <p:pic>
        <p:nvPicPr>
          <p:cNvPr id="4" name="Image 2" descr="ellipse"/>
          <p:cNvPicPr>
            <a:picLocks noChangeAspect="1"/>
          </p:cNvPicPr>
          <p:nvPr/>
        </p:nvPicPr>
        <p:blipFill>
          <a:blip r:embed="rId5"/>
          <a:srcRect/>
          <a:stretch/>
        </p:blipFill>
        <p:spPr>
          <a:xfrm>
            <a:off x="10794999" y="5334000"/>
            <a:ext cx="2032000" cy="2032000"/>
          </a:xfrm>
          <a:prstGeom prst="rect">
            <a:avLst/>
          </a:prstGeom>
        </p:spPr>
      </p:pic>
      <p:sp>
        <p:nvSpPr>
          <p:cNvPr id="5" name="Text 0"/>
          <p:cNvSpPr/>
          <p:nvPr/>
        </p:nvSpPr>
        <p:spPr>
          <a:xfrm>
            <a:off x="812788" y="711150"/>
            <a:ext cx="10883417" cy="292050"/>
          </a:xfrm>
          <a:prstGeom prst="rect">
            <a:avLst/>
          </a:prstGeom>
          <a:noFill/>
          <a:ln/>
        </p:spPr>
        <p:txBody>
          <a:bodyPr wrap="square" lIns="0" tIns="0" rIns="0" bIns="0" rtlCol="0" anchor="t"/>
          <a:lstStyle/>
          <a:p>
            <a:pPr marL="0" indent="0" algn="l">
              <a:lnSpc>
                <a:spcPts val="2100"/>
              </a:lnSpc>
              <a:buNone/>
            </a:pPr>
            <a:r>
              <a:rPr lang="en-US" sz="1500" b="1" dirty="0">
                <a:solidFill>
                  <a:srgbClr val="FEF7E0"/>
                </a:solidFill>
                <a:latin typeface="Google Sans" pitchFamily="34" charset="0"/>
                <a:ea typeface="Google Sans" pitchFamily="34" charset="-122"/>
                <a:cs typeface="Google Sans" pitchFamily="34" charset="-120"/>
              </a:rPr>
              <a:t>Both parts are complete</a:t>
            </a:r>
            <a:endParaRPr lang="en-US" sz="1500" dirty="0"/>
          </a:p>
        </p:txBody>
      </p:sp>
      <p:sp>
        <p:nvSpPr>
          <p:cNvPr id="6" name="Text 1"/>
          <p:cNvSpPr>
            <a:spLocks noGrp="1"/>
          </p:cNvSpPr>
          <p:nvPr>
            <p:ph type="title"/>
          </p:nvPr>
        </p:nvSpPr>
        <p:spPr>
          <a:xfrm>
            <a:off x="812788" y="1206376"/>
            <a:ext cx="9509760" cy="612093"/>
          </a:xfrm>
          <a:prstGeom prst="rect">
            <a:avLst/>
          </a:prstGeom>
          <a:noFill/>
          <a:ln/>
        </p:spPr>
        <p:txBody>
          <a:bodyPr wrap="square" lIns="0" tIns="0" rIns="0" bIns="0" rtlCol="0" anchor="t"/>
          <a:lstStyle/>
          <a:p>
            <a:pPr marL="0" indent="0" algn="l">
              <a:lnSpc>
                <a:spcPts val="4620"/>
              </a:lnSpc>
              <a:buNone/>
            </a:pPr>
            <a:r>
              <a:rPr lang="en-US" sz="3800" b="1" i="0" dirty="0">
                <a:solidFill>
                  <a:srgbClr val="FFFFFF"/>
                </a:solidFill>
                <a:latin typeface="Google Sans" pitchFamily="34" charset="0"/>
                <a:ea typeface="Google Sans" pitchFamily="34" charset="-122"/>
                <a:cs typeface="Google Sans" pitchFamily="34" charset="-120"/>
              </a:rPr>
              <a:t>Congratulations, you're done!</a:t>
            </a:r>
            <a:endParaRPr lang="en-US" sz="4400" dirty="0"/>
          </a:p>
        </p:txBody>
      </p:sp>
      <p:sp>
        <p:nvSpPr>
          <p:cNvPr id="7" name="Shape 2"/>
          <p:cNvSpPr/>
          <p:nvPr/>
        </p:nvSpPr>
        <p:spPr>
          <a:xfrm>
            <a:off x="812788" y="2021644"/>
            <a:ext cx="4559287" cy="1112490"/>
          </a:xfrm>
          <a:prstGeom prst="roundRect">
            <a:avLst>
              <a:gd name="adj" fmla="val 11416"/>
            </a:avLst>
          </a:prstGeom>
          <a:solidFill>
            <a:srgbClr val="FFFFFF"/>
          </a:solidFill>
          <a:ln/>
        </p:spPr>
        <p:txBody>
          <a:bodyPr/>
          <a:lstStyle/>
          <a:p>
            <a:endParaRPr/>
          </a:p>
        </p:txBody>
      </p:sp>
      <p:sp>
        <p:nvSpPr>
          <p:cNvPr id="8" name="Text 3"/>
          <p:cNvSpPr/>
          <p:nvPr/>
        </p:nvSpPr>
        <p:spPr>
          <a:xfrm>
            <a:off x="1015938" y="2199432"/>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Jamil Khan</a:t>
            </a:r>
            <a:endParaRPr lang="en-US" sz="1500" dirty="0"/>
          </a:p>
        </p:txBody>
      </p:sp>
      <p:sp>
        <p:nvSpPr>
          <p:cNvPr id="9" name="Text 4"/>
          <p:cNvSpPr/>
          <p:nvPr/>
        </p:nvSpPr>
        <p:spPr>
          <a:xfrm>
            <a:off x="1015938" y="2478794"/>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+91 79000 46862</a:t>
            </a:r>
            <a:endParaRPr lang="en-US" sz="1200" dirty="0"/>
          </a:p>
        </p:txBody>
      </p:sp>
      <p:sp>
        <p:nvSpPr>
          <p:cNvPr id="10" name="Text 5"/>
          <p:cNvSpPr/>
          <p:nvPr/>
        </p:nvSpPr>
        <p:spPr>
          <a:xfrm>
            <a:off x="1015938" y="2742964"/>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6">
                  <a:extLst>
                    <a:ext uri="{A12FA001-AC4F-418D-AE19-62706E023703}">
                      <ahyp:hlinkClr xmlns:ahyp="http://schemas.microsoft.com/office/drawing/2018/hyperlinkcolor" val="tx"/>
                    </a:ext>
                  </a:extLst>
                </a:hlinkClick>
              </a:rPr>
              <a:t>Message on WhatsApp</a:t>
            </a:r>
            <a:endParaRPr lang="en-US" sz="1200" dirty="0"/>
          </a:p>
        </p:txBody>
      </p:sp>
      <p:sp>
        <p:nvSpPr>
          <p:cNvPr id="11" name="Shape 6"/>
          <p:cNvSpPr/>
          <p:nvPr/>
        </p:nvSpPr>
        <p:spPr>
          <a:xfrm>
            <a:off x="5524438" y="2021644"/>
            <a:ext cx="4559349" cy="1112490"/>
          </a:xfrm>
          <a:prstGeom prst="roundRect">
            <a:avLst>
              <a:gd name="adj" fmla="val 11416"/>
            </a:avLst>
          </a:prstGeom>
          <a:solidFill>
            <a:srgbClr val="FFFFFF"/>
          </a:solidFill>
          <a:ln/>
        </p:spPr>
        <p:txBody>
          <a:bodyPr/>
          <a:lstStyle/>
          <a:p>
            <a:endParaRPr/>
          </a:p>
        </p:txBody>
      </p:sp>
      <p:sp>
        <p:nvSpPr>
          <p:cNvPr id="12" name="Text 7"/>
          <p:cNvSpPr/>
          <p:nvPr/>
        </p:nvSpPr>
        <p:spPr>
          <a:xfrm>
            <a:off x="5727588" y="2199432"/>
            <a:ext cx="4277640"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Nitish Jain</a:t>
            </a:r>
            <a:endParaRPr lang="en-US" sz="1500" dirty="0"/>
          </a:p>
        </p:txBody>
      </p:sp>
      <p:sp>
        <p:nvSpPr>
          <p:cNvPr id="13" name="Text 8"/>
          <p:cNvSpPr/>
          <p:nvPr/>
        </p:nvSpPr>
        <p:spPr>
          <a:xfrm>
            <a:off x="5727588" y="2478794"/>
            <a:ext cx="4277640"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+91 820 080 1599</a:t>
            </a:r>
            <a:endParaRPr lang="en-US" sz="1200" dirty="0"/>
          </a:p>
        </p:txBody>
      </p:sp>
      <p:sp>
        <p:nvSpPr>
          <p:cNvPr id="14" name="Text 9"/>
          <p:cNvSpPr/>
          <p:nvPr/>
        </p:nvSpPr>
        <p:spPr>
          <a:xfrm>
            <a:off x="5727588" y="2742964"/>
            <a:ext cx="4277640"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Message on WhatsApp</a:t>
            </a:r>
            <a:endParaRPr lang="en-US" sz="1200" dirty="0"/>
          </a:p>
        </p:txBody>
      </p:sp>
      <p:sp>
        <p:nvSpPr>
          <p:cNvPr id="15" name="Shape 10"/>
          <p:cNvSpPr/>
          <p:nvPr/>
        </p:nvSpPr>
        <p:spPr>
          <a:xfrm>
            <a:off x="3167368" y="3286497"/>
            <a:ext cx="4559287" cy="1112490"/>
          </a:xfrm>
          <a:prstGeom prst="roundRect">
            <a:avLst>
              <a:gd name="adj" fmla="val 11416"/>
            </a:avLst>
          </a:prstGeom>
          <a:solidFill>
            <a:srgbClr val="FFFFFF"/>
          </a:solidFill>
          <a:ln/>
        </p:spPr>
        <p:txBody>
          <a:bodyPr/>
          <a:lstStyle/>
          <a:p>
            <a:endParaRPr/>
          </a:p>
        </p:txBody>
      </p:sp>
      <p:sp>
        <p:nvSpPr>
          <p:cNvPr id="16" name="Text 11"/>
          <p:cNvSpPr/>
          <p:nvPr/>
        </p:nvSpPr>
        <p:spPr>
          <a:xfrm>
            <a:off x="3370518" y="3464285"/>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Sairaj Lad</a:t>
            </a:r>
            <a:endParaRPr lang="en-US" sz="1500" dirty="0"/>
          </a:p>
        </p:txBody>
      </p:sp>
      <p:sp>
        <p:nvSpPr>
          <p:cNvPr id="17" name="Text 12"/>
          <p:cNvSpPr/>
          <p:nvPr/>
        </p:nvSpPr>
        <p:spPr>
          <a:xfrm>
            <a:off x="3370518" y="3743647"/>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+91 98196 16475</a:t>
            </a:r>
            <a:endParaRPr lang="en-US" sz="1200" dirty="0"/>
          </a:p>
        </p:txBody>
      </p:sp>
      <p:sp>
        <p:nvSpPr>
          <p:cNvPr id="18" name="Text 13"/>
          <p:cNvSpPr/>
          <p:nvPr/>
        </p:nvSpPr>
        <p:spPr>
          <a:xfrm>
            <a:off x="3370518" y="4007817"/>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Message on WhatsApp</a:t>
            </a:r>
            <a:endParaRPr lang="en-US" sz="1200" dirty="0"/>
          </a:p>
        </p:txBody>
      </p:sp>
      <p:sp>
        <p:nvSpPr>
          <p:cNvPr id="23" name="Text 18"/>
          <p:cNvSpPr/>
          <p:nvPr/>
        </p:nvSpPr>
        <p:spPr>
          <a:xfrm>
            <a:off x="812788" y="4627563"/>
            <a:ext cx="10883417" cy="256456"/>
          </a:xfrm>
          <a:prstGeom prst="rect">
            <a:avLst/>
          </a:prstGeom>
          <a:noFill/>
          <a:ln/>
        </p:spPr>
        <p:txBody>
          <a:bodyPr wrap="square" lIns="0" tIns="0" rIns="0" bIns="0" rtlCol="0" anchor="t"/>
          <a:lstStyle/>
          <a:p>
            <a:pPr marL="0" indent="0" algn="l">
              <a:lnSpc>
                <a:spcPts val="1820"/>
              </a:lnSpc>
              <a:buNone/>
            </a:pPr>
            <a:r>
              <a:rPr lang="en-US" sz="1300" dirty="0">
                <a:solidFill>
                  <a:srgbClr val="E8F0FE"/>
                </a:solidFill>
                <a:latin typeface="Google Sans" pitchFamily="34" charset="0"/>
                <a:ea typeface="Google Sans" pitchFamily="34" charset="-122"/>
                <a:cs typeface="Google Sans" pitchFamily="34" charset="-120"/>
              </a:rPr>
              <a:t>Any doubt in any step? Contact the technical team above, tap a link to open WhatsApp.</a:t>
            </a:r>
            <a:endParaRPr lang="en-US" sz="1300" dirty="0"/>
          </a:p>
        </p:txBody>
      </p:sp>
    </p:spTree>
  </p:cSld>
  <p:clrMapOvr>
    <a:masterClrMapping/>
  </p:clrMapOvr>
</p:sld>
</file>

<file path=ppt/theme/theme1.xml><?xml version="1.0" encoding="utf-8"?>
<a:theme xmlns:a="http://schemas.openxmlformats.org/drawingml/2006/main" name="Learn with Communities · GDGoC APSIT 2026-27">
  <a:themeElements>
    <a:clrScheme name="Learn with Communities · GDGoC APSIT 2026-27">
      <a:dk1>
        <a:srgbClr val="3C4043"/>
      </a:dk1>
      <a:lt1>
        <a:srgbClr val="FFFFFF"/>
      </a:lt1>
      <a:dk2>
        <a:srgbClr val="6D7072"/>
      </a:dk2>
      <a:lt2>
        <a:srgbClr val="ECECEC"/>
      </a:lt2>
      <a:accent1>
        <a:srgbClr val="1A73E8"/>
      </a:accent1>
      <a:accent2>
        <a:srgbClr val="137333"/>
      </a:accent2>
      <a:accent3>
        <a:srgbClr val="C5221F"/>
      </a:accent3>
      <a:accent4>
        <a:srgbClr val="B06000"/>
      </a:accent4>
      <a:accent5>
        <a:srgbClr val="E37400"/>
      </a:accent5>
      <a:accent6>
        <a:srgbClr val="202124"/>
      </a:accent6>
      <a:hlink>
        <a:srgbClr val="0563C1"/>
      </a:hlink>
      <a:folHlink>
        <a:srgbClr val="954F72"/>
      </a:folHlink>
    </a:clrScheme>
    <a:fontScheme name="Learn with Communities · GDGoC APSIT 2026-27">
      <a:majorFont>
        <a:latin typeface="Google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oogle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TotalTime>
  <Words>1017</Words>
  <Application>Microsoft Office PowerPoint</Application>
  <PresentationFormat>Widescreen</PresentationFormat>
  <Paragraphs>122</Paragraphs>
  <Slides>9</Slides>
  <Notes>8</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Google Sans</vt:lpstr>
      <vt:lpstr>Poppins Bold</vt:lpstr>
      <vt:lpstr>Learn with Communities · GDGoC APSIT 2026-27</vt:lpstr>
      <vt:lpstr>PowerPoint Presentation</vt:lpstr>
      <vt:lpstr>Learn with Communities</vt:lpstr>
      <vt:lpstr>What is Learn with Communities?</vt:lpstr>
      <vt:lpstr>Why you should register</vt:lpstr>
      <vt:lpstr>Rewards &amp; milestones</vt:lpstr>
      <vt:lpstr>Before you register: set up Google Skills</vt:lpstr>
      <vt:lpstr>How to register (limited seats)</vt:lpstr>
      <vt:lpstr>A look inside the labs</vt:lpstr>
      <vt:lpstr>Register early. Start learning.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 with Communities · GDGoC APSIT 2026-27</dc:title>
  <dc:subject/>
  <dc:creator>LOQ</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presentationâ€™s text: its family and style names and the weight and style it declares were rewritten, and any digital signature, which no longer matched, was removed. Google Fonts serves each family in parts, one file per range of characters, so these may not be a familyâ€™s complete files. Each familyâ€™s copyright lines and license follow, and each family stays under its own license; if you pass this file on, keep these notices with it.
Roboto
Copyright 2011 The Roboto Project Authors (https://github.com/googlefonts/roboto-classic)
This Font Software is licensed under the SIL Open Font License, Version 1.1.
This license is copied below, and is also available with a FAQ at:
https://openfontlicense.org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dc:description>
  <cp:lastModifiedBy>Nishit Jain</cp:lastModifiedBy>
  <cp:revision>7</cp:revision>
  <dcterms:created xsi:type="dcterms:W3CDTF">2026-10-24T14:14:01Z</dcterms:created>
  <dcterms:modified xsi:type="dcterms:W3CDTF">2026-10-25T10:28:21Z</dcterms:modified>
</cp:coreProperties>
</file>