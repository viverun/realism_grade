
<file path=[Content_Types].xml><?xml version="1.0" encoding="utf-8"?>
<Types xmlns="http://schemas.openxmlformats.org/package/2006/content-types">
  <Default Extension="fntdata" ContentType="application/x-fontdata"/>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x="12192000" cy="6858000"/>
  <p:notesSz cx="6858000" cy="12192000"/>
  <p:embeddedFontLst>
    <p:embeddedFont>
      <p:font typeface="Poppins Bold" panose="020B0604020202020204"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presProps" Target="presProps.xml"/><Relationship Id="rId12" Type="http://schemas.openxmlformats.org/officeDocument/2006/relationships/font" Target="fonts/font1.fntdata"/><Relationship Id="rId17" Type="http://schemas.microsoft.com/office/2016/11/relationships/changesInfo" Target="changesInfos/changesInfo1.xml"/><Relationship Id="rId16" Type="http://schemas.openxmlformats.org/officeDocument/2006/relationships/tableStyles" Target="tableStyles.xml"/><Relationship Id="rId1" Type="http://schemas.openxmlformats.org/officeDocument/2006/relationships/slideMaster" Target="slideMasters/slideMaster1.xml"/><Relationship Id="rId11" Type="http://schemas.openxmlformats.org/officeDocument/2006/relationships/notesMaster" Target="notesMasters/notesMaster1.xml"/><Relationship Id="rId15" Type="http://schemas.openxmlformats.org/officeDocument/2006/relationships/theme" Target="theme/theme1.xml"/><Relationship Id="rId14" Type="http://schemas.openxmlformats.org/officeDocument/2006/relationships/viewProps" Target="viewProps.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t Jain" userId="c2ba80963b7cb5e4" providerId="LiveId" clId="{B86CD3D9-95A3-4058-89D8-1F11307AEE5A}"/>
    <pc:docChg chg="modSld sldOrd">
      <pc:chgData name="Nishit Jain" userId="c2ba80963b7cb5e4" providerId="LiveId" clId="{B86CD3D9-95A3-4058-89D8-1F11307AEE5A}" dt="2026-10-25T10:28:21.665" v="7"/>
      <pc:docMkLst>
        <pc:docMk/>
      </pc:docMkLst>
      <pc:sldChg chg="ord">
        <pc:chgData name="Nishit Jain" userId="c2ba80963b7cb5e4" providerId="LiveId" clId="{B86CD3D9-95A3-4058-89D8-1F11307AEE5A}" dt="2026-10-25T10:28:03.896" v="3"/>
        <pc:sldMkLst>
          <pc:docMk/>
          <pc:sldMk cId="0" sldId="259"/>
        </pc:sldMkLst>
      </pc:sldChg>
      <pc:sldChg chg="ord">
        <pc:chgData name="Nishit Jain" userId="c2ba80963b7cb5e4" providerId="LiveId" clId="{B86CD3D9-95A3-4058-89D8-1F11307AEE5A}" dt="2026-10-25T10:28:10.330" v="5"/>
        <pc:sldMkLst>
          <pc:docMk/>
          <pc:sldMk cId="0" sldId="261"/>
        </pc:sldMkLst>
      </pc:sldChg>
      <pc:sldChg chg="ord">
        <pc:chgData name="Nishit Jain" userId="c2ba80963b7cb5e4" providerId="LiveId" clId="{B86CD3D9-95A3-4058-89D8-1F11307AEE5A}" dt="2026-10-25T10:28:21.665" v="7"/>
        <pc:sldMkLst>
          <pc:docMk/>
          <pc:sldMk cId="0" sldId="262"/>
        </pc:sldMkLst>
      </pc:sldChg>
      <pc:sldChg chg="ord">
        <pc:chgData name="Nishit Jain" userId="c2ba80963b7cb5e4" providerId="LiveId" clId="{B86CD3D9-95A3-4058-89D8-1F11307AEE5A}" dt="2026-10-25T10:27:33.891" v="1"/>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7104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711150"/>
            <a:ext cx="10566424" cy="447042"/>
          </a:xfrm>
          <a:prstGeom prst="rect">
            <a:avLst/>
          </a:prstGeom>
          <a:noFill/>
          <a:ln/>
        </p:spPr>
        <p:txBody>
          <a:bodyPr wrap="square" lIns="0" tIns="0" rIns="0" bIns="0" rtlCol="0" anchor="t"/>
          <a:lstStyle>
            <a:lvl1pPr marL="0" indent="0" algn="l">
              <a:lnSpc>
                <a:spcPct val="115000"/>
              </a:lnSpc>
              <a:buNone/>
              <a:defRPr lang="en-US" sz="3200" dirty="0">
                <a:solidFill>
                  <a:srgbClr val="202124"/>
                </a:solidFill>
                <a:latin typeface="Google Sans" pitchFamily="34" charset="0"/>
                <a:ea typeface="Google Sans" pitchFamily="34" charset="-122"/>
                <a:cs typeface="Google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462993"/>
            <a:ext cx="10566412" cy="4582207"/>
          </a:xfrm>
          <a:prstGeom prst="rect">
            <a:avLst/>
          </a:prstGeom>
          <a:noFill/>
          <a:ln/>
        </p:spPr>
        <p:txBody>
          <a:bodyPr wrap="square" lIns="0" tIns="0" rIns="0" bIns="0" rtlCol="0" anchor="t"/>
          <a:lstStyle>
            <a:lvl1pPr marL="0" indent="0" algn="l">
              <a:lnSpc>
                <a:spcPct val="140000"/>
              </a:lnSpc>
              <a:buNone/>
              <a:defRPr lang="en-US" sz="1600" dirty="0">
                <a:solidFill>
                  <a:srgbClr val="3C4043"/>
                </a:solidFill>
                <a:latin typeface="Google Sans" pitchFamily="34" charset="0"/>
                <a:ea typeface="Google Sans" pitchFamily="34" charset="-122"/>
                <a:cs typeface="Google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26330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8" y="711150"/>
            <a:ext cx="10566424" cy="447042"/>
          </a:xfrm>
          <a:prstGeom prst="rect">
            <a:avLst/>
          </a:prstGeom>
          <a:noFill/>
          <a:ln/>
        </p:spPr>
        <p:txBody>
          <a:bodyPr wrap="square" lIns="0" tIns="0" rIns="0" bIns="0" rtlCol="0" anchor="t"/>
          <a:lstStyle>
            <a:lvl1pPr marL="0" indent="0" algn="l">
              <a:lnSpc>
                <a:spcPct val="115000"/>
              </a:lnSpc>
              <a:buNone/>
              <a:defRPr lang="en-US" sz="3200" dirty="0">
                <a:solidFill>
                  <a:srgbClr val="202124"/>
                </a:solidFill>
                <a:latin typeface="Google Sans" pitchFamily="34" charset="0"/>
                <a:ea typeface="Google Sans" pitchFamily="34" charset="-122"/>
                <a:cs typeface="Google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8" y="1462993"/>
            <a:ext cx="10566412" cy="4582207"/>
          </a:xfrm>
          <a:prstGeom prst="rect">
            <a:avLst/>
          </a:prstGeom>
          <a:noFill/>
          <a:ln/>
        </p:spPr>
        <p:txBody>
          <a:bodyPr wrap="square" lIns="0" tIns="0" rIns="0" bIns="0" rtlCol="0" anchor="t"/>
          <a:lstStyle>
            <a:lvl1pPr marL="0" indent="0" algn="l">
              <a:lnSpc>
                <a:spcPct val="140000"/>
              </a:lnSpc>
              <a:buNone/>
              <a:defRPr lang="en-US" sz="1600" dirty="0">
                <a:solidFill>
                  <a:srgbClr val="3C4043"/>
                </a:solidFill>
                <a:latin typeface="Google Sans" pitchFamily="34" charset="0"/>
                <a:ea typeface="Google Sans" pitchFamily="34" charset="-122"/>
                <a:cs typeface="Google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account_create.png"/><Relationship Id="rId61" Type="http://schemas.openxmlformats.org/officeDocument/2006/relationships/hyperlink" Target="https://accounts.google.com/"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skills_home.png"/><Relationship Id="rId61" Type="http://schemas.openxmlformats.org/officeDocument/2006/relationships/hyperlink" Target="https://www.skills.google/"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profile_menu.png"/></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account_settings.png"/></Relationships>
</file>

<file path=ppt/slides/_rels/slide15.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public_link_blur.png"/></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enrolment_form.png"/><Relationship Id="rId60" Type="http://schemas.openxmlformats.org/officeDocument/2006/relationships/hyperlink" Target="https://forms.gle/VDXwE13LoaNhA2VeA"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email.png"/></Relationships>
</file>

<file path=ppt/slides/_rels/slide18.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terms.png"/></Relationships>
</file>

<file path=ppt/slides/_rels/slide19.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details.png"/></Relationships>
</file>

<file path=ppt/slides/_rels/slide20.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organiser.png"/></Relationships>
</file>

<file path=ppt/slides/_rels/slide21.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filled.png"/></Relationships>
</file>

<file path=ppt/slides/_rels/slide22.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verify.png"/></Relationships>
</file>

<file path=ppt/slides/_rels/slide23.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1" Type="http://schemas.openxmlformats.org/officeDocument/2006/relationships/image" Target="../media/profile_link_crop.png"/><Relationship Id="rId52" Type="http://schemas.openxmlformats.org/officeDocument/2006/relationships/image" Target="../media/form_url_crop.png"/></Relationships>
</file>

<file path=ppt/slides/_rels/slide24.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acknowledge.png"/></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form_submit.png"/></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7.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gmail_receipt.png"/></Relationships>
</file>

<file path=ppt/slides/_rels/slide28.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second_form.png"/><Relationship Id="rId60" Type="http://schemas.openxmlformats.org/officeDocument/2006/relationships/hyperlink" Target="https://forms.gle/kkvPUmsR8FRjVuf47"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ww.youtube.com/watch?v=o0nYT08DI64" TargetMode="External"/><Relationship Id="rId3" Type="http://schemas.openxmlformats.org/officeDocument/2006/relationships/image" Target="../media/image16.png"/><Relationship Id="rId7" Type="http://schemas.openxmlformats.org/officeDocument/2006/relationships/hyperlink" Target="https://www.skills.google/"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50" Type="http://schemas.openxmlformats.org/officeDocument/2006/relationships/image" Target="../media/whatsapp_submit.png"/></Relationships>
</file>

<file path=ppt/slides/_rels/slide30.xml.rels><?xml version="1.0" encoding="UTF-8" standalone="yes"?>
<Relationships xmlns="http://schemas.openxmlformats.org/package/2006/relationships"><Relationship Id="rId8" Type="http://schemas.openxmlformats.org/officeDocument/2006/relationships/hyperlink" Target="https://wa.me/919819616475" TargetMode="External"/><Relationship Id="rId3" Type="http://schemas.openxmlformats.org/officeDocument/2006/relationships/image" Target="../media/image23.png"/><Relationship Id="rId7" Type="http://schemas.openxmlformats.org/officeDocument/2006/relationships/hyperlink" Target="https://wa.me/918200801599" TargetMode="External"/><Relationship Id="rId1" Type="http://schemas.openxmlformats.org/officeDocument/2006/relationships/slideLayout" Target="../slideLayouts/slideLayout2.xml"/><Relationship Id="rId6" Type="http://schemas.openxmlformats.org/officeDocument/2006/relationships/hyperlink" Target="https://wa.me/917900046862" TargetMode="External"/><Relationship Id="rId5" Type="http://schemas.openxmlformats.org/officeDocument/2006/relationships/image" Target="../media/image25.png"/><Relationship Id="rId4" Type="http://schemas.openxmlformats.org/officeDocument/2006/relationships/image" Target="../media/image24.png"/></Relationships>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8F9FA"/>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9524999" y="0"/>
            <a:ext cx="3302000" cy="3302000"/>
          </a:xfrm>
          <a:prstGeom prst="rect">
            <a:avLst/>
          </a:prstGeom>
        </p:spPr>
      </p:pic>
      <p:pic>
        <p:nvPicPr>
          <p:cNvPr id="3" name="Image 1" descr="ellipse"/>
          <p:cNvPicPr>
            <a:picLocks noChangeAspect="1"/>
          </p:cNvPicPr>
          <p:nvPr/>
        </p:nvPicPr>
        <p:blipFill>
          <a:blip r:embed="rId4"/>
          <a:srcRect/>
          <a:stretch/>
        </p:blipFill>
        <p:spPr>
          <a:xfrm>
            <a:off x="10794999" y="2667000"/>
            <a:ext cx="1905000" cy="1905000"/>
          </a:xfrm>
          <a:prstGeom prst="rect">
            <a:avLst/>
          </a:prstGeom>
        </p:spPr>
      </p:pic>
      <p:pic>
        <p:nvPicPr>
          <p:cNvPr id="4" name="Image 2" descr="ellipse"/>
          <p:cNvPicPr>
            <a:picLocks noChangeAspect="1"/>
          </p:cNvPicPr>
          <p:nvPr/>
        </p:nvPicPr>
        <p:blipFill>
          <a:blip r:embed="rId5"/>
          <a:srcRect/>
          <a:stretch/>
        </p:blipFill>
        <p:spPr>
          <a:xfrm>
            <a:off x="9016999" y="4445000"/>
            <a:ext cx="1524000" cy="1524000"/>
          </a:xfrm>
          <a:prstGeom prst="rect">
            <a:avLst/>
          </a:prstGeom>
        </p:spPr>
      </p:pic>
      <p:pic>
        <p:nvPicPr>
          <p:cNvPr id="5" name="Image 3" descr="ellipse"/>
          <p:cNvPicPr>
            <a:picLocks noChangeAspect="1"/>
          </p:cNvPicPr>
          <p:nvPr/>
        </p:nvPicPr>
        <p:blipFill>
          <a:blip r:embed="rId6"/>
          <a:srcRect/>
          <a:stretch/>
        </p:blipFill>
        <p:spPr>
          <a:xfrm>
            <a:off x="10921999" y="5461000"/>
            <a:ext cx="2159000" cy="2159000"/>
          </a:xfrm>
          <a:prstGeom prst="rect">
            <a:avLst/>
          </a:prstGeom>
        </p:spPr>
      </p:pic>
      <p:pic>
        <p:nvPicPr>
          <p:cNvPr id="6" name="Image 4" descr="ellipse"/>
          <p:cNvPicPr>
            <a:picLocks noChangeAspect="1"/>
          </p:cNvPicPr>
          <p:nvPr/>
        </p:nvPicPr>
        <p:blipFill>
          <a:blip r:embed="rId7"/>
          <a:srcRect/>
          <a:stretch/>
        </p:blipFill>
        <p:spPr>
          <a:xfrm>
            <a:off x="812788" y="1397124"/>
            <a:ext cx="152363" cy="152363"/>
          </a:xfrm>
          <a:prstGeom prst="rect">
            <a:avLst/>
          </a:prstGeom>
        </p:spPr>
      </p:pic>
      <p:pic>
        <p:nvPicPr>
          <p:cNvPr id="7" name="Image 5" descr="ellipse"/>
          <p:cNvPicPr>
            <a:picLocks noChangeAspect="1"/>
          </p:cNvPicPr>
          <p:nvPr/>
        </p:nvPicPr>
        <p:blipFill>
          <a:blip r:embed="rId8"/>
          <a:srcRect/>
          <a:stretch/>
        </p:blipFill>
        <p:spPr>
          <a:xfrm>
            <a:off x="1066725" y="1397124"/>
            <a:ext cx="152363" cy="152363"/>
          </a:xfrm>
          <a:prstGeom prst="rect">
            <a:avLst/>
          </a:prstGeom>
        </p:spPr>
      </p:pic>
      <p:pic>
        <p:nvPicPr>
          <p:cNvPr id="8" name="Image 6" descr="ellipse"/>
          <p:cNvPicPr>
            <a:picLocks noChangeAspect="1"/>
          </p:cNvPicPr>
          <p:nvPr/>
        </p:nvPicPr>
        <p:blipFill>
          <a:blip r:embed="rId9"/>
          <a:srcRect/>
          <a:stretch/>
        </p:blipFill>
        <p:spPr>
          <a:xfrm>
            <a:off x="1320663" y="1397124"/>
            <a:ext cx="152363" cy="152363"/>
          </a:xfrm>
          <a:prstGeom prst="rect">
            <a:avLst/>
          </a:prstGeom>
        </p:spPr>
      </p:pic>
      <p:pic>
        <p:nvPicPr>
          <p:cNvPr id="9" name="Image 7" descr="ellipse"/>
          <p:cNvPicPr>
            <a:picLocks noChangeAspect="1"/>
          </p:cNvPicPr>
          <p:nvPr/>
        </p:nvPicPr>
        <p:blipFill>
          <a:blip r:embed="rId10"/>
          <a:srcRect/>
          <a:stretch/>
        </p:blipFill>
        <p:spPr>
          <a:xfrm>
            <a:off x="1574601" y="1397124"/>
            <a:ext cx="152363" cy="152363"/>
          </a:xfrm>
          <a:prstGeom prst="rect">
            <a:avLst/>
          </a:prstGeom>
        </p:spPr>
      </p:pic>
      <p:sp>
        <p:nvSpPr>
          <p:cNvPr id="10" name="Text 0"/>
          <p:cNvSpPr/>
          <p:nvPr/>
        </p:nvSpPr>
        <p:spPr>
          <a:xfrm>
            <a:off x="1828539" y="1340011"/>
            <a:ext cx="7289899" cy="292050"/>
          </a:xfrm>
          <a:prstGeom prst="rect">
            <a:avLst/>
          </a:prstGeom>
          <a:noFill/>
          <a:ln/>
        </p:spPr>
        <p:txBody>
          <a:bodyPr wrap="square" lIns="0" tIns="0" rIns="0" bIns="0" rtlCol="0" anchor="t"/>
          <a:lstStyle/>
          <a:p>
            <a:pPr marL="0" indent="0" algn="l">
              <a:lnSpc>
                <a:spcPts val="2100"/>
              </a:lnSpc>
              <a:buNone/>
            </a:pPr>
            <a:r>
              <a:rPr lang="en-US" sz="1500" dirty="0">
                <a:solidFill>
                  <a:srgbClr val="5F6368"/>
                </a:solidFill>
                <a:latin typeface="Google Sans" pitchFamily="34" charset="0"/>
                <a:ea typeface="Google Sans" pitchFamily="34" charset="-122"/>
                <a:cs typeface="Google Sans" pitchFamily="34" charset="-120"/>
              </a:rPr>
              <a:t>Google Developer Groups on Campus · A. P. Shah Institute of Technology</a:t>
            </a:r>
            <a:endParaRPr lang="en-US" sz="1500" dirty="0"/>
          </a:p>
        </p:txBody>
      </p:sp>
      <p:sp>
        <p:nvSpPr>
          <p:cNvPr id="11" name="Text 1"/>
          <p:cNvSpPr>
            <a:spLocks noGrp="1"/>
          </p:cNvSpPr>
          <p:nvPr>
            <p:ph type="title"/>
          </p:nvPr>
        </p:nvSpPr>
        <p:spPr>
          <a:xfrm>
            <a:off x="812788" y="1835237"/>
            <a:ext cx="8110219" cy="1732210"/>
          </a:xfrm>
          <a:prstGeom prst="rect">
            <a:avLst/>
          </a:prstGeom>
          <a:noFill/>
          <a:ln/>
        </p:spPr>
        <p:txBody>
          <a:bodyPr wrap="square" lIns="0" tIns="0" rIns="0" bIns="0" rtlCol="0" anchor="t"/>
          <a:lstStyle/>
          <a:p>
            <a:pPr marL="0" indent="0" algn="l">
              <a:lnSpc>
                <a:spcPts val="6720"/>
              </a:lnSpc>
              <a:buNone/>
            </a:pPr>
            <a:r>
              <a:rPr lang="en-US" sz="6400" b="1" i="0" dirty="0">
                <a:solidFill>
                  <a:srgbClr val="202124"/>
                </a:solidFill>
                <a:latin typeface="Google Sans" pitchFamily="34" charset="0"/>
                <a:ea typeface="Google Sans" pitchFamily="34" charset="-122"/>
                <a:cs typeface="Google Sans" pitchFamily="34" charset="-120"/>
              </a:rPr>
              <a:t>Missed the </a:t>
            </a:r>
            <a:r>
              <a:rPr lang="en-US" sz="6400" b="1" i="0" dirty="0">
                <a:solidFill>
                  <a:srgbClr val="4285F4"/>
                </a:solidFill>
                <a:latin typeface="Google Sans" pitchFamily="34" charset="0"/>
                <a:ea typeface="Google Sans" pitchFamily="34" charset="-122"/>
                <a:cs typeface="Google Sans" pitchFamily="34" charset="-120"/>
              </a:rPr>
              <a:t>session?</a:t>
            </a:r>
            <a:endParaRPr lang="en-US" sz="6400" dirty="0"/>
          </a:p>
        </p:txBody>
      </p:sp>
      <p:sp>
        <p:nvSpPr>
          <p:cNvPr id="12" name="Text 2"/>
          <p:cNvSpPr/>
          <p:nvPr/>
        </p:nvSpPr>
        <p:spPr>
          <a:xfrm>
            <a:off x="812788" y="3770622"/>
            <a:ext cx="7848599" cy="416570"/>
          </a:xfrm>
          <a:prstGeom prst="rect">
            <a:avLst/>
          </a:prstGeom>
          <a:noFill/>
          <a:ln/>
        </p:spPr>
        <p:txBody>
          <a:bodyPr wrap="square" lIns="0" tIns="0" rIns="0" bIns="0" rtlCol="0" anchor="t"/>
          <a:lstStyle/>
          <a:p>
            <a:pPr marL="0" indent="0" algn="l">
              <a:lnSpc>
                <a:spcPts val="3080"/>
              </a:lnSpc>
              <a:buNone/>
            </a:pPr>
            <a:r>
              <a:rPr lang="en-US" sz="2200" dirty="0">
                <a:solidFill>
                  <a:srgbClr val="3C4043"/>
                </a:solidFill>
                <a:latin typeface="Google Sans" pitchFamily="34" charset="0"/>
                <a:ea typeface="Google Sans" pitchFamily="34" charset="-122"/>
                <a:cs typeface="Google Sans" pitchFamily="34" charset="-120"/>
              </a:rPr>
              <a:t>Skill Boost registration guide, </a:t>
            </a:r>
            <a:r>
              <a:rPr lang="en-US" sz="2200" b="1" dirty="0">
                <a:solidFill>
                  <a:srgbClr val="34A853"/>
                </a:solidFill>
                <a:latin typeface="Google Sans" pitchFamily="34" charset="0"/>
                <a:ea typeface="Google Sans" pitchFamily="34" charset="-122"/>
                <a:cs typeface="Google Sans" pitchFamily="34" charset="-120"/>
              </a:rPr>
              <a:t>step by step</a:t>
            </a:r>
            <a:endParaRPr lang="en-US" sz="2200" dirty="0"/>
          </a:p>
        </p:txBody>
      </p:sp>
      <p:sp>
        <p:nvSpPr>
          <p:cNvPr id="13" name="Text 3"/>
          <p:cNvSpPr/>
          <p:nvPr/>
        </p:nvSpPr>
        <p:spPr>
          <a:xfrm>
            <a:off x="812788" y="4390367"/>
            <a:ext cx="8046720" cy="777240"/>
          </a:xfrm>
          <a:prstGeom prst="rect">
            <a:avLst/>
          </a:prstGeom>
          <a:noFill/>
          <a:ln/>
        </p:spPr>
        <p:txBody>
          <a:bodyPr wrap="square" lIns="0" tIns="0" rIns="0" bIns="0" rtlCol="0" anchor="t"/>
          <a:lstStyle/>
          <a:p>
            <a:pPr marL="0" indent="0" algn="l">
              <a:lnSpc>
                <a:spcPts val="2100"/>
              </a:lnSpc>
              <a:buNone/>
            </a:pPr>
            <a:r>
              <a:rPr lang="en-US" sz="1400" dirty="0">
                <a:solidFill>
                  <a:srgbClr val="5F6368"/>
                </a:solidFill>
                <a:latin typeface="Google Sans" pitchFamily="34" charset="0"/>
                <a:ea typeface="Google Sans" pitchFamily="34" charset="-122"/>
                <a:cs typeface="Google Sans" pitchFamily="34" charset="-120"/>
              </a:rPr>
              <a:t>For anyone who missed the session: how to register for Skill Boost (now called Google Skills). Follow the screenshots to fill in both forms.</a:t>
            </a:r>
            <a:endParaRPr lang="en-US" sz="1400" dirty="0"/>
          </a:p>
        </p:txBody>
      </p:sp>
      <p:sp>
        <p:nvSpPr>
          <p:cNvPr id="14" name="Text 4"/>
          <p:cNvSpPr/>
          <p:nvPr/>
        </p:nvSpPr>
        <p:spPr>
          <a:xfrm>
            <a:off x="812788" y="5152243"/>
            <a:ext cx="1403015" cy="365683"/>
          </a:xfrm>
          <a:prstGeom prst="roundRect">
            <a:avLst>
              <a:gd name="adj" fmla="val 50000"/>
            </a:avLst>
          </a:prstGeom>
          <a:solidFill>
            <a:srgbClr val="E8F0FE"/>
          </a:solidFill>
          <a:ln/>
        </p:spPr>
        <p:txBody>
          <a:bodyPr wrap="none" lIns="0" tIns="0" rIns="0" bIns="0" rtlCol="0" anchor="ctr"/>
          <a:lstStyle/>
          <a:p>
            <a:pPr marL="0" indent="0" algn="ctr">
              <a:lnSpc>
                <a:spcPts val="1680"/>
              </a:lnSpc>
              <a:buNone/>
            </a:pPr>
            <a:r>
              <a:rPr lang="en-US" sz="1200" dirty="0">
                <a:solidFill>
                  <a:srgbClr val="1A73E8"/>
                </a:solidFill>
                <a:latin typeface="Google Sans" pitchFamily="34" charset="0"/>
                <a:ea typeface="Google Sans" pitchFamily="34" charset="-122"/>
                <a:cs typeface="Google Sans" pitchFamily="34" charset="-120"/>
              </a:rPr>
              <a:t>Short steps</a:t>
            </a:r>
            <a:endParaRPr lang="en-US" sz="1200" dirty="0"/>
          </a:p>
        </p:txBody>
      </p:sp>
      <p:sp>
        <p:nvSpPr>
          <p:cNvPr id="15" name="Text 5"/>
          <p:cNvSpPr/>
          <p:nvPr/>
        </p:nvSpPr>
        <p:spPr>
          <a:xfrm>
            <a:off x="2317378" y="5152243"/>
            <a:ext cx="1181695" cy="365683"/>
          </a:xfrm>
          <a:prstGeom prst="roundRect">
            <a:avLst>
              <a:gd name="adj" fmla="val 50000"/>
            </a:avLst>
          </a:prstGeom>
          <a:solidFill>
            <a:srgbClr val="FCE8E6"/>
          </a:solidFill>
          <a:ln/>
        </p:spPr>
        <p:txBody>
          <a:bodyPr wrap="none" lIns="0" tIns="0" rIns="0" bIns="0" rtlCol="0" anchor="ctr"/>
          <a:lstStyle/>
          <a:p>
            <a:pPr marL="0" indent="0" algn="ctr">
              <a:lnSpc>
                <a:spcPts val="1680"/>
              </a:lnSpc>
              <a:buNone/>
            </a:pPr>
            <a:r>
              <a:rPr lang="en-US" sz="1200" dirty="0">
                <a:solidFill>
                  <a:srgbClr val="C5221F"/>
                </a:solidFill>
                <a:latin typeface="Google Sans" pitchFamily="34" charset="0"/>
                <a:ea typeface="Google Sans" pitchFamily="34" charset="-122"/>
                <a:cs typeface="Google Sans" pitchFamily="34" charset="-120"/>
              </a:rPr>
              <a:t>Screenshots</a:t>
            </a:r>
            <a:endParaRPr lang="en-US" sz="1200" dirty="0"/>
          </a:p>
        </p:txBody>
      </p:sp>
      <p:sp>
        <p:nvSpPr>
          <p:cNvPr id="16" name="Text 6"/>
          <p:cNvSpPr/>
          <p:nvPr/>
        </p:nvSpPr>
        <p:spPr>
          <a:xfrm>
            <a:off x="3600648" y="5152243"/>
            <a:ext cx="1909155" cy="365683"/>
          </a:xfrm>
          <a:prstGeom prst="roundRect">
            <a:avLst>
              <a:gd name="adj" fmla="val 50000"/>
            </a:avLst>
          </a:prstGeom>
          <a:solidFill>
            <a:srgbClr val="E6F4EA"/>
          </a:solidFill>
          <a:ln/>
        </p:spPr>
        <p:txBody>
          <a:bodyPr wrap="none" lIns="0" tIns="0" rIns="0" bIns="0" rtlCol="0" anchor="ctr"/>
          <a:lstStyle/>
          <a:p>
            <a:pPr marL="0" indent="0" algn="ctr">
              <a:lnSpc>
                <a:spcPts val="1680"/>
              </a:lnSpc>
              <a:buNone/>
            </a:pPr>
            <a:r>
              <a:rPr lang="en-US" sz="1200" dirty="0">
                <a:solidFill>
                  <a:srgbClr val="137333"/>
                </a:solidFill>
                <a:latin typeface="Google Sans" pitchFamily="34" charset="0"/>
                <a:ea typeface="Google Sans" pitchFamily="34" charset="-122"/>
                <a:cs typeface="Google Sans" pitchFamily="34" charset="-120"/>
              </a:rPr>
              <a:t>Both forms covered</a:t>
            </a:r>
            <a:endParaRPr lang="en-US" sz="1200" dirty="0"/>
          </a:p>
        </p:txBody>
      </p:sp>
      <p:sp>
        <p:nvSpPr>
          <p:cNvPr id="17" name="Text 7"/>
          <p:cNvSpPr/>
          <p:nvPr/>
        </p:nvSpPr>
        <p:spPr>
          <a:xfrm>
            <a:off x="5611378" y="5152243"/>
            <a:ext cx="1988654" cy="365683"/>
          </a:xfrm>
          <a:prstGeom prst="roundRect">
            <a:avLst>
              <a:gd name="adj" fmla="val 50000"/>
            </a:avLst>
          </a:prstGeom>
          <a:solidFill>
            <a:srgbClr val="FEF7E0"/>
          </a:solidFill>
          <a:ln/>
        </p:spPr>
        <p:txBody>
          <a:bodyPr wrap="none" lIns="0" tIns="0" rIns="0" bIns="0" rtlCol="0" anchor="ctr"/>
          <a:lstStyle/>
          <a:p>
            <a:pPr marL="0" indent="0" algn="ctr">
              <a:lnSpc>
                <a:spcPts val="1680"/>
              </a:lnSpc>
              <a:buNone/>
            </a:pPr>
            <a:r>
              <a:rPr lang="en-US" sz="1200" dirty="0">
                <a:solidFill>
                  <a:srgbClr val="B06000"/>
                </a:solidFill>
                <a:latin typeface="Google Sans" pitchFamily="34" charset="0"/>
                <a:ea typeface="Google Sans" pitchFamily="34" charset="-122"/>
                <a:cs typeface="Google Sans" pitchFamily="34" charset="-120"/>
              </a:rPr>
              <a:t>Register by 31 Oct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 Create a fresh Google account</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Start with a new account made for this program, so only your new badges count.</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sign-up page</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 xml:space="preserve">Go to </a:t>
            </a:r>
            <a:r>
              <a:rPr u="sng" lang="en-US" sz="1200" dirty="0">
                <a:solidFill>
                  <a:srgbClr val="1A73E8"/>
                </a:solidFill>
                <a:latin typeface="Google Sans" pitchFamily="34" charset="0"/>
                <a:ea typeface="Google Sans" pitchFamily="34" charset="-122"/>
                <a:cs typeface="Google Sans" pitchFamily="34" charset="-120"/>
                <a:hlinkClick r:id="rId61"/>
              </a:rPr>
              <a:t>accounts.google.com</a:t>
            </a:r>
            <a:r>
              <a:rPr lang="en-US" sz="1200" dirty="0">
                <a:solidFill>
                  <a:srgbClr val="3C4043"/>
                </a:solidFill>
                <a:latin typeface="Google Sans" pitchFamily="34" charset="0"/>
                <a:ea typeface="Google Sans" pitchFamily="34" charset="-122"/>
                <a:cs typeface="Google Sans" pitchFamily="34" charset="-120"/>
              </a:rPr>
              <a:t xml:space="preserve"> and choose Create account, then For my personal use.</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Enter your name</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Type your first and last name in the first red box, then click Next.</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Finish the setup properly</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Add birthday, pick a username and a strong password, and verify your phone. Note them down.</a:t>
            </a:r>
            <a:endParaRPr lang="en-US" sz="1200" dirty="0"/>
          </a:p>
        </p:txBody>
      </p:sp>
      <p:pic>
        <p:nvPicPr>
          <p:cNvPr id="99" name="Google account creation" descr="Create a Google Account page with First name, Last name and Next"/>
          <p:cNvPicPr>
            <a:picLocks noChangeAspect="1"/>
          </p:cNvPicPr>
          <p:nvPr/>
        </p:nvPicPr>
        <p:blipFill>
          <a:blip r:embed="rId50"/>
          <a:srcRect l="0" t="0" r="0" b="0"/>
          <a:stretch>
            <a:fillRect/>
          </a:stretch>
        </p:blipFill>
        <p:spPr>
          <a:xfrm>
            <a:off x="5120640" y="2011680"/>
            <a:ext cx="6519672" cy="3667316"/>
          </a:xfrm>
          <a:prstGeom prst="roundRect">
            <a:avLst>
              <a:gd name="adj" fmla="val 2000"/>
            </a:avLst>
          </a:prstGeom>
          <a:ln w="12700">
            <a:solidFill>
              <a:srgbClr val="DADCE0"/>
            </a:solidFill>
          </a:ln>
        </p:spPr>
      </p:pic>
      <p:sp>
        <p:nvSpPr>
          <p:cNvPr id="100" name="Highlight box 1"/>
          <p:cNvSpPr/>
          <p:nvPr/>
        </p:nvSpPr>
        <p:spPr>
          <a:xfrm>
            <a:off x="8523094" y="2711186"/>
            <a:ext cx="2977996" cy="1222438"/>
          </a:xfrm>
          <a:prstGeom prst="rect">
            <a:avLst/>
          </a:prstGeom>
          <a:noFill/>
          <a:ln w="19050">
            <a:solidFill>
              <a:srgbClr val="EA4335"/>
            </a:solidFill>
          </a:ln>
        </p:spPr>
        <p:txBody>
          <a:bodyPr/>
          <a:lstStyle/>
          <a:p>
            <a:endParaRPr lang="en-US"/>
          </a:p>
        </p:txBody>
      </p:sp>
      <p:sp>
        <p:nvSpPr>
          <p:cNvPr id="101" name="Highlight box 2"/>
          <p:cNvSpPr/>
          <p:nvPr/>
        </p:nvSpPr>
        <p:spPr>
          <a:xfrm>
            <a:off x="10811770" y="4286774"/>
            <a:ext cx="668946" cy="366732"/>
          </a:xfrm>
          <a:prstGeom prst="rect">
            <a:avLst/>
          </a:prstGeom>
          <a:noFill/>
          <a:ln w="19050">
            <a:solidFill>
              <a:srgbClr val="EA4335"/>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2: Go to Google Skills</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Go to this site, then join with the fresh Google account you created in Step 1.</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Go to this site</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 xml:space="preserve">Open </a:t>
            </a:r>
            <a:r>
              <a:rPr u="sng" lang="en-US" sz="1200" dirty="0">
                <a:solidFill>
                  <a:srgbClr val="1A73E8"/>
                </a:solidFill>
                <a:latin typeface="Google Sans" pitchFamily="34" charset="0"/>
                <a:ea typeface="Google Sans" pitchFamily="34" charset="-122"/>
                <a:cs typeface="Google Sans" pitchFamily="34" charset="-120"/>
                <a:hlinkClick r:id="rId61"/>
              </a:rPr>
              <a:t>skills.google</a:t>
            </a:r>
            <a:r>
              <a:rPr lang="en-US" sz="1200" dirty="0">
                <a:solidFill>
                  <a:srgbClr val="3C4043"/>
                </a:solidFill>
                <a:latin typeface="Google Sans" pitchFamily="34" charset="0"/>
                <a:ea typeface="Google Sans" pitchFamily="34" charset="-122"/>
                <a:cs typeface="Google Sans" pitchFamily="34" charset="-120"/>
              </a:rPr>
              <a:t xml:space="preserve"> (Google Skills, formerly Cloud Skills Boost) in your browser.</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Join</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Click Join at the top right, marked with the red box and arrow.</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Join with your fresh account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Use the new Google account you just created, not an old one.</a:t>
            </a:r>
            <a:endParaRPr lang="en-US" sz="1200" dirty="0"/>
          </a:p>
        </p:txBody>
      </p:sp>
      <p:pic>
        <p:nvPicPr>
          <p:cNvPr id="99" name="Google Skills home page" descr="Google Skills home page with the Join and Sign in buttons at the top right"/>
          <p:cNvPicPr>
            <a:picLocks noChangeAspect="1"/>
          </p:cNvPicPr>
          <p:nvPr/>
        </p:nvPicPr>
        <p:blipFill>
          <a:blip r:embed="rId50"/>
          <a:srcRect l="0" t="0" r="0" b="0"/>
          <a:stretch>
            <a:fillRect/>
          </a:stretch>
        </p:blipFill>
        <p:spPr>
          <a:xfrm>
            <a:off x="5120640" y="2011680"/>
            <a:ext cx="6519672" cy="3667316"/>
          </a:xfrm>
          <a:prstGeom prst="roundRect">
            <a:avLst>
              <a:gd name="adj" fmla="val 2000"/>
            </a:avLst>
          </a:prstGeom>
          <a:ln w="12700">
            <a:solidFill>
              <a:srgbClr val="DADCE0"/>
            </a:solidFill>
          </a:ln>
        </p:spPr>
      </p:pic>
      <p:sp>
        <p:nvSpPr>
          <p:cNvPr id="100" name="Highlight box 1"/>
          <p:cNvSpPr/>
          <p:nvPr/>
        </p:nvSpPr>
        <p:spPr>
          <a:xfrm>
            <a:off x="11215854" y="2035450"/>
            <a:ext cx="342962" cy="237696"/>
          </a:xfrm>
          <a:prstGeom prst="rect">
            <a:avLst/>
          </a:prstGeom>
          <a:noFill/>
          <a:ln w="19050">
            <a:solidFill>
              <a:srgbClr val="EA4335"/>
            </a:solidFill>
          </a:ln>
        </p:spPr>
        <p:txBody>
          <a:bodyPr/>
          <a:lstStyle/>
          <a:p>
            <a:endParaRPr lang="en-US"/>
          </a:p>
        </p:txBody>
      </p:sp>
      <p:cxnSp>
        <p:nvCxnSpPr>
          <p:cNvPr id="110" name="Arrow 1"/>
          <p:cNvCxnSpPr/>
          <p:nvPr/>
        </p:nvCxnSpPr>
        <p:spPr>
          <a:xfrm>
            <a:off x="11385637" y="1486810"/>
            <a:ext cx="0" cy="521208"/>
          </a:xfrm>
          <a:prstGeom prst="line">
            <a:avLst/>
          </a:prstGeom>
          <a:ln w="28575">
            <a:solidFill>
              <a:srgbClr val="EA4335"/>
            </a:solidFill>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3: Open your profile settings</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Once you have joined, open Settings from your profile menu.</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your profile icon</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Click your profile icon at the top right, marked with the red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Choose Settings</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Pick Settings from the menu, shown by the arrow.</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Get ready to go Public</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Next, you will set your profile to Public.</a:t>
            </a:r>
            <a:endParaRPr lang="en-US" sz="1200" dirty="0"/>
          </a:p>
        </p:txBody>
      </p:sp>
      <p:pic>
        <p:nvPicPr>
          <p:cNvPr id="99" name="Google Skills profile menu" descr="Google Skills profile menu open with the Settings option"/>
          <p:cNvPicPr>
            <a:picLocks noChangeAspect="1"/>
          </p:cNvPicPr>
          <p:nvPr/>
        </p:nvPicPr>
        <p:blipFill>
          <a:blip r:embed="rId50"/>
          <a:srcRect l="0" t="0" r="0" b="0"/>
          <a:stretch>
            <a:fillRect/>
          </a:stretch>
        </p:blipFill>
        <p:spPr>
          <a:xfrm>
            <a:off x="5120640" y="2011680"/>
            <a:ext cx="6519672" cy="3667316"/>
          </a:xfrm>
          <a:prstGeom prst="roundRect">
            <a:avLst>
              <a:gd name="adj" fmla="val 2000"/>
            </a:avLst>
          </a:prstGeom>
          <a:ln w="12700">
            <a:solidFill>
              <a:srgbClr val="DADCE0"/>
            </a:solidFill>
          </a:ln>
        </p:spPr>
      </p:pic>
      <p:sp>
        <p:nvSpPr>
          <p:cNvPr id="100" name="Highlight box 1"/>
          <p:cNvSpPr/>
          <p:nvPr/>
        </p:nvSpPr>
        <p:spPr>
          <a:xfrm>
            <a:off x="11324515" y="2025263"/>
            <a:ext cx="234301" cy="234301"/>
          </a:xfrm>
          <a:prstGeom prst="rect">
            <a:avLst/>
          </a:prstGeom>
          <a:noFill/>
          <a:ln w="19050">
            <a:solidFill>
              <a:srgbClr val="EA4335"/>
            </a:solidFill>
          </a:ln>
        </p:spPr>
        <p:txBody>
          <a:bodyPr/>
          <a:lstStyle/>
          <a:p>
            <a:endParaRPr lang="en-US"/>
          </a:p>
        </p:txBody>
      </p:sp>
      <p:cxnSp>
        <p:nvCxnSpPr>
          <p:cNvPr id="110" name="Arrow 1"/>
          <p:cNvCxnSpPr/>
          <p:nvPr/>
        </p:nvCxnSpPr>
        <p:spPr>
          <a:xfrm>
            <a:off x="9590789" y="3566893"/>
            <a:ext cx="521208" cy="0"/>
          </a:xfrm>
          <a:prstGeom prst="line">
            <a:avLst/>
          </a:prstGeom>
          <a:ln w="28575">
            <a:solidFill>
              <a:srgbClr val="EA4335"/>
            </a:solidFill>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4: Make your profile public</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In Settings, scroll down to the Public visibility section so Google can verify your badges.</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Tick Make profile public</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Scroll down to Public visibility, then tick the checkbox in the first red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Update settings</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Press the blue button at the bottom to save, marked with the second red box.</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Your profile is now public</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Your badges can now be verified.</a:t>
            </a:r>
            <a:endParaRPr lang="en-US" sz="1200" dirty="0"/>
          </a:p>
        </p:txBody>
      </p:sp>
      <p:pic>
        <p:nvPicPr>
          <p:cNvPr id="99" name="Google Skills account settings" descr="Account settings page with Make profile public checkbox and Update settings button"/>
          <p:cNvPicPr>
            <a:picLocks noChangeAspect="1"/>
          </p:cNvPicPr>
          <p:nvPr/>
        </p:nvPicPr>
        <p:blipFill>
          <a:blip r:embed="rId50"/>
          <a:srcRect l="17188" t="8333" r="21875" b="0"/>
          <a:stretch>
            <a:fillRect/>
          </a:stretch>
        </p:blipFill>
        <p:spPr>
          <a:xfrm>
            <a:off x="6003036" y="2011680"/>
            <a:ext cx="4754880" cy="4023360"/>
          </a:xfrm>
          <a:prstGeom prst="roundRect">
            <a:avLst>
              <a:gd name="adj" fmla="val 2000"/>
            </a:avLst>
          </a:prstGeom>
          <a:ln w="12700">
            <a:solidFill>
              <a:srgbClr val="DADCE0"/>
            </a:solidFill>
          </a:ln>
        </p:spPr>
      </p:pic>
      <p:sp>
        <p:nvSpPr>
          <p:cNvPr id="100" name="Highlight box 1"/>
          <p:cNvSpPr/>
          <p:nvPr/>
        </p:nvSpPr>
        <p:spPr>
          <a:xfrm>
            <a:off x="6287516" y="2832608"/>
            <a:ext cx="1068832" cy="211328"/>
          </a:xfrm>
          <a:prstGeom prst="rect">
            <a:avLst/>
          </a:prstGeom>
          <a:noFill/>
          <a:ln w="19050">
            <a:solidFill>
              <a:srgbClr val="EA4335"/>
            </a:solidFill>
          </a:ln>
        </p:spPr>
        <p:txBody>
          <a:bodyPr/>
          <a:lstStyle/>
          <a:p>
            <a:endParaRPr lang="en-US"/>
          </a:p>
        </p:txBody>
      </p:sp>
      <p:sp>
        <p:nvSpPr>
          <p:cNvPr id="101" name="Highlight box 2"/>
          <p:cNvSpPr/>
          <p:nvPr/>
        </p:nvSpPr>
        <p:spPr>
          <a:xfrm>
            <a:off x="6287516" y="5376672"/>
            <a:ext cx="865632" cy="345440"/>
          </a:xfrm>
          <a:prstGeom prst="rect">
            <a:avLst/>
          </a:prstGeom>
          <a:noFill/>
          <a:ln w="19050">
            <a:solidFill>
              <a:srgbClr val="EA4335"/>
            </a:solidFill>
          </a:ln>
        </p:spPr>
        <p:txBody>
          <a:bodyPr/>
          <a:lstStyle/>
          <a:p>
            <a:endParaRPr lang="en-US"/>
          </a:p>
        </p:txBody>
      </p:sp>
      <p:cxnSp>
        <p:nvCxnSpPr>
          <p:cNvPr id="110" name="Arrow 1"/>
          <p:cNvCxnSpPr/>
          <p:nvPr/>
        </p:nvCxnSpPr>
        <p:spPr>
          <a:xfrm>
            <a:off x="7380732" y="2934208"/>
            <a:ext cx="731520" cy="0"/>
          </a:xfrm>
          <a:prstGeom prst="line">
            <a:avLst/>
          </a:prstGeom>
          <a:ln w="28575">
            <a:solidFill>
              <a:srgbClr val="EA4335"/>
            </a:solidFill>
            <a:headEnd type="triangle" w="med" len="med"/>
          </a:ln>
        </p:spPr>
      </p:cxnSp>
      <p:sp>
        <p:nvSpPr>
          <p:cNvPr id="111" name="Mark this box label"/>
          <p:cNvSpPr txBox="1"/>
          <p:nvPr/>
        </p:nvSpPr>
        <p:spPr>
          <a:xfrm>
            <a:off x="8185404" y="2778760"/>
            <a:ext cx="1463040" cy="310896"/>
          </a:xfrm>
          <a:prstGeom prst="rect">
            <a:avLst/>
          </a:prstGeom>
          <a:noFill/>
        </p:spPr>
        <p:txBody>
          <a:bodyPr wrap="none" lIns="0" tIns="0" rIns="0" bIns="0" anchor="ctr"/>
          <a:lstStyle/>
          <a:p>
            <a:r>
              <a:rPr lang="en-US" sz="1400" b="1" dirty="0">
                <a:solidFill>
                  <a:srgbClr val="EA4335"/>
                </a:solidFill>
              </a:rPr>
              <a:t>Mark this box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5: Copy your public profile link</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You need this link for the registration form, so save it before you move on.</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Find your public link</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A green box shows your profile link, marked with the red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Copy the link</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Select the whole link and copy it.</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Save it somewhere safe</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Paste it in Notes or a message to yourself. You will need it soon.</a:t>
            </a:r>
            <a:endParaRPr lang="en-US" sz="1200" dirty="0"/>
          </a:p>
        </p:txBody>
      </p:sp>
      <p:pic>
        <p:nvPicPr>
          <p:cNvPr id="99" name="Public profile link" descr="Account settings showing the public profile link in a green box"/>
          <p:cNvPicPr>
            <a:picLocks noChangeAspect="1"/>
          </p:cNvPicPr>
          <p:nvPr/>
        </p:nvPicPr>
        <p:blipFill>
          <a:blip r:embed="rId50"/>
          <a:srcRect l="17188" t="8333" r="21875" b="0"/>
          <a:stretch>
            <a:fillRect/>
          </a:stretch>
        </p:blipFill>
        <p:spPr>
          <a:xfrm>
            <a:off x="6003036" y="2011680"/>
            <a:ext cx="4754880" cy="4023360"/>
          </a:xfrm>
          <a:prstGeom prst="roundRect">
            <a:avLst>
              <a:gd name="adj" fmla="val 2000"/>
            </a:avLst>
          </a:prstGeom>
          <a:ln w="12700">
            <a:solidFill>
              <a:srgbClr val="DADCE0"/>
            </a:solidFill>
          </a:ln>
        </p:spPr>
      </p:pic>
      <p:sp>
        <p:nvSpPr>
          <p:cNvPr id="100" name="Highlight box 1"/>
          <p:cNvSpPr/>
          <p:nvPr/>
        </p:nvSpPr>
        <p:spPr>
          <a:xfrm>
            <a:off x="6295644" y="3503168"/>
            <a:ext cx="3364992" cy="373888"/>
          </a:xfrm>
          <a:prstGeom prst="rect">
            <a:avLst/>
          </a:prstGeom>
          <a:noFill/>
          <a:ln w="19050">
            <a:solidFill>
              <a:srgbClr val="EA4335"/>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6: Open the enrolment form</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With your profile link saved, open the Participant Enrolment Form.</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form link</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Open </a:t>
            </a:r>
            <a:r>
              <a:rPr u="sng" lang="en-US" sz="1200" dirty="0">
                <a:solidFill>
                  <a:srgbClr val="1A73E8"/>
                </a:solidFill>
                <a:latin typeface="Google Sans" pitchFamily="34" charset="0"/>
                <a:ea typeface="Google Sans" pitchFamily="34" charset="-122"/>
                <a:cs typeface="Google Sans" pitchFamily="34" charset="-120"/>
                <a:hlinkClick r:id="rId60"/>
              </a:rPr>
              <a:t>forms.gle/VDXwE13LoaNhA2VeA</a:t>
            </a:r>
            <a:r>
              <a:rPr lang="en-US" sz="1200" dirty="0">
                <a:solidFill>
                  <a:srgbClr val="3C4043"/>
                </a:solidFill>
                <a:latin typeface="Google Sans" pitchFamily="34" charset="0"/>
                <a:ea typeface="Google Sans" pitchFamily="34" charset="-122"/>
                <a:cs typeface="Google Sans" pitchFamily="34" charset="-120"/>
              </a:rPr>
              <a:t> in your browser.</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Check the form title</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You should see Google Cloud Learn with Communities - Participant Enrolment Form.</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Read before you fill</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Read the points to note at the top, then start filling in the form.</a:t>
            </a:r>
            <a:endParaRPr lang="en-US" sz="1200" dirty="0"/>
          </a:p>
        </p:txBody>
      </p:sp>
      <p:pic>
        <p:nvPicPr>
          <p:cNvPr id="99" name="Enrolment form" descr="Google Cloud Learn with Communities Participant Enrolment Form"/>
          <p:cNvPicPr>
            <a:picLocks noChangeAspect="1"/>
          </p:cNvPicPr>
          <p:nvPr/>
        </p:nvPicPr>
        <p:blipFill>
          <a:blip r:embed="rId50"/>
          <a:srcRect l="16667" t="1852" r="16667" b="0"/>
          <a:stretch>
            <a:fillRect/>
          </a:stretch>
        </p:blipFill>
        <p:spPr>
          <a:xfrm>
            <a:off x="5951278" y="2011680"/>
            <a:ext cx="4858397" cy="4023360"/>
          </a:xfrm>
          <a:prstGeom prst="roundRect">
            <a:avLst>
              <a:gd name="adj" fmla="val 2000"/>
            </a:avLst>
          </a:prstGeom>
          <a:ln w="12700">
            <a:solidFill>
              <a:srgbClr val="DADCE0"/>
            </a:solidFill>
          </a:ln>
        </p:spPr>
      </p:pic>
      <p:sp>
        <p:nvSpPr>
          <p:cNvPr id="100" name="Highlight box 1"/>
          <p:cNvSpPr/>
          <p:nvPr/>
        </p:nvSpPr>
        <p:spPr>
          <a:xfrm>
            <a:off x="6091716" y="3499564"/>
            <a:ext cx="4520587" cy="952701"/>
          </a:xfrm>
          <a:prstGeom prst="rect">
            <a:avLst/>
          </a:prstGeom>
          <a:noFill/>
          <a:ln w="19050">
            <a:solidFill>
              <a:srgbClr val="EA4335"/>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7: Enter your email</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1 of 13: start with your email address.</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Type your email</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Enter the email of the fresh Google account you created, in the first red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Check it carefully</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Make sure there are no typos, because Google emails your access code.</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Next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Press Next, marked with the second red box, to go to the next page.</a:t>
            </a:r>
            <a:endParaRPr lang="en-US" sz="1200" dirty="0"/>
          </a:p>
        </p:txBody>
      </p:sp>
      <p:pic>
        <p:nvPicPr>
          <p:cNvPr id="99" name="Enrolment form screenshot" descr="Enrolment form page 1 with the Email field"/>
          <p:cNvPicPr>
            <a:picLocks noChangeAspect="1"/>
          </p:cNvPicPr>
          <p:nvPr/>
        </p:nvPicPr>
        <p:blipFill>
          <a:blip r:embed="rId50"/>
          <a:srcRect l="20833" t="0" r="20833" b="16667"/>
          <a:stretch>
            <a:fillRect/>
          </a:stretch>
        </p:blipFill>
        <p:spPr>
          <a:xfrm>
            <a:off x="5877052" y="2011680"/>
            <a:ext cx="5006848" cy="4023360"/>
          </a:xfrm>
          <a:prstGeom prst="roundRect">
            <a:avLst>
              <a:gd name="adj" fmla="val 2000"/>
            </a:avLst>
          </a:prstGeom>
          <a:ln w="12700">
            <a:solidFill>
              <a:srgbClr val="DADCE0"/>
            </a:solidFill>
          </a:ln>
        </p:spPr>
      </p:pic>
      <p:sp>
        <p:nvSpPr>
          <p:cNvPr id="100" name="Highlight box 1"/>
          <p:cNvSpPr/>
          <p:nvPr/>
        </p:nvSpPr>
        <p:spPr>
          <a:xfrm>
            <a:off x="6078220" y="4836973"/>
            <a:ext cx="2338019" cy="317398"/>
          </a:xfrm>
          <a:prstGeom prst="rect">
            <a:avLst/>
          </a:prstGeom>
          <a:noFill/>
          <a:ln w="19050">
            <a:solidFill>
              <a:srgbClr val="EA4335"/>
            </a:solidFill>
          </a:ln>
        </p:spPr>
        <p:txBody>
          <a:bodyPr/>
          <a:lstStyle/>
          <a:p>
            <a:endParaRPr lang="en-US"/>
          </a:p>
        </p:txBody>
      </p:sp>
      <p:sp>
        <p:nvSpPr>
          <p:cNvPr id="101" name="Highlight box 2"/>
          <p:cNvSpPr/>
          <p:nvPr/>
        </p:nvSpPr>
        <p:spPr>
          <a:xfrm>
            <a:off x="5890463" y="5431536"/>
            <a:ext cx="688442" cy="348691"/>
          </a:xfrm>
          <a:prstGeom prst="rect">
            <a:avLst/>
          </a:prstGeom>
          <a:noFill/>
          <a:ln w="19050">
            <a:solidFill>
              <a:srgbClr val="EA4335"/>
            </a:solid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8: Accept the terms</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2 of 13: read the terms, then accept them.</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Read the terms</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Read the terms above, including Communication and Tracking.</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Accept the terms</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Select Yes, I accept the terms, marked with the red box.</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Next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If you decline you will not receive your Google Skills Access Code. Accept, then click Next.</a:t>
            </a:r>
            <a:endParaRPr lang="en-US" sz="1200" dirty="0"/>
          </a:p>
        </p:txBody>
      </p:sp>
      <p:pic>
        <p:nvPicPr>
          <p:cNvPr id="99" name="Enrolment form screenshot" descr="Enrolment form page 2 with the terms and the accept option"/>
          <p:cNvPicPr>
            <a:picLocks noChangeAspect="1"/>
          </p:cNvPicPr>
          <p:nvPr/>
        </p:nvPicPr>
        <p:blipFill>
          <a:blip r:embed="rId50"/>
          <a:srcRect l="20833" t="0" r="20833" b="16667"/>
          <a:stretch>
            <a:fillRect/>
          </a:stretch>
        </p:blipFill>
        <p:spPr>
          <a:xfrm>
            <a:off x="5877052" y="2011680"/>
            <a:ext cx="5006848" cy="4023360"/>
          </a:xfrm>
          <a:prstGeom prst="roundRect">
            <a:avLst>
              <a:gd name="adj" fmla="val 2000"/>
            </a:avLst>
          </a:prstGeom>
          <a:ln w="12700">
            <a:solidFill>
              <a:srgbClr val="DADCE0"/>
            </a:solidFill>
          </a:ln>
        </p:spPr>
      </p:pic>
      <p:sp>
        <p:nvSpPr>
          <p:cNvPr id="100" name="Highlight box 1"/>
          <p:cNvSpPr/>
          <p:nvPr/>
        </p:nvSpPr>
        <p:spPr>
          <a:xfrm>
            <a:off x="6346444" y="4738624"/>
            <a:ext cx="1332179" cy="326339"/>
          </a:xfrm>
          <a:prstGeom prst="rect">
            <a:avLst/>
          </a:prstGeom>
          <a:noFill/>
          <a:ln w="19050">
            <a:solidFill>
              <a:srgbClr val="EA4335"/>
            </a:solid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9: Fill in your details</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3 of 13: three required fields, marked with red boxes.</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Your full name</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Type your full name in the first red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Gender</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Open the dropdown in the second red box and choose your gender.</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Learner category</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Choose the option that fits you, such as Student, then click Next.</a:t>
            </a:r>
            <a:endParaRPr lang="en-US" sz="1200" dirty="0"/>
          </a:p>
        </p:txBody>
      </p:sp>
      <p:pic>
        <p:nvPicPr>
          <p:cNvPr id="99" name="Enrolment form screenshot" descr="Enrolment form page 3 with name, gender and learner category"/>
          <p:cNvPicPr>
            <a:picLocks noChangeAspect="1"/>
          </p:cNvPicPr>
          <p:nvPr/>
        </p:nvPicPr>
        <p:blipFill>
          <a:blip r:embed="rId50"/>
          <a:srcRect l="20833" t="11111" r="20833" b="18519"/>
          <a:stretch>
            <a:fillRect/>
          </a:stretch>
        </p:blipFill>
        <p:spPr>
          <a:xfrm>
            <a:off x="5415895" y="2011680"/>
            <a:ext cx="5929162" cy="4023360"/>
          </a:xfrm>
          <a:prstGeom prst="roundRect">
            <a:avLst>
              <a:gd name="adj" fmla="val 2000"/>
            </a:avLst>
          </a:prstGeom>
          <a:ln w="12700">
            <a:solidFill>
              <a:srgbClr val="DADCE0"/>
            </a:solidFill>
          </a:ln>
        </p:spPr>
      </p:pic>
      <p:sp>
        <p:nvSpPr>
          <p:cNvPr id="100" name="Highlight box 1"/>
          <p:cNvSpPr/>
          <p:nvPr/>
        </p:nvSpPr>
        <p:spPr>
          <a:xfrm>
            <a:off x="6051162" y="2594008"/>
            <a:ext cx="2371665" cy="307046"/>
          </a:xfrm>
          <a:prstGeom prst="rect">
            <a:avLst/>
          </a:prstGeom>
          <a:noFill/>
          <a:ln w="19050">
            <a:solidFill>
              <a:srgbClr val="EA4335"/>
            </a:solidFill>
          </a:ln>
        </p:spPr>
        <p:txBody>
          <a:bodyPr/>
          <a:lstStyle/>
          <a:p>
            <a:endParaRPr lang="en-US"/>
          </a:p>
        </p:txBody>
      </p:sp>
      <p:sp>
        <p:nvSpPr>
          <p:cNvPr id="101" name="Highlight box 2"/>
          <p:cNvSpPr/>
          <p:nvPr/>
        </p:nvSpPr>
        <p:spPr>
          <a:xfrm>
            <a:off x="6051162" y="3711020"/>
            <a:ext cx="1932272" cy="460569"/>
          </a:xfrm>
          <a:prstGeom prst="rect">
            <a:avLst/>
          </a:prstGeom>
          <a:noFill/>
          <a:ln w="19050">
            <a:solidFill>
              <a:srgbClr val="EA4335"/>
            </a:solidFill>
          </a:ln>
        </p:spPr>
        <p:txBody>
          <a:bodyPr/>
          <a:lstStyle/>
          <a:p>
            <a:endParaRPr lang="en-US"/>
          </a:p>
        </p:txBody>
      </p:sp>
      <p:sp>
        <p:nvSpPr>
          <p:cNvPr id="102" name="Highlight box 3"/>
          <p:cNvSpPr/>
          <p:nvPr/>
        </p:nvSpPr>
        <p:spPr>
          <a:xfrm>
            <a:off x="6051162" y="4965673"/>
            <a:ext cx="2218142" cy="460569"/>
          </a:xfrm>
          <a:prstGeom prst="rect">
            <a:avLst/>
          </a:prstGeom>
          <a:noFill/>
          <a:ln w="19050">
            <a:solidFill>
              <a:srgbClr val="EA4335"/>
            </a:solid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10: Choose your organiser</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4 of 13: the most important page, so choose carefully.</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dropdown</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Under Select Your Organiser Name, click the dropdown that says Choose.</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Choose the first option</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Select GDG on Campus Organizer, marked with the red box.</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Do not pick the others</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Do not choose GDG or Developer Community.</a:t>
            </a:r>
            <a:endParaRPr lang="en-US" sz="1200" dirty="0"/>
          </a:p>
        </p:txBody>
      </p:sp>
      <p:pic>
        <p:nvPicPr>
          <p:cNvPr id="99" name="Enrolment form screenshot" descr="Enrolment form page 4 with the organiser dropdown open"/>
          <p:cNvPicPr>
            <a:picLocks noChangeAspect="1"/>
          </p:cNvPicPr>
          <p:nvPr/>
        </p:nvPicPr>
        <p:blipFill>
          <a:blip r:embed="rId50"/>
          <a:srcRect l="20833" t="0" r="20833" b="40741"/>
          <a:stretch>
            <a:fillRect/>
          </a:stretch>
        </p:blipFill>
        <p:spPr>
          <a:xfrm>
            <a:off x="5120640" y="2011680"/>
            <a:ext cx="6519672" cy="3725527"/>
          </a:xfrm>
          <a:prstGeom prst="roundRect">
            <a:avLst>
              <a:gd name="adj" fmla="val 2000"/>
            </a:avLst>
          </a:prstGeom>
          <a:ln w="12700">
            <a:solidFill>
              <a:srgbClr val="DADCE0"/>
            </a:solidFill>
          </a:ln>
        </p:spPr>
      </p:pic>
      <p:sp>
        <p:nvSpPr>
          <p:cNvPr id="100" name="Highlight box 1"/>
          <p:cNvSpPr/>
          <p:nvPr/>
        </p:nvSpPr>
        <p:spPr>
          <a:xfrm>
            <a:off x="5824997" y="3676525"/>
            <a:ext cx="2194568" cy="488975"/>
          </a:xfrm>
          <a:prstGeom prst="rect">
            <a:avLst/>
          </a:prstGeom>
          <a:noFill/>
          <a:ln w="19050">
            <a:solidFill>
              <a:srgbClr val="EA4335"/>
            </a:solidFill>
          </a:ln>
        </p:spPr>
        <p:txBody>
          <a:bodyPr/>
          <a:lstStyle/>
          <a:p>
            <a:endParaRPr lang="en-US"/>
          </a:p>
        </p:txBody>
      </p:sp>
      <p:cxnSp>
        <p:nvCxnSpPr>
          <p:cNvPr id="110" name="Arrow 1"/>
          <p:cNvCxnSpPr/>
          <p:nvPr/>
        </p:nvCxnSpPr>
        <p:spPr>
          <a:xfrm>
            <a:off x="8054492" y="3921013"/>
            <a:ext cx="731520" cy="0"/>
          </a:xfrm>
          <a:prstGeom prst="line">
            <a:avLst/>
          </a:prstGeom>
          <a:ln w="28575">
            <a:solidFill>
              <a:srgbClr val="EA4335"/>
            </a:solidFill>
            <a:headEnd type="triangle" w="med" len="med"/>
          </a:ln>
        </p:spPr>
      </p:cxnSp>
      <p:sp>
        <p:nvSpPr>
          <p:cNvPr id="111" name="Important label"/>
          <p:cNvSpPr txBox="1"/>
          <p:nvPr/>
        </p:nvSpPr>
        <p:spPr>
          <a:xfrm>
            <a:off x="8859164" y="3765565"/>
            <a:ext cx="1188720" cy="310896"/>
          </a:xfrm>
          <a:prstGeom prst="rect">
            <a:avLst/>
          </a:prstGeom>
          <a:noFill/>
        </p:spPr>
        <p:txBody>
          <a:bodyPr wrap="none" lIns="0" tIns="0" rIns="0" bIns="0" anchor="ctr"/>
          <a:lstStyle/>
          <a:p>
            <a:r>
              <a:rPr lang="en-US" sz="1400" b="1" dirty="0">
                <a:solidFill>
                  <a:srgbClr val="EA4335"/>
                </a:solidFill>
              </a:rPr>
              <a:t>Important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11: Enter the referral code</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Still on page 4: the code links your registration to GDG on Campus APSIT.</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the answer box</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Under Please share your Organizer's Referral Code, click the answer box.</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 xml:space="preserve">Type </a:t>
            </a:r>
            <a:r>
              <a:rPr lang="en-US" sz="1600" b="1" dirty="0">
                <a:solidFill>
                  <a:srgbClr val="D93025"/>
                </a:solidFill>
                <a:latin typeface="Google Sans" pitchFamily="34" charset="0"/>
                <a:ea typeface="Google Sans" pitchFamily="34" charset="-122"/>
                <a:cs typeface="Google Sans" pitchFamily="34" charset="-120"/>
              </a:rPr>
              <a:t>GDGC-APSIT</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 xml:space="preserve">Type </a:t>
            </a:r>
            <a:r>
              <a:rPr b="1" lang="en-US" sz="1200" dirty="0">
                <a:solidFill>
                  <a:srgbClr val="D93025"/>
                </a:solidFill>
                <a:latin typeface="Google Sans" pitchFamily="34" charset="0"/>
                <a:ea typeface="Google Sans" pitchFamily="34" charset="-122"/>
                <a:cs typeface="Google Sans" pitchFamily="34" charset="-120"/>
              </a:rPr>
              <a:t>GDGC-APSIT</a:t>
            </a:r>
            <a:r>
              <a:rPr lang="en-US" sz="1200" dirty="0">
                <a:solidFill>
                  <a:srgbClr val="3C4043"/>
                </a:solidFill>
                <a:latin typeface="Google Sans" pitchFamily="34" charset="0"/>
                <a:ea typeface="Google Sans" pitchFamily="34" charset="-122"/>
                <a:cs typeface="Google Sans" pitchFamily="34" charset="-120"/>
              </a:rPr>
              <a:t xml:space="preserve"> exactly, in capitals with the hyphen, or you will not be credited.</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Choose Yes, then click Next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Select Yes for the internet and laptop question, then click Next.</a:t>
            </a:r>
            <a:endParaRPr lang="en-US" sz="1200" dirty="0"/>
          </a:p>
        </p:txBody>
      </p:sp>
      <p:pic>
        <p:nvPicPr>
          <p:cNvPr id="99" name="Enrolment form screenshot" descr="Enrolment form page 4 with the referral code field and the laptop question"/>
          <p:cNvPicPr>
            <a:picLocks noChangeAspect="1"/>
          </p:cNvPicPr>
          <p:nvPr/>
        </p:nvPicPr>
        <p:blipFill>
          <a:blip r:embed="rId50"/>
          <a:srcRect l="20833" t="30556" r="20833" b="1852"/>
          <a:stretch>
            <a:fillRect/>
          </a:stretch>
        </p:blipFill>
        <p:spPr>
          <a:xfrm>
            <a:off x="5294063" y="2011680"/>
            <a:ext cx="6172826" cy="4023360"/>
          </a:xfrm>
          <a:prstGeom prst="roundRect">
            <a:avLst>
              <a:gd name="adj" fmla="val 2000"/>
            </a:avLst>
          </a:prstGeom>
          <a:ln w="12700">
            <a:solidFill>
              <a:srgbClr val="DADCE0"/>
            </a:solidFill>
          </a:ln>
        </p:spPr>
      </p:pic>
      <p:sp>
        <p:nvSpPr>
          <p:cNvPr id="100" name="Highlight box 1"/>
          <p:cNvSpPr/>
          <p:nvPr/>
        </p:nvSpPr>
        <p:spPr>
          <a:xfrm>
            <a:off x="5955437" y="3169085"/>
            <a:ext cx="2469131" cy="308641"/>
          </a:xfrm>
          <a:prstGeom prst="rect">
            <a:avLst/>
          </a:prstGeom>
          <a:noFill/>
          <a:ln w="19050">
            <a:solidFill>
              <a:srgbClr val="EA4335"/>
            </a:solidFill>
          </a:ln>
        </p:spPr>
        <p:txBody>
          <a:bodyPr/>
          <a:lstStyle/>
          <a:p>
            <a:endParaRPr lang="en-US"/>
          </a:p>
        </p:txBody>
      </p:sp>
      <p:sp>
        <p:nvSpPr>
          <p:cNvPr id="101" name="Highlight box 2"/>
          <p:cNvSpPr/>
          <p:nvPr/>
        </p:nvSpPr>
        <p:spPr>
          <a:xfrm>
            <a:off x="5955437" y="4530414"/>
            <a:ext cx="551145" cy="259038"/>
          </a:xfrm>
          <a:prstGeom prst="rect">
            <a:avLst/>
          </a:prstGeom>
          <a:noFill/>
          <a:ln w="19050">
            <a:solidFill>
              <a:srgbClr val="EA4335"/>
            </a:solidFill>
          </a:ln>
        </p:spPr>
        <p:txBody>
          <a:bodyPr/>
          <a:lstStyle/>
          <a:p>
            <a:endParaRPr lang="en-US"/>
          </a:p>
        </p:txBody>
      </p:sp>
      <p:sp>
        <p:nvSpPr>
          <p:cNvPr id="102" name="Highlight box 3"/>
          <p:cNvSpPr/>
          <p:nvPr/>
        </p:nvSpPr>
        <p:spPr>
          <a:xfrm>
            <a:off x="6528628" y="5401223"/>
            <a:ext cx="738535" cy="374779"/>
          </a:xfrm>
          <a:prstGeom prst="rect">
            <a:avLst/>
          </a:prstGeom>
          <a:noFill/>
          <a:ln w="19050">
            <a:solidFill>
              <a:srgbClr val="EA4335"/>
            </a:solidFill>
          </a:ln>
        </p:spPr>
        <p:txBody>
          <a:bodyPr/>
          <a:lstStyle/>
          <a:p>
            <a:endParaRPr lang="en-US"/>
          </a:p>
        </p:txBody>
      </p:sp>
      <p:cxnSp>
        <p:nvCxnSpPr>
          <p:cNvPr id="110" name="Arrow 1"/>
          <p:cNvCxnSpPr/>
          <p:nvPr/>
        </p:nvCxnSpPr>
        <p:spPr>
          <a:xfrm>
            <a:off x="8457636" y="3323406"/>
            <a:ext cx="731520" cy="0"/>
          </a:xfrm>
          <a:prstGeom prst="line">
            <a:avLst/>
          </a:prstGeom>
          <a:ln w="28575">
            <a:solidFill>
              <a:srgbClr val="EA4335"/>
            </a:solidFill>
            <a:headEnd type="triangle" w="med" len="med"/>
          </a:ln>
        </p:spPr>
      </p:cxnSp>
      <p:sp>
        <p:nvSpPr>
          <p:cNvPr id="111" name="Important label"/>
          <p:cNvSpPr txBox="1"/>
          <p:nvPr/>
        </p:nvSpPr>
        <p:spPr>
          <a:xfrm>
            <a:off x="9262308" y="3167958"/>
            <a:ext cx="1188720" cy="310896"/>
          </a:xfrm>
          <a:prstGeom prst="rect">
            <a:avLst/>
          </a:prstGeom>
          <a:noFill/>
        </p:spPr>
        <p:txBody>
          <a:bodyPr wrap="none" lIns="0" tIns="0" rIns="0" bIns="0" anchor="ctr"/>
          <a:lstStyle/>
          <a:p>
            <a:r>
              <a:rPr lang="en-US" sz="1400" b="1" dirty="0">
                <a:solidFill>
                  <a:srgbClr val="EA4335"/>
                </a:solidFill>
              </a:rPr>
              <a:t>Important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12: Verify and confirm your email</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5 of 13: confirm your new Google Skills account.</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Select I verify</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Confirm you created a NEW Google Skills account on or after September 14th, 2026.</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Enter your Google Skills email</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Type the email you used for your Google Skills profile. Double check it for typos.</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Next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Check the email once more, then press Next.</a:t>
            </a:r>
            <a:endParaRPr lang="en-US" sz="1200" dirty="0"/>
          </a:p>
        </p:txBody>
      </p:sp>
      <p:pic>
        <p:nvPicPr>
          <p:cNvPr id="99" name="Enrolment form screenshot" descr="Enrolment form page 5 with the I verify option and Google Skills email field"/>
          <p:cNvPicPr>
            <a:picLocks noChangeAspect="1"/>
          </p:cNvPicPr>
          <p:nvPr/>
        </p:nvPicPr>
        <p:blipFill>
          <a:blip r:embed="rId50"/>
          <a:srcRect l="20833" t="23148" r="20833" b="16667"/>
          <a:stretch>
            <a:fillRect/>
          </a:stretch>
        </p:blipFill>
        <p:spPr>
          <a:xfrm>
            <a:off x="5120640" y="2011680"/>
            <a:ext cx="6519672" cy="3783738"/>
          </a:xfrm>
          <a:prstGeom prst="roundRect">
            <a:avLst>
              <a:gd name="adj" fmla="val 2000"/>
            </a:avLst>
          </a:prstGeom>
          <a:ln w="12700">
            <a:solidFill>
              <a:srgbClr val="DADCE0"/>
            </a:solidFill>
          </a:ln>
        </p:spPr>
      </p:pic>
      <p:sp>
        <p:nvSpPr>
          <p:cNvPr id="100" name="Highlight box 1"/>
          <p:cNvSpPr/>
          <p:nvPr/>
        </p:nvSpPr>
        <p:spPr>
          <a:xfrm>
            <a:off x="5819176" y="2826639"/>
            <a:ext cx="745105" cy="279415"/>
          </a:xfrm>
          <a:prstGeom prst="rect">
            <a:avLst/>
          </a:prstGeom>
          <a:noFill/>
          <a:ln w="19050">
            <a:solidFill>
              <a:srgbClr val="EA4335"/>
            </a:solidFill>
          </a:ln>
        </p:spPr>
        <p:txBody>
          <a:bodyPr/>
          <a:lstStyle/>
          <a:p>
            <a:endParaRPr lang="en-US"/>
          </a:p>
        </p:txBody>
      </p:sp>
      <p:sp>
        <p:nvSpPr>
          <p:cNvPr id="101" name="Highlight box 2"/>
          <p:cNvSpPr/>
          <p:nvPr/>
        </p:nvSpPr>
        <p:spPr>
          <a:xfrm>
            <a:off x="5819176" y="4689402"/>
            <a:ext cx="2607869" cy="291057"/>
          </a:xfrm>
          <a:prstGeom prst="rect">
            <a:avLst/>
          </a:prstGeom>
          <a:noFill/>
          <a:ln w="19050">
            <a:solidFill>
              <a:srgbClr val="EA4335"/>
            </a:solidFill>
          </a:ln>
        </p:spPr>
        <p:txBody>
          <a:bodyPr/>
          <a:lstStyle/>
          <a:p>
            <a:endParaRPr lang="en-US"/>
          </a:p>
        </p:txBody>
      </p:sp>
      <p:sp>
        <p:nvSpPr>
          <p:cNvPr id="102" name="Highlight box 3"/>
          <p:cNvSpPr/>
          <p:nvPr/>
        </p:nvSpPr>
        <p:spPr>
          <a:xfrm>
            <a:off x="6424574" y="5265695"/>
            <a:ext cx="780032" cy="401658"/>
          </a:xfrm>
          <a:prstGeom prst="rect">
            <a:avLst/>
          </a:prstGeom>
          <a:noFill/>
          <a:ln w="19050">
            <a:solidFill>
              <a:srgbClr val="EA4335"/>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13: Paste your public profile link</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 6 of 13: use your own link, never ours.</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Copy your own link</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Go back to the green box from Step 5 (top picture) and copy YOUR profile link.</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Paste it in the form</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Paste it in the answer box (bottom picture) so it ends with your own unique ID.</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Use your own, not ours</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Our link is blurred on purpose. Copied links get rejected, so use only yours.</a:t>
            </a:r>
            <a:endParaRPr lang="en-US" sz="1200" dirty="0"/>
          </a:p>
        </p:txBody>
      </p:sp>
      <p:pic>
        <p:nvPicPr>
          <p:cNvPr id="99" name="Public profile link" descr="Your Google Skills public profile link, blurred"/>
          <p:cNvPicPr>
            <a:picLocks noChangeAspect="1"/>
          </p:cNvPicPr>
          <p:nvPr/>
        </p:nvPicPr>
        <p:blipFill>
          <a:blip r:embed="rId51"/>
          <a:stretch>
            <a:fillRect/>
          </a:stretch>
        </p:blipFill>
        <p:spPr>
          <a:xfrm>
            <a:off x="5500116" y="2011680"/>
            <a:ext cx="5760720" cy="1508760"/>
          </a:xfrm>
          <a:prstGeom prst="roundRect">
            <a:avLst>
              <a:gd name="adj" fmla="val 4000"/>
            </a:avLst>
          </a:prstGeom>
          <a:ln w="12700">
            <a:solidFill>
              <a:srgbClr val="DADCE0"/>
            </a:solidFill>
          </a:ln>
        </p:spPr>
      </p:pic>
      <p:pic>
        <p:nvPicPr>
          <p:cNvPr id="98" name="Form profile URL field" descr="Enrolment form page 6 with the profile URL field, blurred"/>
          <p:cNvPicPr>
            <a:picLocks noChangeAspect="1"/>
          </p:cNvPicPr>
          <p:nvPr/>
        </p:nvPicPr>
        <p:blipFill>
          <a:blip r:embed="rId52"/>
          <a:stretch>
            <a:fillRect/>
          </a:stretch>
        </p:blipFill>
        <p:spPr>
          <a:xfrm>
            <a:off x="5500116" y="3749040"/>
            <a:ext cx="5760720" cy="2509621"/>
          </a:xfrm>
          <a:prstGeom prst="roundRect">
            <a:avLst>
              <a:gd name="adj" fmla="val 4000"/>
            </a:avLst>
          </a:prstGeom>
          <a:ln w="12700">
            <a:solidFill>
              <a:srgbClr val="DADCE0"/>
            </a:solidFill>
          </a:ln>
        </p:spPr>
      </p:pic>
      <p:sp>
        <p:nvSpPr>
          <p:cNvPr id="100" name="Highlight box 1"/>
          <p:cNvSpPr/>
          <p:nvPr/>
        </p:nvSpPr>
        <p:spPr>
          <a:xfrm>
            <a:off x="5568696" y="2594610"/>
            <a:ext cx="5568696" cy="521208"/>
          </a:xfrm>
          <a:prstGeom prst="rect">
            <a:avLst/>
          </a:prstGeom>
          <a:noFill/>
          <a:ln w="19050">
            <a:solidFill>
              <a:srgbClr val="EA4335"/>
            </a:solidFill>
          </a:ln>
        </p:spPr>
        <p:txBody>
          <a:bodyPr/>
          <a:lstStyle/>
          <a:p>
            <a:endParaRPr lang="en-US"/>
          </a:p>
        </p:txBody>
      </p:sp>
      <p:sp>
        <p:nvSpPr>
          <p:cNvPr id="101" name="Highlight box 2"/>
          <p:cNvSpPr/>
          <p:nvPr/>
        </p:nvSpPr>
        <p:spPr>
          <a:xfrm>
            <a:off x="5688338" y="5711107"/>
            <a:ext cx="2726361" cy="250962"/>
          </a:xfrm>
          <a:prstGeom prst="rect">
            <a:avLst/>
          </a:prstGeom>
          <a:noFill/>
          <a:ln w="19050">
            <a:solidFill>
              <a:srgbClr val="EA4335"/>
            </a:solidFill>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14: Acknowledge the declarations</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Pages 7 to 12 need no input: just click Next until you reach page 13.</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Select I Acknowledge</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Tick the first red box: the information you gave is true and correct.</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Select Yes, I Agree</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Tick the second red box: you agree to finish the Learning Pathway on time.</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Scroll down</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Read the Points to Note before you submit, shown on the next slide.</a:t>
            </a:r>
            <a:endParaRPr lang="en-US" sz="1200" dirty="0"/>
          </a:p>
        </p:txBody>
      </p:sp>
      <p:pic>
        <p:nvPicPr>
          <p:cNvPr id="99" name="Acknowledge page" descr="Enrolment form last page with I Acknowledge and Yes, I Agree options"/>
          <p:cNvPicPr>
            <a:picLocks noChangeAspect="1"/>
          </p:cNvPicPr>
          <p:nvPr/>
        </p:nvPicPr>
        <p:blipFill>
          <a:blip r:embed="rId50"/>
          <a:srcRect l="20833" t="29630" r="20833" b="14815"/>
          <a:stretch>
            <a:fillRect/>
          </a:stretch>
        </p:blipFill>
        <p:spPr>
          <a:xfrm>
            <a:off x="5120640" y="2011680"/>
            <a:ext cx="6519672" cy="3492681"/>
          </a:xfrm>
          <a:prstGeom prst="roundRect">
            <a:avLst>
              <a:gd name="adj" fmla="val 2000"/>
            </a:avLst>
          </a:prstGeom>
          <a:ln w="12700">
            <a:solidFill>
              <a:srgbClr val="DADCE0"/>
            </a:solidFill>
          </a:ln>
        </p:spPr>
      </p:pic>
      <p:sp>
        <p:nvSpPr>
          <p:cNvPr id="100" name="Highlight box 1"/>
          <p:cNvSpPr/>
          <p:nvPr/>
        </p:nvSpPr>
        <p:spPr>
          <a:xfrm>
            <a:off x="6040379" y="3129338"/>
            <a:ext cx="1117658" cy="267772"/>
          </a:xfrm>
          <a:prstGeom prst="rect">
            <a:avLst/>
          </a:prstGeom>
          <a:noFill/>
          <a:ln w="19050">
            <a:solidFill>
              <a:srgbClr val="EA4335"/>
            </a:solidFill>
          </a:ln>
        </p:spPr>
        <p:txBody>
          <a:bodyPr/>
          <a:lstStyle/>
          <a:p>
            <a:endParaRPr lang="en-US"/>
          </a:p>
        </p:txBody>
      </p:sp>
      <p:sp>
        <p:nvSpPr>
          <p:cNvPr id="101" name="Highlight box 2"/>
          <p:cNvSpPr/>
          <p:nvPr/>
        </p:nvSpPr>
        <p:spPr>
          <a:xfrm>
            <a:off x="6040379" y="4689402"/>
            <a:ext cx="954666" cy="279415"/>
          </a:xfrm>
          <a:prstGeom prst="rect">
            <a:avLst/>
          </a:prstGeom>
          <a:noFill/>
          <a:ln w="19050">
            <a:solidFill>
              <a:srgbClr val="EA4335"/>
            </a:solid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15: Read the notes and submit</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Check everything, then submit the form only once.</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Read the points to note</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A wrong profile URL gets you rejected. Submit only once: if you fill it again, earlier entries are deleted.</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Submit</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Press Submit (last red box) once all answers are correct. A copy is emailed to you.</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Wait for your result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Submitting does not guarantee a seat. For queries, contact your GDG on Campus Organizers.</a:t>
            </a:r>
            <a:endParaRPr lang="en-US" sz="1200" dirty="0"/>
          </a:p>
        </p:txBody>
      </p:sp>
      <p:pic>
        <p:nvPicPr>
          <p:cNvPr id="99" name="Submit page" descr="Enrolment form last page with Points to Note and the Submit button"/>
          <p:cNvPicPr>
            <a:picLocks noChangeAspect="1"/>
          </p:cNvPicPr>
          <p:nvPr/>
        </p:nvPicPr>
        <p:blipFill>
          <a:blip r:embed="rId50"/>
          <a:srcRect l="20833" t="12037" r="20833" b="21296"/>
          <a:stretch>
            <a:fillRect/>
          </a:stretch>
        </p:blipFill>
        <p:spPr>
          <a:xfrm>
            <a:off x="5251196" y="2011680"/>
            <a:ext cx="6258560" cy="4023360"/>
          </a:xfrm>
          <a:prstGeom prst="roundRect">
            <a:avLst>
              <a:gd name="adj" fmla="val 2000"/>
            </a:avLst>
          </a:prstGeom>
          <a:ln w="12700">
            <a:solidFill>
              <a:srgbClr val="DADCE0"/>
            </a:solidFill>
          </a:ln>
        </p:spPr>
      </p:pic>
      <p:sp>
        <p:nvSpPr>
          <p:cNvPr id="100" name="Highlight box 1"/>
          <p:cNvSpPr/>
          <p:nvPr/>
        </p:nvSpPr>
        <p:spPr>
          <a:xfrm>
            <a:off x="6346444" y="2682240"/>
            <a:ext cx="4269232" cy="307340"/>
          </a:xfrm>
          <a:prstGeom prst="rect">
            <a:avLst/>
          </a:prstGeom>
          <a:noFill/>
          <a:ln w="19050">
            <a:solidFill>
              <a:srgbClr val="EA4335"/>
            </a:solidFill>
          </a:ln>
        </p:spPr>
        <p:txBody>
          <a:bodyPr/>
          <a:lstStyle/>
          <a:p>
            <a:endParaRPr lang="en-US"/>
          </a:p>
        </p:txBody>
      </p:sp>
      <p:sp>
        <p:nvSpPr>
          <p:cNvPr id="101" name="Highlight box 2"/>
          <p:cNvSpPr/>
          <p:nvPr/>
        </p:nvSpPr>
        <p:spPr>
          <a:xfrm>
            <a:off x="6346444" y="3017520"/>
            <a:ext cx="4269232" cy="648208"/>
          </a:xfrm>
          <a:prstGeom prst="rect">
            <a:avLst/>
          </a:prstGeom>
          <a:noFill/>
          <a:ln w="19050">
            <a:solidFill>
              <a:srgbClr val="EA4335"/>
            </a:solidFill>
          </a:ln>
        </p:spPr>
        <p:txBody>
          <a:bodyPr/>
          <a:lstStyle/>
          <a:p>
            <a:endParaRPr lang="en-US"/>
          </a:p>
        </p:txBody>
      </p:sp>
      <p:sp>
        <p:nvSpPr>
          <p:cNvPr id="102" name="Highlight box 3"/>
          <p:cNvSpPr/>
          <p:nvPr/>
        </p:nvSpPr>
        <p:spPr>
          <a:xfrm>
            <a:off x="6698488" y="5588000"/>
            <a:ext cx="754380" cy="312928"/>
          </a:xfrm>
          <a:prstGeom prst="rect">
            <a:avLst/>
          </a:prstGeom>
          <a:noFill/>
          <a:ln w="19050">
            <a:solidFill>
              <a:srgbClr val="EA4335"/>
            </a:solidFill>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8F9FA"/>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9524999" y="0"/>
            <a:ext cx="3302000" cy="3302000"/>
          </a:xfrm>
          <a:prstGeom prst="rect">
            <a:avLst/>
          </a:prstGeom>
        </p:spPr>
      </p:pic>
      <p:pic>
        <p:nvPicPr>
          <p:cNvPr id="3" name="Image 1" descr="ellipse"/>
          <p:cNvPicPr>
            <a:picLocks noChangeAspect="1"/>
          </p:cNvPicPr>
          <p:nvPr/>
        </p:nvPicPr>
        <p:blipFill>
          <a:blip r:embed="rId4"/>
          <a:srcRect/>
          <a:stretch/>
        </p:blipFill>
        <p:spPr>
          <a:xfrm>
            <a:off x="10794999" y="2667000"/>
            <a:ext cx="1905000" cy="1905000"/>
          </a:xfrm>
          <a:prstGeom prst="rect">
            <a:avLst/>
          </a:prstGeom>
        </p:spPr>
      </p:pic>
      <p:pic>
        <p:nvPicPr>
          <p:cNvPr id="4" name="Image 2" descr="ellipse"/>
          <p:cNvPicPr>
            <a:picLocks noChangeAspect="1"/>
          </p:cNvPicPr>
          <p:nvPr/>
        </p:nvPicPr>
        <p:blipFill>
          <a:blip r:embed="rId5"/>
          <a:srcRect/>
          <a:stretch/>
        </p:blipFill>
        <p:spPr>
          <a:xfrm>
            <a:off x="9016999" y="4445000"/>
            <a:ext cx="1524000" cy="1524000"/>
          </a:xfrm>
          <a:prstGeom prst="rect">
            <a:avLst/>
          </a:prstGeom>
        </p:spPr>
      </p:pic>
      <p:pic>
        <p:nvPicPr>
          <p:cNvPr id="5" name="Image 3" descr="ellipse"/>
          <p:cNvPicPr>
            <a:picLocks noChangeAspect="1"/>
          </p:cNvPicPr>
          <p:nvPr/>
        </p:nvPicPr>
        <p:blipFill>
          <a:blip r:embed="rId6"/>
          <a:srcRect/>
          <a:stretch/>
        </p:blipFill>
        <p:spPr>
          <a:xfrm>
            <a:off x="10921999" y="5461000"/>
            <a:ext cx="2159000" cy="2159000"/>
          </a:xfrm>
          <a:prstGeom prst="rect">
            <a:avLst/>
          </a:prstGeom>
        </p:spPr>
      </p:pic>
      <p:pic>
        <p:nvPicPr>
          <p:cNvPr id="6" name="Image 4" descr="ellipse"/>
          <p:cNvPicPr>
            <a:picLocks noChangeAspect="1"/>
          </p:cNvPicPr>
          <p:nvPr/>
        </p:nvPicPr>
        <p:blipFill>
          <a:blip r:embed="rId7"/>
          <a:srcRect/>
          <a:stretch/>
        </p:blipFill>
        <p:spPr>
          <a:xfrm>
            <a:off x="812788" y="1397124"/>
            <a:ext cx="152363" cy="152363"/>
          </a:xfrm>
          <a:prstGeom prst="rect">
            <a:avLst/>
          </a:prstGeom>
        </p:spPr>
      </p:pic>
      <p:pic>
        <p:nvPicPr>
          <p:cNvPr id="7" name="Image 5" descr="ellipse"/>
          <p:cNvPicPr>
            <a:picLocks noChangeAspect="1"/>
          </p:cNvPicPr>
          <p:nvPr/>
        </p:nvPicPr>
        <p:blipFill>
          <a:blip r:embed="rId8"/>
          <a:srcRect/>
          <a:stretch/>
        </p:blipFill>
        <p:spPr>
          <a:xfrm>
            <a:off x="1066725" y="1397124"/>
            <a:ext cx="152363" cy="152363"/>
          </a:xfrm>
          <a:prstGeom prst="rect">
            <a:avLst/>
          </a:prstGeom>
        </p:spPr>
      </p:pic>
      <p:pic>
        <p:nvPicPr>
          <p:cNvPr id="8" name="Image 6" descr="ellipse"/>
          <p:cNvPicPr>
            <a:picLocks noChangeAspect="1"/>
          </p:cNvPicPr>
          <p:nvPr/>
        </p:nvPicPr>
        <p:blipFill>
          <a:blip r:embed="rId9"/>
          <a:srcRect/>
          <a:stretch/>
        </p:blipFill>
        <p:spPr>
          <a:xfrm>
            <a:off x="1320663" y="1397124"/>
            <a:ext cx="152363" cy="152363"/>
          </a:xfrm>
          <a:prstGeom prst="rect">
            <a:avLst/>
          </a:prstGeom>
        </p:spPr>
      </p:pic>
      <p:pic>
        <p:nvPicPr>
          <p:cNvPr id="9" name="Image 7" descr="ellipse"/>
          <p:cNvPicPr>
            <a:picLocks noChangeAspect="1"/>
          </p:cNvPicPr>
          <p:nvPr/>
        </p:nvPicPr>
        <p:blipFill>
          <a:blip r:embed="rId10"/>
          <a:srcRect/>
          <a:stretch/>
        </p:blipFill>
        <p:spPr>
          <a:xfrm>
            <a:off x="1574601" y="1397124"/>
            <a:ext cx="152363" cy="152363"/>
          </a:xfrm>
          <a:prstGeom prst="rect">
            <a:avLst/>
          </a:prstGeom>
        </p:spPr>
      </p:pic>
      <p:sp>
        <p:nvSpPr>
          <p:cNvPr id="10" name="Text 0"/>
          <p:cNvSpPr/>
          <p:nvPr/>
        </p:nvSpPr>
        <p:spPr>
          <a:xfrm>
            <a:off x="1828539" y="1340011"/>
            <a:ext cx="7289899" cy="292050"/>
          </a:xfrm>
          <a:prstGeom prst="rect">
            <a:avLst/>
          </a:prstGeom>
          <a:noFill/>
          <a:ln/>
        </p:spPr>
        <p:txBody>
          <a:bodyPr wrap="square" lIns="0" tIns="0" rIns="0" bIns="0" rtlCol="0" anchor="t"/>
          <a:lstStyle/>
          <a:p>
            <a:pPr marL="0" indent="0" algn="l">
              <a:lnSpc>
                <a:spcPts val="2100"/>
              </a:lnSpc>
              <a:buNone/>
            </a:pPr>
            <a:r>
              <a:rPr lang="en-US" sz="1500" dirty="0">
                <a:solidFill>
                  <a:srgbClr val="5F6368"/>
                </a:solidFill>
                <a:latin typeface="Google Sans" pitchFamily="34" charset="0"/>
                <a:ea typeface="Google Sans" pitchFamily="34" charset="-122"/>
                <a:cs typeface="Google Sans" pitchFamily="34" charset="-120"/>
              </a:rPr>
              <a:t>Google Developer Groups on Campus · A. P. Shah Institute of Technology</a:t>
            </a:r>
            <a:endParaRPr lang="en-US" sz="1500" dirty="0"/>
          </a:p>
        </p:txBody>
      </p:sp>
      <p:sp>
        <p:nvSpPr>
          <p:cNvPr id="11" name="Text 1"/>
          <p:cNvSpPr>
            <a:spLocks noGrp="1"/>
          </p:cNvSpPr>
          <p:nvPr>
            <p:ph type="title"/>
          </p:nvPr>
        </p:nvSpPr>
        <p:spPr>
          <a:xfrm>
            <a:off x="812788" y="1835237"/>
            <a:ext cx="8110219" cy="1732210"/>
          </a:xfrm>
          <a:prstGeom prst="rect">
            <a:avLst/>
          </a:prstGeom>
          <a:noFill/>
          <a:ln/>
        </p:spPr>
        <p:txBody>
          <a:bodyPr wrap="square" lIns="0" tIns="0" rIns="0" bIns="0" rtlCol="0" anchor="t"/>
          <a:lstStyle/>
          <a:p>
            <a:pPr marL="0" indent="0" algn="l">
              <a:lnSpc>
                <a:spcPts val="6720"/>
              </a:lnSpc>
              <a:buNone/>
            </a:pPr>
            <a:r>
              <a:rPr lang="en-US" sz="6400" b="1" i="0" dirty="0">
                <a:solidFill>
                  <a:srgbClr val="202124"/>
                </a:solidFill>
                <a:latin typeface="Google Sans" pitchFamily="34" charset="0"/>
                <a:ea typeface="Google Sans" pitchFamily="34" charset="-122"/>
                <a:cs typeface="Google Sans" pitchFamily="34" charset="-120"/>
              </a:rPr>
              <a:t>Part 1 </a:t>
            </a:r>
            <a:r>
              <a:rPr lang="en-US" sz="6400" b="1" i="0" dirty="0">
                <a:solidFill>
                  <a:srgbClr val="4285F4"/>
                </a:solidFill>
                <a:latin typeface="Google Sans" pitchFamily="34" charset="0"/>
                <a:ea typeface="Google Sans" pitchFamily="34" charset="-122"/>
                <a:cs typeface="Google Sans" pitchFamily="34" charset="-120"/>
              </a:rPr>
              <a:t>complete!</a:t>
            </a:r>
            <a:endParaRPr lang="en-US" sz="6400" dirty="0"/>
          </a:p>
        </p:txBody>
      </p:sp>
      <p:sp>
        <p:nvSpPr>
          <p:cNvPr id="12" name="Text 2"/>
          <p:cNvSpPr/>
          <p:nvPr/>
        </p:nvSpPr>
        <p:spPr>
          <a:xfrm>
            <a:off x="812788" y="3770622"/>
            <a:ext cx="7848599" cy="416570"/>
          </a:xfrm>
          <a:prstGeom prst="rect">
            <a:avLst/>
          </a:prstGeom>
          <a:noFill/>
          <a:ln/>
        </p:spPr>
        <p:txBody>
          <a:bodyPr wrap="square" lIns="0" tIns="0" rIns="0" bIns="0" rtlCol="0" anchor="t"/>
          <a:lstStyle/>
          <a:p>
            <a:pPr marL="0" indent="0" algn="l">
              <a:lnSpc>
                <a:spcPts val="3080"/>
              </a:lnSpc>
              <a:buNone/>
            </a:pPr>
            <a:r>
              <a:rPr lang="en-US" sz="2200" dirty="0">
                <a:solidFill>
                  <a:srgbClr val="3C4043"/>
                </a:solidFill>
                <a:latin typeface="Google Sans" pitchFamily="34" charset="0"/>
                <a:ea typeface="Google Sans" pitchFamily="34" charset="-122"/>
                <a:cs typeface="Google Sans" pitchFamily="34" charset="-120"/>
              </a:rPr>
              <a:t>Enrolment form submitted, </a:t>
            </a:r>
            <a:r>
              <a:rPr lang="en-US" sz="2200" b="1" dirty="0">
                <a:solidFill>
                  <a:srgbClr val="34A853"/>
                </a:solidFill>
                <a:latin typeface="Google Sans" pitchFamily="34" charset="0"/>
                <a:ea typeface="Google Sans" pitchFamily="34" charset="-122"/>
                <a:cs typeface="Google Sans" pitchFamily="34" charset="-120"/>
              </a:rPr>
              <a:t>now the second form</a:t>
            </a:r>
            <a:endParaRPr lang="en-US" sz="2200" dirty="0"/>
          </a:p>
        </p:txBody>
      </p:sp>
      <p:sp>
        <p:nvSpPr>
          <p:cNvPr id="13" name="Text 3"/>
          <p:cNvSpPr/>
          <p:nvPr/>
        </p:nvSpPr>
        <p:spPr>
          <a:xfrm>
            <a:off x="812788" y="4390367"/>
            <a:ext cx="8046720" cy="777240"/>
          </a:xfrm>
          <a:prstGeom prst="rect">
            <a:avLst/>
          </a:prstGeom>
          <a:noFill/>
          <a:ln/>
        </p:spPr>
        <p:txBody>
          <a:bodyPr wrap="square" lIns="0" tIns="0" rIns="0" bIns="0" rtlCol="0" anchor="t"/>
          <a:lstStyle/>
          <a:p>
            <a:pPr marL="0" indent="0" algn="l">
              <a:lnSpc>
                <a:spcPts val="2100"/>
              </a:lnSpc>
              <a:buNone/>
            </a:pPr>
            <a:r>
              <a:rPr lang="en-US" sz="1400" dirty="0">
                <a:solidFill>
                  <a:srgbClr val="5F6368"/>
                </a:solidFill>
                <a:latin typeface="Google Sans" pitchFamily="34" charset="0"/>
                <a:ea typeface="Google Sans" pitchFamily="34" charset="-122"/>
                <a:cs typeface="Google Sans" pitchFamily="34" charset="-120"/>
              </a:rPr>
              <a:t>Well done! Next, check your inbox for the form receipt, then fill in the second form to confirm your seat. You are not finished yet.</a:t>
            </a:r>
            <a:endParaRPr lang="en-US" sz="1400" dirty="0"/>
          </a:p>
        </p:txBody>
      </p:sp>
      <p:sp>
        <p:nvSpPr>
          <p:cNvPr id="14" name="Text 4"/>
          <p:cNvSpPr/>
          <p:nvPr/>
        </p:nvSpPr>
        <p:spPr>
          <a:xfrm>
            <a:off x="812788" y="5152243"/>
            <a:ext cx="1403015" cy="365683"/>
          </a:xfrm>
          <a:prstGeom prst="roundRect">
            <a:avLst>
              <a:gd name="adj" fmla="val 50000"/>
            </a:avLst>
          </a:prstGeom>
          <a:solidFill>
            <a:srgbClr val="E8F0FE"/>
          </a:solidFill>
          <a:ln/>
        </p:spPr>
        <p:txBody>
          <a:bodyPr wrap="none" lIns="0" tIns="0" rIns="0" bIns="0" rtlCol="0" anchor="ctr"/>
          <a:lstStyle/>
          <a:p>
            <a:pPr marL="0" indent="0" algn="ctr">
              <a:lnSpc>
                <a:spcPts val="1680"/>
              </a:lnSpc>
              <a:buNone/>
            </a:pPr>
            <a:r>
              <a:rPr lang="en-US" sz="1200" dirty="0">
                <a:solidFill>
                  <a:srgbClr val="1A73E8"/>
                </a:solidFill>
                <a:latin typeface="Google Sans" pitchFamily="34" charset="0"/>
                <a:ea typeface="Google Sans" pitchFamily="34" charset="-122"/>
                <a:cs typeface="Google Sans" pitchFamily="34" charset="-120"/>
              </a:rPr>
              <a:t>Part 1 done</a:t>
            </a:r>
            <a:endParaRPr lang="en-US" sz="1200" dirty="0"/>
          </a:p>
        </p:txBody>
      </p:sp>
      <p:sp>
        <p:nvSpPr>
          <p:cNvPr id="15" name="Text 5"/>
          <p:cNvSpPr/>
          <p:nvPr/>
        </p:nvSpPr>
        <p:spPr>
          <a:xfrm>
            <a:off x="2317378" y="5152243"/>
            <a:ext cx="1181695" cy="365683"/>
          </a:xfrm>
          <a:prstGeom prst="roundRect">
            <a:avLst>
              <a:gd name="adj" fmla="val 50000"/>
            </a:avLst>
          </a:prstGeom>
          <a:solidFill>
            <a:srgbClr val="FCE8E6"/>
          </a:solidFill>
          <a:ln/>
        </p:spPr>
        <p:txBody>
          <a:bodyPr wrap="none" lIns="0" tIns="0" rIns="0" bIns="0" rtlCol="0" anchor="ctr"/>
          <a:lstStyle/>
          <a:p>
            <a:pPr marL="0" indent="0" algn="ctr">
              <a:lnSpc>
                <a:spcPts val="1680"/>
              </a:lnSpc>
              <a:buNone/>
            </a:pPr>
            <a:r>
              <a:rPr lang="en-US" sz="1200" dirty="0">
                <a:solidFill>
                  <a:srgbClr val="C5221F"/>
                </a:solidFill>
                <a:latin typeface="Google Sans" pitchFamily="34" charset="0"/>
                <a:ea typeface="Google Sans" pitchFamily="34" charset="-122"/>
                <a:cs typeface="Google Sans" pitchFamily="34" charset="-120"/>
              </a:rPr>
              <a:t>Check inbox</a:t>
            </a:r>
            <a:endParaRPr lang="en-US" sz="1200" dirty="0"/>
          </a:p>
        </p:txBody>
      </p:sp>
      <p:sp>
        <p:nvSpPr>
          <p:cNvPr id="16" name="Text 6"/>
          <p:cNvSpPr/>
          <p:nvPr/>
        </p:nvSpPr>
        <p:spPr>
          <a:xfrm>
            <a:off x="3600648" y="5152243"/>
            <a:ext cx="1909155" cy="365683"/>
          </a:xfrm>
          <a:prstGeom prst="roundRect">
            <a:avLst>
              <a:gd name="adj" fmla="val 50000"/>
            </a:avLst>
          </a:prstGeom>
          <a:solidFill>
            <a:srgbClr val="E6F4EA"/>
          </a:solidFill>
          <a:ln/>
        </p:spPr>
        <p:txBody>
          <a:bodyPr wrap="none" lIns="0" tIns="0" rIns="0" bIns="0" rtlCol="0" anchor="ctr"/>
          <a:lstStyle/>
          <a:p>
            <a:pPr marL="0" indent="0" algn="ctr">
              <a:lnSpc>
                <a:spcPts val="1680"/>
              </a:lnSpc>
              <a:buNone/>
            </a:pPr>
            <a:r>
              <a:rPr lang="en-US" sz="1200" dirty="0">
                <a:solidFill>
                  <a:srgbClr val="137333"/>
                </a:solidFill>
                <a:latin typeface="Google Sans" pitchFamily="34" charset="0"/>
                <a:ea typeface="Google Sans" pitchFamily="34" charset="-122"/>
                <a:cs typeface="Google Sans" pitchFamily="34" charset="-120"/>
              </a:rPr>
              <a:t>Then form 2</a:t>
            </a:r>
            <a:endParaRPr lang="en-US" sz="1200" dirty="0"/>
          </a:p>
        </p:txBody>
      </p:sp>
      <p:sp>
        <p:nvSpPr>
          <p:cNvPr id="17" name="Text 7"/>
          <p:cNvSpPr/>
          <p:nvPr/>
        </p:nvSpPr>
        <p:spPr>
          <a:xfrm>
            <a:off x="5611378" y="5152243"/>
            <a:ext cx="1988654" cy="365683"/>
          </a:xfrm>
          <a:prstGeom prst="roundRect">
            <a:avLst>
              <a:gd name="adj" fmla="val 50000"/>
            </a:avLst>
          </a:prstGeom>
          <a:solidFill>
            <a:srgbClr val="FEF7E0"/>
          </a:solidFill>
          <a:ln/>
        </p:spPr>
        <p:txBody>
          <a:bodyPr wrap="none" lIns="0" tIns="0" rIns="0" bIns="0" rtlCol="0" anchor="ctr"/>
          <a:lstStyle/>
          <a:p>
            <a:pPr marL="0" indent="0" algn="ctr">
              <a:lnSpc>
                <a:spcPts val="1680"/>
              </a:lnSpc>
              <a:buNone/>
            </a:pPr>
            <a:r>
              <a:rPr lang="en-US" sz="1200" dirty="0">
                <a:solidFill>
                  <a:srgbClr val="B06000"/>
                </a:solidFill>
                <a:latin typeface="Google Sans" pitchFamily="34" charset="0"/>
                <a:ea typeface="Google Sans" pitchFamily="34" charset="-122"/>
                <a:cs typeface="Google Sans" pitchFamily="34" charset="-120"/>
              </a:rPr>
              <a:t>Not done yet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16: Check your confirmation email</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Your first form is done. Now look in your inbox.</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Find the email</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Look for Thanks for filling out this form from Forms Response Receipts.</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it</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It confirms your enrolment form was received.</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second form</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This is the next step, shown on the next slide. It is mandatory.</a:t>
            </a:r>
            <a:endParaRPr lang="en-US" sz="1200" dirty="0"/>
          </a:p>
        </p:txBody>
      </p:sp>
      <p:pic>
        <p:nvPicPr>
          <p:cNvPr id="99" name="Screenshot" descr="Gmail inbox with the Google Forms confirmation email"/>
          <p:cNvPicPr>
            <a:picLocks noChangeAspect="1"/>
          </p:cNvPicPr>
          <p:nvPr/>
        </p:nvPicPr>
        <p:blipFill>
          <a:blip r:embed="rId50"/>
          <a:srcRect l="17708" t="7870" r="3646" b="1852"/>
          <a:stretch>
            <a:fillRect/>
          </a:stretch>
        </p:blipFill>
        <p:spPr>
          <a:xfrm>
            <a:off x="5264951" y="2011680"/>
            <a:ext cx="6231050" cy="4023360"/>
          </a:xfrm>
          <a:prstGeom prst="roundRect">
            <a:avLst>
              <a:gd name="adj" fmla="val 2000"/>
            </a:avLst>
          </a:prstGeom>
          <a:ln w="12700">
            <a:solidFill>
              <a:srgbClr val="DADCE0"/>
            </a:solidFill>
          </a:ln>
        </p:spPr>
      </p:pic>
      <p:sp>
        <p:nvSpPr>
          <p:cNvPr id="100" name="Highlight box 1"/>
          <p:cNvSpPr/>
          <p:nvPr/>
        </p:nvSpPr>
        <p:spPr>
          <a:xfrm>
            <a:off x="5632212" y="2350055"/>
            <a:ext cx="5133395" cy="367261"/>
          </a:xfrm>
          <a:prstGeom prst="rect">
            <a:avLst/>
          </a:prstGeom>
          <a:noFill/>
          <a:ln w="19050">
            <a:solidFill>
              <a:srgbClr val="EA4335"/>
            </a:solidFill>
          </a:ln>
        </p:spPr>
        <p:txBody>
          <a:bodyPr/>
          <a:lstStyle/>
          <a:p>
            <a:endParaRPr lang="en-US"/>
          </a:p>
        </p:txBody>
      </p:sp>
      <p:sp>
        <p:nvSpPr>
          <p:cNvPr id="101" name="Highlight box 2"/>
          <p:cNvSpPr/>
          <p:nvPr/>
        </p:nvSpPr>
        <p:spPr>
          <a:xfrm>
            <a:off x="5632212" y="2775087"/>
            <a:ext cx="2232449" cy="173314"/>
          </a:xfrm>
          <a:prstGeom prst="rect">
            <a:avLst/>
          </a:prstGeom>
          <a:noFill/>
          <a:ln w="19050">
            <a:solidFill>
              <a:srgbClr val="EA4335"/>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17: Open the second form</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This step is mandatory to confirm your seat for the Main event.</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second form</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Open </a:t>
            </a:r>
            <a:r>
              <a:rPr u="sng" lang="en-US" sz="1200" dirty="0">
                <a:solidFill>
                  <a:srgbClr val="1A73E8"/>
                </a:solidFill>
                <a:latin typeface="Google Sans" pitchFamily="34" charset="0"/>
                <a:ea typeface="Google Sans" pitchFamily="34" charset="-122"/>
                <a:cs typeface="Google Sans" pitchFamily="34" charset="-120"/>
                <a:hlinkClick r:id="rId60"/>
              </a:rPr>
              <a:t>forms.gle/kkvPUmsR8FRjVuf47</a:t>
            </a:r>
            <a:r>
              <a:rPr lang="en-US" sz="1200" dirty="0">
                <a:solidFill>
                  <a:srgbClr val="3C4043"/>
                </a:solidFill>
                <a:latin typeface="Google Sans" pitchFamily="34" charset="0"/>
                <a:ea typeface="Google Sans" pitchFamily="34" charset="-122"/>
                <a:cs typeface="Google Sans" pitchFamily="34" charset="-120"/>
              </a:rPr>
              <a:t> in your browser.</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Tick the email box</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Keep the box ticked so your email is recorded with your response.</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Enter your details</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Type your full name, then fill in the questions below it.</a:t>
            </a:r>
            <a:endParaRPr lang="en-US" sz="1200" dirty="0"/>
          </a:p>
        </p:txBody>
      </p:sp>
      <p:pic>
        <p:nvPicPr>
          <p:cNvPr id="99" name="Screenshot" descr="Second form: Confirmation for Learn With Communities Campaign"/>
          <p:cNvPicPr>
            <a:picLocks noChangeAspect="1"/>
          </p:cNvPicPr>
          <p:nvPr/>
        </p:nvPicPr>
        <p:blipFill>
          <a:blip r:embed="rId50"/>
          <a:srcRect l="20833" t="23148" r="20833" b="7407"/>
          <a:stretch>
            <a:fillRect/>
          </a:stretch>
        </p:blipFill>
        <p:spPr>
          <a:xfrm>
            <a:off x="5376367" y="2011680"/>
            <a:ext cx="6008218" cy="4023360"/>
          </a:xfrm>
          <a:prstGeom prst="roundRect">
            <a:avLst>
              <a:gd name="adj" fmla="val 2000"/>
            </a:avLst>
          </a:prstGeom>
          <a:ln w="12700">
            <a:solidFill>
              <a:srgbClr val="DADCE0"/>
            </a:solidFill>
          </a:ln>
        </p:spPr>
      </p:pic>
      <p:sp>
        <p:nvSpPr>
          <p:cNvPr id="100" name="Highlight box 1"/>
          <p:cNvSpPr/>
          <p:nvPr/>
        </p:nvSpPr>
        <p:spPr>
          <a:xfrm>
            <a:off x="6223955" y="4500799"/>
            <a:ext cx="4130650" cy="386243"/>
          </a:xfrm>
          <a:prstGeom prst="rect">
            <a:avLst/>
          </a:prstGeom>
          <a:noFill/>
          <a:ln w="19050">
            <a:solidFill>
              <a:srgbClr val="EA4335"/>
            </a:solidFill>
          </a:ln>
        </p:spPr>
        <p:txBody>
          <a:bodyPr/>
          <a:lstStyle/>
          <a:p>
            <a:endParaRPr lang="en-US"/>
          </a:p>
        </p:txBody>
      </p:sp>
      <p:sp>
        <p:nvSpPr>
          <p:cNvPr id="101" name="Highlight box 2"/>
          <p:cNvSpPr/>
          <p:nvPr/>
        </p:nvSpPr>
        <p:spPr>
          <a:xfrm>
            <a:off x="6223955" y="5680984"/>
            <a:ext cx="2199437" cy="278953"/>
          </a:xfrm>
          <a:prstGeom prst="rect">
            <a:avLst/>
          </a:prstGeom>
          <a:noFill/>
          <a:ln w="19050">
            <a:solidFill>
              <a:srgbClr val="EA4335"/>
            </a:solidFill>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l="-33" r="-33"/>
          <a:stretch/>
        </p:blipFill>
        <p:spPr>
          <a:xfrm>
            <a:off x="0" y="0"/>
            <a:ext cx="3048000" cy="76150"/>
          </a:xfrm>
          <a:prstGeom prst="rect">
            <a:avLst/>
          </a:prstGeom>
        </p:spPr>
      </p:pic>
      <p:pic>
        <p:nvPicPr>
          <p:cNvPr id="3" name="Image 1" descr="rect"/>
          <p:cNvPicPr>
            <a:picLocks noChangeAspect="1"/>
          </p:cNvPicPr>
          <p:nvPr/>
        </p:nvPicPr>
        <p:blipFill>
          <a:blip r:embed="rId4"/>
          <a:srcRect l="-33" r="-33"/>
          <a:stretch/>
        </p:blipFill>
        <p:spPr>
          <a:xfrm>
            <a:off x="3048000" y="0"/>
            <a:ext cx="3048000" cy="76150"/>
          </a:xfrm>
          <a:prstGeom prst="rect">
            <a:avLst/>
          </a:prstGeom>
        </p:spPr>
      </p:pic>
      <p:pic>
        <p:nvPicPr>
          <p:cNvPr id="4" name="Image 2" descr="rect"/>
          <p:cNvPicPr>
            <a:picLocks noChangeAspect="1"/>
          </p:cNvPicPr>
          <p:nvPr/>
        </p:nvPicPr>
        <p:blipFill>
          <a:blip r:embed="rId5"/>
          <a:srcRect l="-33" r="-33"/>
          <a:stretch/>
        </p:blipFill>
        <p:spPr>
          <a:xfrm>
            <a:off x="6095999" y="0"/>
            <a:ext cx="3048000" cy="76150"/>
          </a:xfrm>
          <a:prstGeom prst="rect">
            <a:avLst/>
          </a:prstGeom>
        </p:spPr>
      </p:pic>
      <p:pic>
        <p:nvPicPr>
          <p:cNvPr id="5" name="Image 3" descr="rect"/>
          <p:cNvPicPr>
            <a:picLocks noChangeAspect="1"/>
          </p:cNvPicPr>
          <p:nvPr/>
        </p:nvPicPr>
        <p:blipFill>
          <a:blip r:embed="rId6"/>
          <a:srcRect l="-33" r="-33"/>
          <a:stretch/>
        </p:blipFill>
        <p:spPr>
          <a:xfrm>
            <a:off x="9143999" y="0"/>
            <a:ext cx="3048000" cy="76150"/>
          </a:xfrm>
          <a:prstGeom prst="rect">
            <a:avLst/>
          </a:prstGeom>
        </p:spPr>
      </p:pic>
      <p:sp>
        <p:nvSpPr>
          <p:cNvPr id="6" name="Text 0"/>
          <p:cNvSpPr>
            <a:spLocks noGrp="1"/>
          </p:cNvSpPr>
          <p:nvPr>
            <p:ph type="title"/>
          </p:nvPr>
        </p:nvSpPr>
        <p:spPr>
          <a:xfrm>
            <a:off x="812788" y="711150"/>
            <a:ext cx="10883417" cy="472442"/>
          </a:xfrm>
          <a:prstGeom prst="rect">
            <a:avLst/>
          </a:prstGeom>
          <a:noFill/>
          <a:ln/>
        </p:spPr>
        <p:txBody>
          <a:bodyPr wrap="square" lIns="0" tIns="0" rIns="0" bIns="0" rtlCol="0" anchor="t"/>
          <a:lstStyle/>
          <a:p>
            <a:pPr marL="0" indent="0" algn="l">
              <a:lnSpc>
                <a:spcPts val="3520"/>
              </a:lnSpc>
              <a:buNone/>
            </a:pPr>
            <a:r>
              <a:rPr lang="en-US" sz="3200" b="1" i="0" dirty="0">
                <a:solidFill>
                  <a:srgbClr val="202124"/>
                </a:solidFill>
                <a:latin typeface="Google Sans" pitchFamily="34" charset="0"/>
                <a:ea typeface="Google Sans" pitchFamily="34" charset="-122"/>
                <a:cs typeface="Google Sans" pitchFamily="34" charset="-120"/>
              </a:rPr>
              <a:t>Step 18: Join WhatsApp and submit</a:t>
            </a:r>
            <a:endParaRPr lang="en-US" sz="3200" dirty="0"/>
          </a:p>
        </p:txBody>
      </p:sp>
      <p:sp>
        <p:nvSpPr>
          <p:cNvPr id="7" name="Text 1"/>
          <p:cNvSpPr/>
          <p:nvPr/>
        </p:nvSpPr>
        <p:spPr>
          <a:xfrm>
            <a:off x="812788" y="1386768"/>
            <a:ext cx="10726419" cy="502920"/>
          </a:xfrm>
          <a:prstGeom prst="rect">
            <a:avLst/>
          </a:prstGeom>
          <a:noFill/>
          <a:ln/>
        </p:spPr>
        <p:txBody>
          <a:bodyPr wrap="square" lIns="0" tIns="0" rIns="0" bIns="0" rtlCol="0" anchor="t"/>
          <a:lstStyle/>
          <a:p>
            <a:pPr marL="0" indent="0" algn="l">
              <a:lnSpc>
                <a:spcPts val="2030"/>
              </a:lnSpc>
              <a:buNone/>
            </a:pPr>
            <a:r>
              <a:rPr lang="en-US" sz="1400" dirty="0">
                <a:solidFill>
                  <a:srgbClr val="3C4043"/>
                </a:solidFill>
                <a:latin typeface="Google Sans" pitchFamily="34" charset="0"/>
                <a:ea typeface="Google Sans" pitchFamily="34" charset="-122"/>
                <a:cs typeface="Google Sans" pitchFamily="34" charset="-120"/>
              </a:rPr>
              <a:t>The last page of the second form confirms your seat.</a:t>
            </a:r>
            <a:endParaRPr lang="en-US" sz="1400" dirty="0"/>
          </a:p>
        </p:txBody>
      </p:sp>
      <p:sp>
        <p:nvSpPr>
          <p:cNvPr id="8" name="Shape 2"/>
          <p:cNvSpPr/>
          <p:nvPr/>
        </p:nvSpPr>
        <p:spPr>
          <a:xfrm>
            <a:off x="813816" y="2011680"/>
            <a:ext cx="4069080" cy="1188720"/>
          </a:xfrm>
          <a:prstGeom prst="roundRect">
            <a:avLst>
              <a:gd name="adj" fmla="val 16484"/>
            </a:avLst>
          </a:prstGeom>
          <a:solidFill>
            <a:srgbClr val="E8F0FE"/>
          </a:solidFill>
          <a:ln/>
        </p:spPr>
      </p:sp>
      <p:sp>
        <p:nvSpPr>
          <p:cNvPr id="9" name="Text 3"/>
          <p:cNvSpPr/>
          <p:nvPr/>
        </p:nvSpPr>
        <p:spPr>
          <a:xfrm>
            <a:off x="932688" y="228600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1A73E8"/>
                </a:solidFill>
                <a:latin typeface="Google Sans" pitchFamily="34" charset="0"/>
                <a:ea typeface="Google Sans" pitchFamily="34" charset="-122"/>
                <a:cs typeface="Google Sans" pitchFamily="34" charset="-120"/>
              </a:rPr>
              <a:t>1</a:t>
            </a:r>
            <a:endParaRPr lang="en-US" sz="3200" dirty="0"/>
          </a:p>
        </p:txBody>
      </p:sp>
      <p:sp>
        <p:nvSpPr>
          <p:cNvPr id="10" name="Text 4"/>
          <p:cNvSpPr/>
          <p:nvPr/>
        </p:nvSpPr>
        <p:spPr>
          <a:xfrm>
            <a:off x="1481328" y="216712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Open the WhatsApp group link</a:t>
            </a:r>
            <a:endParaRPr lang="en-US" sz="1600" dirty="0"/>
          </a:p>
        </p:txBody>
      </p:sp>
      <p:sp>
        <p:nvSpPr>
          <p:cNvPr id="11" name="Text 5"/>
          <p:cNvSpPr/>
          <p:nvPr/>
        </p:nvSpPr>
        <p:spPr>
          <a:xfrm>
            <a:off x="1481328" y="248716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Click Learn With Communities Whatsapp Group and join the group.</a:t>
            </a:r>
            <a:endParaRPr lang="en-US" sz="1200" dirty="0"/>
          </a:p>
        </p:txBody>
      </p:sp>
      <p:sp>
        <p:nvSpPr>
          <p:cNvPr id="12" name="Shape 6"/>
          <p:cNvSpPr/>
          <p:nvPr/>
        </p:nvSpPr>
        <p:spPr>
          <a:xfrm>
            <a:off x="813816" y="3337560"/>
            <a:ext cx="4069080" cy="1188720"/>
          </a:xfrm>
          <a:prstGeom prst="roundRect">
            <a:avLst>
              <a:gd name="adj" fmla="val 16484"/>
            </a:avLst>
          </a:prstGeom>
          <a:solidFill>
            <a:srgbClr val="FCE8E6"/>
          </a:solidFill>
          <a:ln/>
        </p:spPr>
      </p:sp>
      <p:sp>
        <p:nvSpPr>
          <p:cNvPr id="13" name="Text 7"/>
          <p:cNvSpPr/>
          <p:nvPr/>
        </p:nvSpPr>
        <p:spPr>
          <a:xfrm>
            <a:off x="932688" y="361188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C5221F"/>
                </a:solidFill>
                <a:latin typeface="Google Sans" pitchFamily="34" charset="0"/>
                <a:ea typeface="Google Sans" pitchFamily="34" charset="-122"/>
                <a:cs typeface="Google Sans" pitchFamily="34" charset="-120"/>
              </a:rPr>
              <a:t>2</a:t>
            </a:r>
            <a:endParaRPr lang="en-US" sz="3200" dirty="0"/>
          </a:p>
        </p:txBody>
      </p:sp>
      <p:sp>
        <p:nvSpPr>
          <p:cNvPr id="14" name="Text 8"/>
          <p:cNvSpPr/>
          <p:nvPr/>
        </p:nvSpPr>
        <p:spPr>
          <a:xfrm>
            <a:off x="1481328" y="349300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Join the group</a:t>
            </a:r>
            <a:endParaRPr lang="en-US" sz="1600" dirty="0"/>
          </a:p>
        </p:txBody>
      </p:sp>
      <p:sp>
        <p:nvSpPr>
          <p:cNvPr id="15" name="Text 9"/>
          <p:cNvSpPr/>
          <p:nvPr/>
        </p:nvSpPr>
        <p:spPr>
          <a:xfrm>
            <a:off x="1481328" y="381304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The form asks you to join the event WhatsApp group to confirm your seat.</a:t>
            </a:r>
            <a:endParaRPr lang="en-US" sz="1200" dirty="0"/>
          </a:p>
        </p:txBody>
      </p:sp>
      <p:sp>
        <p:nvSpPr>
          <p:cNvPr id="16" name="Shape 10"/>
          <p:cNvSpPr/>
          <p:nvPr/>
        </p:nvSpPr>
        <p:spPr>
          <a:xfrm>
            <a:off x="813816" y="4663440"/>
            <a:ext cx="4069080" cy="1188720"/>
          </a:xfrm>
          <a:prstGeom prst="roundRect">
            <a:avLst>
              <a:gd name="adj" fmla="val 14320"/>
            </a:avLst>
          </a:prstGeom>
          <a:solidFill>
            <a:srgbClr val="FEF7E0"/>
          </a:solidFill>
          <a:ln/>
        </p:spPr>
      </p:sp>
      <p:sp>
        <p:nvSpPr>
          <p:cNvPr id="17" name="Text 11"/>
          <p:cNvSpPr/>
          <p:nvPr/>
        </p:nvSpPr>
        <p:spPr>
          <a:xfrm>
            <a:off x="932688" y="4937760"/>
            <a:ext cx="457200" cy="594360"/>
          </a:xfrm>
          <a:prstGeom prst="rect">
            <a:avLst/>
          </a:prstGeom>
          <a:noFill/>
          <a:ln/>
        </p:spPr>
        <p:txBody>
          <a:bodyPr wrap="square" lIns="0" tIns="0" rIns="0" bIns="0" rtlCol="0" anchor="t"/>
          <a:lstStyle/>
          <a:p>
            <a:pPr marL="0" indent="0" algn="l">
              <a:lnSpc>
                <a:spcPts val="4480"/>
              </a:lnSpc>
              <a:buNone/>
            </a:pPr>
            <a:r>
              <a:rPr lang="en-US" sz="3200" b="1" dirty="0">
                <a:solidFill>
                  <a:srgbClr val="E37400"/>
                </a:solidFill>
                <a:latin typeface="Google Sans" pitchFamily="34" charset="0"/>
                <a:ea typeface="Google Sans" pitchFamily="34" charset="-122"/>
                <a:cs typeface="Google Sans" pitchFamily="34" charset="-120"/>
              </a:rPr>
              <a:t>3</a:t>
            </a:r>
            <a:endParaRPr lang="en-US" sz="3200" dirty="0"/>
          </a:p>
        </p:txBody>
      </p:sp>
      <p:sp>
        <p:nvSpPr>
          <p:cNvPr id="18" name="Text 12"/>
          <p:cNvSpPr/>
          <p:nvPr/>
        </p:nvSpPr>
        <p:spPr>
          <a:xfrm>
            <a:off x="1481328" y="4818888"/>
            <a:ext cx="3291840" cy="274320"/>
          </a:xfrm>
          <a:prstGeom prst="rect">
            <a:avLst/>
          </a:prstGeom>
          <a:noFill/>
          <a:ln/>
        </p:spPr>
        <p:txBody>
          <a:bodyPr wrap="square" lIns="0" tIns="0" rIns="0" bIns="0" rtlCol="0" anchor="t"/>
          <a:lstStyle/>
          <a:p>
            <a:pPr marL="0" indent="0" algn="l">
              <a:lnSpc>
                <a:spcPts val="1920"/>
              </a:lnSpc>
              <a:buNone/>
            </a:pPr>
            <a:r>
              <a:rPr lang="en-US" sz="1600" b="1" dirty="0">
                <a:solidFill>
                  <a:srgbClr val="202124"/>
                </a:solidFill>
                <a:latin typeface="Google Sans" pitchFamily="34" charset="0"/>
                <a:ea typeface="Google Sans" pitchFamily="34" charset="-122"/>
                <a:cs typeface="Google Sans" pitchFamily="34" charset="-120"/>
              </a:rPr>
              <a:t>Click Submit</a:t>
            </a:r>
            <a:endParaRPr lang="en-US" sz="1600" dirty="0"/>
          </a:p>
        </p:txBody>
      </p:sp>
      <p:sp>
        <p:nvSpPr>
          <p:cNvPr id="19" name="Text 13"/>
          <p:cNvSpPr/>
          <p:nvPr/>
        </p:nvSpPr>
        <p:spPr>
          <a:xfrm>
            <a:off x="1481328" y="5138928"/>
            <a:ext cx="3291840" cy="685800"/>
          </a:xfrm>
          <a:prstGeom prst="rect">
            <a:avLst/>
          </a:prstGeom>
          <a:noFill/>
          <a:ln/>
        </p:spPr>
        <p:txBody>
          <a:bodyPr wrap="square" lIns="0" tIns="0" rIns="0" bIns="0" rtlCol="0" anchor="t"/>
          <a:lstStyle/>
          <a:p>
            <a:pPr marL="0" indent="0" algn="l">
              <a:lnSpc>
                <a:spcPts val="1680"/>
              </a:lnSpc>
              <a:buNone/>
            </a:pPr>
            <a:r>
              <a:rPr lang="en-US" sz="1200" dirty="0">
                <a:solidFill>
                  <a:srgbClr val="3C4043"/>
                </a:solidFill>
                <a:latin typeface="Google Sans" pitchFamily="34" charset="0"/>
                <a:ea typeface="Google Sans" pitchFamily="34" charset="-122"/>
                <a:cs typeface="Google Sans" pitchFamily="34" charset="-120"/>
              </a:rPr>
              <a:t>Press Submit to finish the second form.</a:t>
            </a:r>
            <a:endParaRPr lang="en-US" sz="1200" dirty="0"/>
          </a:p>
        </p:txBody>
      </p:sp>
      <p:pic>
        <p:nvPicPr>
          <p:cNvPr id="99" name="Screenshot" descr="Second form last page with the WhatsApp group link and Submit"/>
          <p:cNvPicPr>
            <a:picLocks noChangeAspect="1"/>
          </p:cNvPicPr>
          <p:nvPr/>
        </p:nvPicPr>
        <p:blipFill>
          <a:blip r:embed="rId50"/>
          <a:srcRect l="20833" t="23148" r="20833" b="21296"/>
          <a:stretch>
            <a:fillRect/>
          </a:stretch>
        </p:blipFill>
        <p:spPr>
          <a:xfrm>
            <a:off x="5120640" y="2011680"/>
            <a:ext cx="6519672" cy="3492681"/>
          </a:xfrm>
          <a:prstGeom prst="roundRect">
            <a:avLst>
              <a:gd name="adj" fmla="val 2000"/>
            </a:avLst>
          </a:prstGeom>
          <a:ln w="12700">
            <a:solidFill>
              <a:srgbClr val="DADCE0"/>
            </a:solidFill>
          </a:ln>
        </p:spPr>
      </p:pic>
      <p:sp>
        <p:nvSpPr>
          <p:cNvPr id="100" name="Highlight box 1"/>
          <p:cNvSpPr/>
          <p:nvPr/>
        </p:nvSpPr>
        <p:spPr>
          <a:xfrm>
            <a:off x="5987989" y="4555516"/>
            <a:ext cx="2235316" cy="250309"/>
          </a:xfrm>
          <a:prstGeom prst="rect">
            <a:avLst/>
          </a:prstGeom>
          <a:noFill/>
          <a:ln w="19050">
            <a:solidFill>
              <a:srgbClr val="EA4335"/>
            </a:solidFill>
          </a:ln>
        </p:spPr>
        <p:txBody>
          <a:bodyPr/>
          <a:lstStyle/>
          <a:p>
            <a:endParaRPr lang="en-US"/>
          </a:p>
        </p:txBody>
      </p:sp>
      <p:sp>
        <p:nvSpPr>
          <p:cNvPr id="101" name="Highlight box 2"/>
          <p:cNvSpPr/>
          <p:nvPr/>
        </p:nvSpPr>
        <p:spPr>
          <a:xfrm>
            <a:off x="6605030" y="5015386"/>
            <a:ext cx="832422" cy="372553"/>
          </a:xfrm>
          <a:prstGeom prst="rect">
            <a:avLst/>
          </a:prstGeom>
          <a:noFill/>
          <a:ln w="19050">
            <a:solidFill>
              <a:srgbClr val="EA4335"/>
            </a:solidFill>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1A73E8"/>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10413999" y="0"/>
            <a:ext cx="2286000" cy="2286000"/>
          </a:xfrm>
          <a:prstGeom prst="rect">
            <a:avLst/>
          </a:prstGeom>
        </p:spPr>
      </p:pic>
      <p:pic>
        <p:nvPicPr>
          <p:cNvPr id="3" name="Image 1" descr="ellipse"/>
          <p:cNvPicPr>
            <a:picLocks noChangeAspect="1"/>
          </p:cNvPicPr>
          <p:nvPr/>
        </p:nvPicPr>
        <p:blipFill>
          <a:blip r:embed="rId4"/>
          <a:srcRect/>
          <a:stretch/>
        </p:blipFill>
        <p:spPr>
          <a:xfrm>
            <a:off x="11302999" y="1905000"/>
            <a:ext cx="1270000" cy="1270000"/>
          </a:xfrm>
          <a:prstGeom prst="rect">
            <a:avLst/>
          </a:prstGeom>
        </p:spPr>
      </p:pic>
      <p:pic>
        <p:nvPicPr>
          <p:cNvPr id="4" name="Image 2" descr="ellipse"/>
          <p:cNvPicPr>
            <a:picLocks noChangeAspect="1"/>
          </p:cNvPicPr>
          <p:nvPr/>
        </p:nvPicPr>
        <p:blipFill>
          <a:blip r:embed="rId5"/>
          <a:srcRect/>
          <a:stretch/>
        </p:blipFill>
        <p:spPr>
          <a:xfrm>
            <a:off x="10794999" y="5334000"/>
            <a:ext cx="2032000" cy="2032000"/>
          </a:xfrm>
          <a:prstGeom prst="rect">
            <a:avLst/>
          </a:prstGeom>
        </p:spPr>
      </p:pic>
      <p:sp>
        <p:nvSpPr>
          <p:cNvPr id="5" name="Text 0"/>
          <p:cNvSpPr/>
          <p:nvPr/>
        </p:nvSpPr>
        <p:spPr>
          <a:xfrm>
            <a:off x="812788" y="1488390"/>
            <a:ext cx="10883417" cy="292050"/>
          </a:xfrm>
          <a:prstGeom prst="rect">
            <a:avLst/>
          </a:prstGeom>
          <a:noFill/>
          <a:ln/>
        </p:spPr>
        <p:txBody>
          <a:bodyPr wrap="square" lIns="0" tIns="0" rIns="0" bIns="0" rtlCol="0" anchor="t"/>
          <a:lstStyle/>
          <a:p>
            <a:pPr marL="0" indent="0" algn="l">
              <a:lnSpc>
                <a:spcPts val="2100"/>
              </a:lnSpc>
              <a:buNone/>
            </a:pPr>
            <a:r>
              <a:rPr lang="en-US" sz="1500" b="1" dirty="0">
                <a:solidFill>
                  <a:srgbClr val="FEF7E0"/>
                </a:solidFill>
                <a:latin typeface="Google Sans" pitchFamily="34" charset="0"/>
                <a:ea typeface="Google Sans" pitchFamily="34" charset="-122"/>
                <a:cs typeface="Google Sans" pitchFamily="34" charset="-120"/>
              </a:rPr>
              <a:t>Both parts are complete</a:t>
            </a:r>
            <a:endParaRPr lang="en-US" sz="1500" dirty="0"/>
          </a:p>
        </p:txBody>
      </p:sp>
      <p:sp>
        <p:nvSpPr>
          <p:cNvPr id="6" name="Text 1"/>
          <p:cNvSpPr>
            <a:spLocks noGrp="1"/>
          </p:cNvSpPr>
          <p:nvPr>
            <p:ph type="title"/>
          </p:nvPr>
        </p:nvSpPr>
        <p:spPr>
          <a:xfrm>
            <a:off x="812788" y="1983616"/>
            <a:ext cx="9509760" cy="612093"/>
          </a:xfrm>
          <a:prstGeom prst="rect">
            <a:avLst/>
          </a:prstGeom>
          <a:noFill/>
          <a:ln/>
        </p:spPr>
        <p:txBody>
          <a:bodyPr wrap="square" lIns="0" tIns="0" rIns="0" bIns="0" rtlCol="0" anchor="t"/>
          <a:lstStyle/>
          <a:p>
            <a:pPr marL="0" indent="0" algn="l">
              <a:lnSpc>
                <a:spcPts val="4620"/>
              </a:lnSpc>
              <a:buNone/>
            </a:pPr>
            <a:r>
              <a:rPr lang="en-US" sz="3800" b="1" i="0" dirty="0">
                <a:solidFill>
                  <a:srgbClr val="FFFFFF"/>
                </a:solidFill>
                <a:latin typeface="Google Sans" pitchFamily="34" charset="0"/>
                <a:ea typeface="Google Sans" pitchFamily="34" charset="-122"/>
                <a:cs typeface="Google Sans" pitchFamily="34" charset="-120"/>
              </a:rPr>
              <a:t>Congratulations, you're done!</a:t>
            </a:r>
            <a:endParaRPr lang="en-US" sz="4400" dirty="0"/>
          </a:p>
        </p:txBody>
      </p:sp>
      <p:sp>
        <p:nvSpPr>
          <p:cNvPr id="7" name="Shape 2"/>
          <p:cNvSpPr/>
          <p:nvPr/>
        </p:nvSpPr>
        <p:spPr>
          <a:xfrm>
            <a:off x="813816" y="3566160"/>
            <a:ext cx="3017520" cy="1143000"/>
          </a:xfrm>
          <a:prstGeom prst="roundRect">
            <a:avLst>
              <a:gd name="adj" fmla="val 11416"/>
            </a:avLst>
          </a:prstGeom>
          <a:solidFill>
            <a:srgbClr val="FFFFFF"/>
          </a:solidFill>
          <a:ln/>
        </p:spPr>
        <p:txBody>
          <a:bodyPr/>
          <a:lstStyle/>
          <a:p>
            <a:endParaRPr/>
          </a:p>
        </p:txBody>
      </p:sp>
      <p:sp>
        <p:nvSpPr>
          <p:cNvPr id="8" name="Text 3"/>
          <p:cNvSpPr/>
          <p:nvPr/>
        </p:nvSpPr>
        <p:spPr>
          <a:xfrm>
            <a:off x="1014984" y="3749040"/>
            <a:ext cx="2651760" cy="274320"/>
          </a:xfrm>
          <a:prstGeom prst="rect">
            <a:avLst/>
          </a:prstGeom>
          <a:noFill/>
          <a:ln/>
        </p:spPr>
        <p:txBody>
          <a:bodyPr wrap="square" lIns="0" tIns="0" rIns="0" bIns="0" rtlCol="0" anchor="t"/>
          <a:lstStyle/>
          <a:p>
            <a:pPr marL="0" indent="0" algn="l">
              <a:lnSpc>
                <a:spcPts val="1800"/>
              </a:lnSpc>
              <a:buNone/>
            </a:pPr>
            <a:r>
              <a:rPr lang="en-US" sz="1500" b="1" dirty="0">
                <a:solidFill>
                  <a:srgbClr val="202124"/>
                </a:solidFill>
                <a:latin typeface="Google Sans" pitchFamily="34" charset="0"/>
                <a:ea typeface="Google Sans" pitchFamily="34" charset="-122"/>
                <a:cs typeface="Google Sans" pitchFamily="34" charset="-120"/>
              </a:rPr>
              <a:t>Jamil Khan</a:t>
            </a:r>
            <a:endParaRPr lang="en-US" sz="1500" dirty="0"/>
          </a:p>
        </p:txBody>
      </p:sp>
      <p:sp>
        <p:nvSpPr>
          <p:cNvPr id="9" name="Text 4"/>
          <p:cNvSpPr/>
          <p:nvPr/>
        </p:nvSpPr>
        <p:spPr>
          <a:xfrm>
            <a:off x="1014984" y="4041648"/>
            <a:ext cx="2651760" cy="256032"/>
          </a:xfrm>
          <a:prstGeom prst="rect">
            <a:avLst/>
          </a:prstGeom>
          <a:noFill/>
          <a:ln/>
        </p:spPr>
        <p:txBody>
          <a:bodyPr wrap="square" lIns="0" tIns="0" rIns="0" bIns="0" rtlCol="0" anchor="t"/>
          <a:lstStyle/>
          <a:p>
            <a:pPr marL="0" indent="0" algn="l">
              <a:lnSpc>
                <a:spcPts val="1680"/>
              </a:lnSpc>
              <a:buNone/>
            </a:pPr>
            <a:r>
              <a:rPr lang="en-US" sz="1200" dirty="0">
                <a:solidFill>
                  <a:srgbClr val="5F6368"/>
                </a:solidFill>
                <a:latin typeface="Google Sans" pitchFamily="34" charset="0"/>
                <a:ea typeface="Google Sans" pitchFamily="34" charset="-122"/>
                <a:cs typeface="Google Sans" pitchFamily="34" charset="-120"/>
              </a:rPr>
              <a:t>+91 79000 46862</a:t>
            </a:r>
            <a:endParaRPr lang="en-US" sz="1200" dirty="0"/>
          </a:p>
        </p:txBody>
      </p:sp>
      <p:sp>
        <p:nvSpPr>
          <p:cNvPr id="10" name="Text 5"/>
          <p:cNvSpPr/>
          <p:nvPr/>
        </p:nvSpPr>
        <p:spPr>
          <a:xfrm>
            <a:off x="1014984" y="4315968"/>
            <a:ext cx="2651760" cy="256032"/>
          </a:xfrm>
          <a:prstGeom prst="rect">
            <a:avLst/>
          </a:prstGeom>
          <a:noFill/>
          <a:ln/>
        </p:spPr>
        <p:txBody>
          <a:bodyPr wrap="square" lIns="0" tIns="0" rIns="0" bIns="0" rtlCol="0" anchor="t"/>
          <a:lstStyle/>
          <a:p>
            <a:pPr marL="0" indent="0" algn="l">
              <a:lnSpc>
                <a:spcPts val="1680"/>
              </a:lnSpc>
              <a:buNone/>
            </a:pPr>
            <a:r>
              <a:rPr lang="en-US" sz="1200" u="sng" dirty="0">
                <a:solidFill>
                  <a:srgbClr val="1A73E8"/>
                </a:solidFill>
                <a:latin typeface="Google Sans" pitchFamily="34" charset="0"/>
                <a:ea typeface="Google Sans" pitchFamily="34" charset="-122"/>
                <a:cs typeface="Google Sans" pitchFamily="34" charset="-120"/>
                <a:hlinkClick r:id="rId6">
                  <a:extLst>
                    <a:ext uri="{A12FA001-AC4F-418D-AE19-62706E023703}">
                      <ahyp:hlinkClr xmlns:ahyp="http://schemas.microsoft.com/office/drawing/2018/hyperlinkcolor" val="tx"/>
                    </a:ext>
                  </a:extLst>
                </a:hlinkClick>
              </a:rPr>
              <a:t>Message on WhatsApp</a:t>
            </a:r>
            <a:endParaRPr lang="en-US" sz="1200" dirty="0"/>
          </a:p>
        </p:txBody>
      </p:sp>
      <p:sp>
        <p:nvSpPr>
          <p:cNvPr id="11" name="Shape 6"/>
          <p:cNvSpPr/>
          <p:nvPr/>
        </p:nvSpPr>
        <p:spPr>
          <a:xfrm>
            <a:off x="4014216" y="3566160"/>
            <a:ext cx="3017520" cy="1143000"/>
          </a:xfrm>
          <a:prstGeom prst="roundRect">
            <a:avLst>
              <a:gd name="adj" fmla="val 11416"/>
            </a:avLst>
          </a:prstGeom>
          <a:solidFill>
            <a:srgbClr val="FFFFFF"/>
          </a:solidFill>
          <a:ln/>
        </p:spPr>
        <p:txBody>
          <a:bodyPr/>
          <a:lstStyle/>
          <a:p>
            <a:endParaRPr/>
          </a:p>
        </p:txBody>
      </p:sp>
      <p:sp>
        <p:nvSpPr>
          <p:cNvPr id="12" name="Text 7"/>
          <p:cNvSpPr/>
          <p:nvPr/>
        </p:nvSpPr>
        <p:spPr>
          <a:xfrm>
            <a:off x="4215384" y="3749040"/>
            <a:ext cx="2651760" cy="274320"/>
          </a:xfrm>
          <a:prstGeom prst="rect">
            <a:avLst/>
          </a:prstGeom>
          <a:noFill/>
          <a:ln/>
        </p:spPr>
        <p:txBody>
          <a:bodyPr wrap="square" lIns="0" tIns="0" rIns="0" bIns="0" rtlCol="0" anchor="t"/>
          <a:lstStyle/>
          <a:p>
            <a:pPr marL="0" indent="0" algn="l">
              <a:lnSpc>
                <a:spcPts val="1800"/>
              </a:lnSpc>
              <a:buNone/>
            </a:pPr>
            <a:r>
              <a:rPr lang="en-US" sz="1500" b="1" dirty="0">
                <a:solidFill>
                  <a:srgbClr val="202124"/>
                </a:solidFill>
                <a:latin typeface="Google Sans" pitchFamily="34" charset="0"/>
                <a:ea typeface="Google Sans" pitchFamily="34" charset="-122"/>
                <a:cs typeface="Google Sans" pitchFamily="34" charset="-120"/>
              </a:rPr>
              <a:t>Nitish Jain</a:t>
            </a:r>
            <a:endParaRPr lang="en-US" sz="1500" dirty="0"/>
          </a:p>
        </p:txBody>
      </p:sp>
      <p:sp>
        <p:nvSpPr>
          <p:cNvPr id="13" name="Text 8"/>
          <p:cNvSpPr/>
          <p:nvPr/>
        </p:nvSpPr>
        <p:spPr>
          <a:xfrm>
            <a:off x="4215384" y="4041648"/>
            <a:ext cx="2651760" cy="256032"/>
          </a:xfrm>
          <a:prstGeom prst="rect">
            <a:avLst/>
          </a:prstGeom>
          <a:noFill/>
          <a:ln/>
        </p:spPr>
        <p:txBody>
          <a:bodyPr wrap="square" lIns="0" tIns="0" rIns="0" bIns="0" rtlCol="0" anchor="t"/>
          <a:lstStyle/>
          <a:p>
            <a:pPr marL="0" indent="0" algn="l">
              <a:lnSpc>
                <a:spcPts val="1680"/>
              </a:lnSpc>
              <a:buNone/>
            </a:pPr>
            <a:r>
              <a:rPr lang="en-US" sz="1200" dirty="0">
                <a:solidFill>
                  <a:srgbClr val="5F6368"/>
                </a:solidFill>
                <a:latin typeface="Google Sans" pitchFamily="34" charset="0"/>
                <a:ea typeface="Google Sans" pitchFamily="34" charset="-122"/>
                <a:cs typeface="Google Sans" pitchFamily="34" charset="-120"/>
              </a:rPr>
              <a:t>+91 820 080 1599</a:t>
            </a:r>
            <a:endParaRPr lang="en-US" sz="1200" dirty="0"/>
          </a:p>
        </p:txBody>
      </p:sp>
      <p:sp>
        <p:nvSpPr>
          <p:cNvPr id="14" name="Text 9"/>
          <p:cNvSpPr/>
          <p:nvPr/>
        </p:nvSpPr>
        <p:spPr>
          <a:xfrm>
            <a:off x="4215384" y="4315968"/>
            <a:ext cx="2651760" cy="256032"/>
          </a:xfrm>
          <a:prstGeom prst="rect">
            <a:avLst/>
          </a:prstGeom>
          <a:noFill/>
          <a:ln/>
        </p:spPr>
        <p:txBody>
          <a:bodyPr wrap="square" lIns="0" tIns="0" rIns="0" bIns="0" rtlCol="0" anchor="t"/>
          <a:lstStyle/>
          <a:p>
            <a:pPr marL="0" indent="0" algn="l">
              <a:lnSpc>
                <a:spcPts val="1680"/>
              </a:lnSpc>
              <a:buNone/>
            </a:pPr>
            <a:r>
              <a:rPr lang="en-US" sz="1200" u="sng" dirty="0">
                <a:solidFill>
                  <a:srgbClr val="1A73E8"/>
                </a:solidFill>
                <a:latin typeface="Google Sans" pitchFamily="34" charset="0"/>
                <a:ea typeface="Google Sans" pitchFamily="34" charset="-122"/>
                <a:cs typeface="Google Sans" pitchFamily="34" charset="-120"/>
                <a:hlinkClick r:id="rId7">
                  <a:extLst>
                    <a:ext uri="{A12FA001-AC4F-418D-AE19-62706E023703}">
                      <ahyp:hlinkClr xmlns:ahyp="http://schemas.microsoft.com/office/drawing/2018/hyperlinkcolor" val="tx"/>
                    </a:ext>
                  </a:extLst>
                </a:hlinkClick>
              </a:rPr>
              <a:t>Message on WhatsApp</a:t>
            </a:r>
            <a:endParaRPr lang="en-US" sz="1200" dirty="0"/>
          </a:p>
        </p:txBody>
      </p:sp>
      <p:sp>
        <p:nvSpPr>
          <p:cNvPr id="15" name="Shape 10"/>
          <p:cNvSpPr/>
          <p:nvPr/>
        </p:nvSpPr>
        <p:spPr>
          <a:xfrm>
            <a:off x="7214616" y="3566160"/>
            <a:ext cx="3017520" cy="1143000"/>
          </a:xfrm>
          <a:prstGeom prst="roundRect">
            <a:avLst>
              <a:gd name="adj" fmla="val 11416"/>
            </a:avLst>
          </a:prstGeom>
          <a:solidFill>
            <a:srgbClr val="FFFFFF"/>
          </a:solidFill>
          <a:ln/>
        </p:spPr>
        <p:txBody>
          <a:bodyPr/>
          <a:lstStyle/>
          <a:p>
            <a:endParaRPr/>
          </a:p>
        </p:txBody>
      </p:sp>
      <p:sp>
        <p:nvSpPr>
          <p:cNvPr id="16" name="Text 11"/>
          <p:cNvSpPr/>
          <p:nvPr/>
        </p:nvSpPr>
        <p:spPr>
          <a:xfrm>
            <a:off x="7415784" y="3749040"/>
            <a:ext cx="2651760" cy="274320"/>
          </a:xfrm>
          <a:prstGeom prst="rect">
            <a:avLst/>
          </a:prstGeom>
          <a:noFill/>
          <a:ln/>
        </p:spPr>
        <p:txBody>
          <a:bodyPr wrap="square" lIns="0" tIns="0" rIns="0" bIns="0" rtlCol="0" anchor="t"/>
          <a:lstStyle/>
          <a:p>
            <a:pPr marL="0" indent="0" algn="l">
              <a:lnSpc>
                <a:spcPts val="1800"/>
              </a:lnSpc>
              <a:buNone/>
            </a:pPr>
            <a:r>
              <a:rPr lang="en-US" sz="1500" b="1" dirty="0">
                <a:solidFill>
                  <a:srgbClr val="202124"/>
                </a:solidFill>
                <a:latin typeface="Google Sans" pitchFamily="34" charset="0"/>
                <a:ea typeface="Google Sans" pitchFamily="34" charset="-122"/>
                <a:cs typeface="Google Sans" pitchFamily="34" charset="-120"/>
              </a:rPr>
              <a:t>Sairaj Lad</a:t>
            </a:r>
            <a:endParaRPr lang="en-US" sz="1500" dirty="0"/>
          </a:p>
        </p:txBody>
      </p:sp>
      <p:sp>
        <p:nvSpPr>
          <p:cNvPr id="17" name="Text 12"/>
          <p:cNvSpPr/>
          <p:nvPr/>
        </p:nvSpPr>
        <p:spPr>
          <a:xfrm>
            <a:off x="7415784" y="4041648"/>
            <a:ext cx="2651760" cy="256032"/>
          </a:xfrm>
          <a:prstGeom prst="rect">
            <a:avLst/>
          </a:prstGeom>
          <a:noFill/>
          <a:ln/>
        </p:spPr>
        <p:txBody>
          <a:bodyPr wrap="square" lIns="0" tIns="0" rIns="0" bIns="0" rtlCol="0" anchor="t"/>
          <a:lstStyle/>
          <a:p>
            <a:pPr marL="0" indent="0" algn="l">
              <a:lnSpc>
                <a:spcPts val="1680"/>
              </a:lnSpc>
              <a:buNone/>
            </a:pPr>
            <a:r>
              <a:rPr lang="en-US" sz="1200" dirty="0">
                <a:solidFill>
                  <a:srgbClr val="5F6368"/>
                </a:solidFill>
                <a:latin typeface="Google Sans" pitchFamily="34" charset="0"/>
                <a:ea typeface="Google Sans" pitchFamily="34" charset="-122"/>
                <a:cs typeface="Google Sans" pitchFamily="34" charset="-120"/>
              </a:rPr>
              <a:t>+91 98196 16475</a:t>
            </a:r>
            <a:endParaRPr lang="en-US" sz="1200" dirty="0"/>
          </a:p>
        </p:txBody>
      </p:sp>
      <p:sp>
        <p:nvSpPr>
          <p:cNvPr id="18" name="Text 13"/>
          <p:cNvSpPr/>
          <p:nvPr/>
        </p:nvSpPr>
        <p:spPr>
          <a:xfrm>
            <a:off x="7415784" y="4315968"/>
            <a:ext cx="2651760" cy="256032"/>
          </a:xfrm>
          <a:prstGeom prst="rect">
            <a:avLst/>
          </a:prstGeom>
          <a:noFill/>
          <a:ln/>
        </p:spPr>
        <p:txBody>
          <a:bodyPr wrap="square" lIns="0" tIns="0" rIns="0" bIns="0" rtlCol="0" anchor="t"/>
          <a:lstStyle/>
          <a:p>
            <a:pPr marL="0" indent="0" algn="l">
              <a:lnSpc>
                <a:spcPts val="1680"/>
              </a:lnSpc>
              <a:buNone/>
            </a:pPr>
            <a:r>
              <a:rPr lang="en-US" sz="1200" u="sng" dirty="0">
                <a:solidFill>
                  <a:srgbClr val="1A73E8"/>
                </a:solidFill>
                <a:latin typeface="Google Sans" pitchFamily="34" charset="0"/>
                <a:ea typeface="Google Sans" pitchFamily="34" charset="-122"/>
                <a:cs typeface="Google Sans" pitchFamily="34" charset="-120"/>
                <a:hlinkClick r:id="rId8">
                  <a:extLst>
                    <a:ext uri="{A12FA001-AC4F-418D-AE19-62706E023703}">
                      <ahyp:hlinkClr xmlns:ahyp="http://schemas.microsoft.com/office/drawing/2018/hyperlinkcolor" val="tx"/>
                    </a:ext>
                  </a:extLst>
                </a:hlinkClick>
              </a:rPr>
              <a:t>Message on WhatsApp</a:t>
            </a:r>
            <a:endParaRPr lang="en-US" sz="1200" dirty="0"/>
          </a:p>
        </p:txBody>
      </p:sp>
      <p:sp>
        <p:nvSpPr>
          <p:cNvPr id="23" name="Text 18"/>
          <p:cNvSpPr/>
          <p:nvPr/>
        </p:nvSpPr>
        <p:spPr>
          <a:xfrm>
            <a:off x="813816" y="4983480"/>
            <a:ext cx="9509760" cy="274320"/>
          </a:xfrm>
          <a:prstGeom prst="rect">
            <a:avLst/>
          </a:prstGeom>
          <a:noFill/>
          <a:ln/>
        </p:spPr>
        <p:txBody>
          <a:bodyPr wrap="square" lIns="0" tIns="0" rIns="0" bIns="0" rtlCol="0" anchor="t"/>
          <a:lstStyle/>
          <a:p>
            <a:pPr marL="0" indent="0" algn="l">
              <a:lnSpc>
                <a:spcPts val="1820"/>
              </a:lnSpc>
              <a:buNone/>
            </a:pPr>
            <a:r>
              <a:rPr lang="en-US" sz="1300" dirty="0">
                <a:solidFill>
                  <a:srgbClr val="E8F0FE"/>
                </a:solidFill>
                <a:latin typeface="Google Sans" pitchFamily="34" charset="0"/>
                <a:ea typeface="Google Sans" pitchFamily="34" charset="-122"/>
                <a:cs typeface="Google Sans" pitchFamily="34" charset="-120"/>
              </a:rPr>
              <a:t>Tap Message on WhatsApp to open a chat with them directly.</a:t>
            </a:r>
            <a:endParaRPr lang="en-US" sz="1300" dirty="0"/>
          </a:p>
        </p:txBody>
      </p:sp>
      <p:sp>
        <p:nvSpPr>
          <p:cNvPr id="120" name="Help line"/>
          <p:cNvSpPr/>
          <p:nvPr/>
        </p:nvSpPr>
        <p:spPr>
          <a:xfrm>
            <a:off x="813816" y="2926080"/>
            <a:ext cx="9509760" cy="411480"/>
          </a:xfrm>
          <a:prstGeom prst="rect">
            <a:avLst/>
          </a:prstGeom>
          <a:noFill/>
          <a:ln/>
        </p:spPr>
        <p:txBody>
          <a:bodyPr wrap="square" lIns="0" tIns="0" rIns="0" bIns="0" rtlCol="0" anchor="t"/>
          <a:lstStyle/>
          <a:p>
            <a:pPr marL="0" indent="0" algn="l">
              <a:lnSpc>
                <a:spcPts val="1820"/>
              </a:lnSpc>
              <a:buNone/>
            </a:pPr>
            <a:r>
              <a:rPr b="1" lang="en-US" sz="2000" dirty="0">
                <a:solidFill>
                  <a:srgbClr val="E8F0FE"/>
                </a:solidFill>
                <a:latin typeface="Google Sans" pitchFamily="34" charset="0"/>
                <a:ea typeface="Google Sans" pitchFamily="34" charset="-122"/>
                <a:cs typeface="Google Sans" pitchFamily="34" charset="-120"/>
              </a:rPr>
              <a:t>Have any doubts in any step? Contact these people:</a:t>
            </a:r>
            <a:endParaRPr lang="en-US" sz="2000" dirty="0"/>
          </a:p>
        </p:txBody>
      </p:sp>
    </p:spTree>
  </p:cSld>
  <p:clrMapOvr>
    <a:masterClrMapping/>
  </p:clrMapOvr>
</p:sld>
</file>

<file path=ppt/theme/theme1.xml><?xml version="1.0" encoding="utf-8"?>
<a:theme xmlns:a="http://schemas.openxmlformats.org/drawingml/2006/main" name="Learn with Communities · GDGoC APSIT 2026-27">
  <a:themeElements>
    <a:clrScheme name="Learn with Communities · GDGoC APSIT 2026-27">
      <a:dk1>
        <a:srgbClr val="3C4043"/>
      </a:dk1>
      <a:lt1>
        <a:srgbClr val="FFFFFF"/>
      </a:lt1>
      <a:dk2>
        <a:srgbClr val="6D7072"/>
      </a:dk2>
      <a:lt2>
        <a:srgbClr val="ECECEC"/>
      </a:lt2>
      <a:accent1>
        <a:srgbClr val="1A73E8"/>
      </a:accent1>
      <a:accent2>
        <a:srgbClr val="137333"/>
      </a:accent2>
      <a:accent3>
        <a:srgbClr val="C5221F"/>
      </a:accent3>
      <a:accent4>
        <a:srgbClr val="B06000"/>
      </a:accent4>
      <a:accent5>
        <a:srgbClr val="E37400"/>
      </a:accent5>
      <a:accent6>
        <a:srgbClr val="202124"/>
      </a:accent6>
      <a:hlink>
        <a:srgbClr val="0563C1"/>
      </a:hlink>
      <a:folHlink>
        <a:srgbClr val="954F72"/>
      </a:folHlink>
    </a:clrScheme>
    <a:fontScheme name="Learn with Communities · GDGoC APSIT 2026-27">
      <a:majorFont>
        <a:latin typeface="Google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ogl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1017</Words>
  <Application>Microsoft Office PowerPoint</Application>
  <PresentationFormat>Widescreen</PresentationFormat>
  <Paragraphs>122</Paragraphs>
  <Slides>9</Slides>
  <Notes>8</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Google Sans</vt:lpstr>
      <vt:lpstr>Poppins Bold</vt:lpstr>
      <vt:lpstr>Learn with Communities · GDGoC APSIT 2026-27</vt:lpstr>
      <vt:lpstr>PowerPoint Presentation</vt:lpstr>
      <vt:lpstr>Learn with Communities</vt:lpstr>
      <vt:lpstr>What is Learn with Communities?</vt:lpstr>
      <vt:lpstr>Why you should register</vt:lpstr>
      <vt:lpstr>Rewards &amp; milestones</vt:lpstr>
      <vt:lpstr>Before you register: set up Google Skills</vt:lpstr>
      <vt:lpstr>How to register (limited seats)</vt:lpstr>
      <vt:lpstr>A look inside the labs</vt:lpstr>
      <vt:lpstr>Register early. Start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with Communities · GDGoC APSIT 2026-27</dc:title>
  <dc:subject/>
  <dc:creator>LOQ</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Roboto
Copyright 2011 The Roboto Project Authors (https://github.com/googlefonts/roboto-classic)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dc:description>
  <cp:lastModifiedBy>Nishit Jain</cp:lastModifiedBy>
  <cp:revision>7</cp:revision>
  <dcterms:created xsi:type="dcterms:W3CDTF">2026-10-24T14:14:01Z</dcterms:created>
  <dcterms:modified xsi:type="dcterms:W3CDTF">2026-10-25T10:28:21Z</dcterms:modified>
</cp:coreProperties>
</file>