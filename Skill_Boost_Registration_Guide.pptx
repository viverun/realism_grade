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presProps" Target="presProps.xml"/><Relationship Id="rId12" Type="http://schemas.openxmlformats.org/officeDocument/2006/relationships/font" Target="fonts/font1.fntdata"/><Relationship Id="rId17" Type="http://schemas.microsoft.com/office/2016/11/relationships/changesInfo" Target="changesInfos/changesInfo1.xml"/><Relationship Id="rId16" Type="http://schemas.openxmlformats.org/officeDocument/2006/relationships/tableStyles" Target="tableStyles.xml"/><Relationship Id="rId1" Type="http://schemas.openxmlformats.org/officeDocument/2006/relationships/slideMaster" Target="slideMasters/slideMaster1.xml"/><Relationship Id="rId11" Type="http://schemas.openxmlformats.org/officeDocument/2006/relationships/notesMaster" Target="notesMasters/notesMaster1.xml"/><Relationship Id="rId15" Type="http://schemas.openxmlformats.org/officeDocument/2006/relationships/theme" Target="theme/theme1.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create.png"/><Relationship Id="rId61" Type="http://schemas.openxmlformats.org/officeDocument/2006/relationships/hyperlink" Target="https://accounts.google.com/"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 Id="rId61" Type="http://schemas.openxmlformats.org/officeDocument/2006/relationships/hyperlink" Target="https://www.skills.google/" TargetMode="External"/></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filled.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acknowledge.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submit.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gmail_receipt.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econd_form.png"/><Relationship Id="rId60" Type="http://schemas.openxmlformats.org/officeDocument/2006/relationships/hyperlink" Target="https://forms.gle/kkvPUmsR8FRjVuf47"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whatsapp_submit.png"/></Relationships>
</file>

<file path=ppt/slides/_rels/slide30.xml.rels><?xml version="1.0" encoding="UTF-8" standalone="yes"?>
<Relationships xmlns="http://schemas.openxmlformats.org/package/2006/relationships"><Relationship Id="rId8" Type="http://schemas.openxmlformats.org/officeDocument/2006/relationships/hyperlink" Target="https://wa.me/919819616475" TargetMode="External"/><Relationship Id="rId3" Type="http://schemas.openxmlformats.org/officeDocument/2006/relationships/image" Target="../media/image23.png"/><Relationship Id="rId7" Type="http://schemas.openxmlformats.org/officeDocument/2006/relationships/hyperlink" Target="https://wa.me/918200801599" TargetMode="External"/><Relationship Id="rId1" Type="http://schemas.openxmlformats.org/officeDocument/2006/relationships/slideLayout" Target="../slideLayouts/slideLayout2.xml"/><Relationship Id="rId6" Type="http://schemas.openxmlformats.org/officeDocument/2006/relationships/hyperlink" Target="https://wa.me/917900046862" TargetMode="External"/><Relationship Id="rId5" Type="http://schemas.openxmlformats.org/officeDocument/2006/relationships/image" Target="../media/image25.png"/><Relationship Id="rId4" Type="http://schemas.openxmlformats.org/officeDocument/2006/relationships/image" Target="../media/image24.png"/></Relationships>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For anyone who missed the session: how to register for Skill Boost (now called Google Skills).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 xml:space="preserve">Go to </a:t>
            </a:r>
            <a:r>
              <a:rPr u="sng" lang="en-US" sz="1200" dirty="0">
                <a:solidFill>
                  <a:srgbClr val="1A73E8"/>
                </a:solidFill>
                <a:latin typeface="Google Sans" pitchFamily="34" charset="0"/>
                <a:ea typeface="Google Sans" pitchFamily="34" charset="-122"/>
                <a:cs typeface="Google Sans" pitchFamily="34" charset="-120"/>
                <a:hlinkClick r:id="rId61"/>
              </a:rPr>
              <a:t>accounts.google.com</a:t>
            </a:r>
            <a:r>
              <a:rPr lang="en-US" sz="1200" dirty="0">
                <a:solidFill>
                  <a:srgbClr val="3C4043"/>
                </a:solidFill>
                <a:latin typeface="Google Sans" pitchFamily="34" charset="0"/>
                <a:ea typeface="Google Sans" pitchFamily="34" charset="-122"/>
                <a:cs typeface="Google Sans" pitchFamily="34" charset="-120"/>
              </a:rPr>
              <a:t xml:space="preserve"> and choose Create account, then For my personal use.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in the first red box, then click Next.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pic>
        <p:nvPicPr>
          <p:cNvPr id="99" name="Google account creation" descr="Create a Google Account page with First name, Last name and Nex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8523094" y="2711186"/>
            <a:ext cx="2977996" cy="1222438"/>
          </a:xfrm>
          <a:prstGeom prst="rect">
            <a:avLst/>
          </a:prstGeom>
          <a:noFill/>
          <a:ln w="19050">
            <a:solidFill>
              <a:srgbClr val="EA4335"/>
            </a:solidFill>
          </a:ln>
        </p:spPr>
        <p:txBody>
          <a:bodyPr/>
          <a:lstStyle/>
          <a:p>
            <a:endParaRPr lang="en-US"/>
          </a:p>
        </p:txBody>
      </p:sp>
      <p:sp>
        <p:nvSpPr>
          <p:cNvPr id="101" name="Highlight box 2"/>
          <p:cNvSpPr/>
          <p:nvPr/>
        </p:nvSpPr>
        <p:spPr>
          <a:xfrm>
            <a:off x="10811770" y="4286774"/>
            <a:ext cx="668946" cy="366732"/>
          </a:xfrm>
          <a:prstGeom prst="rect">
            <a:avLst/>
          </a:prstGeom>
          <a:noFill/>
          <a:ln w="19050">
            <a:solidFill>
              <a:srgbClr val="EA4335"/>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 xml:space="preserve">Open </a:t>
            </a:r>
            <a:r>
              <a:rPr u="sng" lang="en-US" sz="1200" dirty="0">
                <a:solidFill>
                  <a:srgbClr val="1A73E8"/>
                </a:solidFill>
                <a:latin typeface="Google Sans" pitchFamily="34" charset="0"/>
                <a:ea typeface="Google Sans" pitchFamily="34" charset="-122"/>
                <a:cs typeface="Google Sans" pitchFamily="34" charset="-120"/>
                <a:hlinkClick r:id="rId61"/>
              </a:rPr>
              <a:t>skills.google</a:t>
            </a:r>
            <a:r>
              <a:rPr lang="en-US" sz="1200" dirty="0">
                <a:solidFill>
                  <a:srgbClr val="3C4043"/>
                </a:solidFill>
                <a:latin typeface="Google Sans" pitchFamily="34" charset="0"/>
                <a:ea typeface="Google Sans" pitchFamily="34" charset="-122"/>
                <a:cs typeface="Google Sans" pitchFamily="34" charset="-120"/>
              </a:rPr>
              <a:t xml:space="preserve"> (Google Skills, formerly Cloud Skills Boost) in your browser.</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215854" y="2035450"/>
            <a:ext cx="342962" cy="237696"/>
          </a:xfrm>
          <a:prstGeom prst="rect">
            <a:avLst/>
          </a:prstGeom>
          <a:noFill/>
          <a:ln w="19050">
            <a:solidFill>
              <a:srgbClr val="EA4335"/>
            </a:solidFill>
          </a:ln>
        </p:spPr>
        <p:txBody>
          <a:bodyPr/>
          <a:lstStyle/>
          <a:p>
            <a:endParaRPr lang="en-US"/>
          </a:p>
        </p:txBody>
      </p:sp>
      <p:cxnSp>
        <p:nvCxnSpPr>
          <p:cNvPr id="110" name="Arrow 1"/>
          <p:cNvCxnSpPr/>
          <p:nvPr/>
        </p:nvCxnSpPr>
        <p:spPr>
          <a:xfrm>
            <a:off x="11385637" y="1486810"/>
            <a:ext cx="0" cy="521208"/>
          </a:xfrm>
          <a:prstGeom prst="line">
            <a:avLst/>
          </a:prstGeom>
          <a:ln w="28575">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324515" y="2025263"/>
            <a:ext cx="234301" cy="234301"/>
          </a:xfrm>
          <a:prstGeom prst="rect">
            <a:avLst/>
          </a:prstGeom>
          <a:noFill/>
          <a:ln w="19050">
            <a:solidFill>
              <a:srgbClr val="EA4335"/>
            </a:solidFill>
          </a:ln>
        </p:spPr>
        <p:txBody>
          <a:bodyPr/>
          <a:lstStyle/>
          <a:p>
            <a:endParaRPr lang="en-US"/>
          </a:p>
        </p:txBody>
      </p:sp>
      <p:cxnSp>
        <p:nvCxnSpPr>
          <p:cNvPr id="110" name="Arrow 1"/>
          <p:cNvCxnSpPr/>
          <p:nvPr/>
        </p:nvCxnSpPr>
        <p:spPr>
          <a:xfrm>
            <a:off x="9590789" y="3566893"/>
            <a:ext cx="521208" cy="0"/>
          </a:xfrm>
          <a:prstGeom prst="line">
            <a:avLst/>
          </a:prstGeom>
          <a:ln w="28575">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scroll down to the Public visibility section so Google can verify your badges.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Scroll down to Public visibility, then tick the checkbox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87516" y="2832608"/>
            <a:ext cx="1068832" cy="211328"/>
          </a:xfrm>
          <a:prstGeom prst="rect">
            <a:avLst/>
          </a:prstGeom>
          <a:noFill/>
          <a:ln w="19050">
            <a:solidFill>
              <a:srgbClr val="EA4335"/>
            </a:solidFill>
          </a:ln>
        </p:spPr>
        <p:txBody>
          <a:bodyPr/>
          <a:lstStyle/>
          <a:p>
            <a:endParaRPr lang="en-US"/>
          </a:p>
        </p:txBody>
      </p:sp>
      <p:sp>
        <p:nvSpPr>
          <p:cNvPr id="101" name="Highlight box 2"/>
          <p:cNvSpPr/>
          <p:nvPr/>
        </p:nvSpPr>
        <p:spPr>
          <a:xfrm>
            <a:off x="6287516" y="5376672"/>
            <a:ext cx="865632" cy="345440"/>
          </a:xfrm>
          <a:prstGeom prst="rect">
            <a:avLst/>
          </a:prstGeom>
          <a:noFill/>
          <a:ln w="19050">
            <a:solidFill>
              <a:srgbClr val="EA4335"/>
            </a:solidFill>
          </a:ln>
        </p:spPr>
        <p:txBody>
          <a:bodyPr/>
          <a:lstStyle/>
          <a:p>
            <a:endParaRPr lang="en-US"/>
          </a:p>
        </p:txBody>
      </p:sp>
      <p:cxnSp>
        <p:nvCxnSpPr>
          <p:cNvPr id="110" name="Arrow 1"/>
          <p:cNvCxnSpPr/>
          <p:nvPr/>
        </p:nvCxnSpPr>
        <p:spPr>
          <a:xfrm>
            <a:off x="7380732" y="2934208"/>
            <a:ext cx="731520" cy="0"/>
          </a:xfrm>
          <a:prstGeom prst="line">
            <a:avLst/>
          </a:prstGeom>
          <a:ln w="28575">
            <a:solidFill>
              <a:srgbClr val="EA4335"/>
            </a:solidFill>
            <a:headEnd type="triangle" w="med" len="med"/>
          </a:ln>
        </p:spPr>
      </p:cxnSp>
      <p:sp>
        <p:nvSpPr>
          <p:cNvPr id="111" name="Mark this box label"/>
          <p:cNvSpPr txBox="1"/>
          <p:nvPr/>
        </p:nvSpPr>
        <p:spPr>
          <a:xfrm>
            <a:off x="8185404" y="2778760"/>
            <a:ext cx="1463040" cy="310896"/>
          </a:xfrm>
          <a:prstGeom prst="rect">
            <a:avLst/>
          </a:prstGeom>
          <a:noFill/>
        </p:spPr>
        <p:txBody>
          <a:bodyPr wrap="none" lIns="0" tIns="0" rIns="0" bIns="0" anchor="ctr"/>
          <a:lstStyle/>
          <a:p>
            <a:r>
              <a:rPr lang="en-US" sz="1400" b="1" dirty="0">
                <a:solidFill>
                  <a:srgbClr val="EA4335"/>
                </a:solidFill>
              </a:rPr>
              <a:t>Mark this box</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95644" y="3503168"/>
            <a:ext cx="3364992" cy="373888"/>
          </a:xfrm>
          <a:prstGeom prst="rect">
            <a:avLst/>
          </a:prstGeom>
          <a:noFill/>
          <a:ln w="190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in your browser.</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rcRect l="16667" t="1852" r="16667" b="0"/>
          <a:stretch>
            <a:fillRect/>
          </a:stretch>
        </p:blipFill>
        <p:spPr>
          <a:xfrm>
            <a:off x="5951278" y="2011680"/>
            <a:ext cx="4858397" cy="4023360"/>
          </a:xfrm>
          <a:prstGeom prst="roundRect">
            <a:avLst>
              <a:gd name="adj" fmla="val 2000"/>
            </a:avLst>
          </a:prstGeom>
          <a:ln w="12700">
            <a:solidFill>
              <a:srgbClr val="DADCE0"/>
            </a:solidFill>
          </a:ln>
        </p:spPr>
      </p:pic>
      <p:sp>
        <p:nvSpPr>
          <p:cNvPr id="100" name="Highlight box 1"/>
          <p:cNvSpPr/>
          <p:nvPr/>
        </p:nvSpPr>
        <p:spPr>
          <a:xfrm>
            <a:off x="6091716" y="3499564"/>
            <a:ext cx="4520587" cy="952701"/>
          </a:xfrm>
          <a:prstGeom prst="rect">
            <a:avLst/>
          </a:prstGeom>
          <a:noFill/>
          <a:ln w="190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078220" y="4836973"/>
            <a:ext cx="2338019" cy="317398"/>
          </a:xfrm>
          <a:prstGeom prst="rect">
            <a:avLst/>
          </a:prstGeom>
          <a:noFill/>
          <a:ln w="19050">
            <a:solidFill>
              <a:srgbClr val="EA4335"/>
            </a:solidFill>
          </a:ln>
        </p:spPr>
        <p:txBody>
          <a:bodyPr/>
          <a:lstStyle/>
          <a:p>
            <a:endParaRPr lang="en-US"/>
          </a:p>
        </p:txBody>
      </p:sp>
      <p:sp>
        <p:nvSpPr>
          <p:cNvPr id="101" name="Highlight box 2"/>
          <p:cNvSpPr/>
          <p:nvPr/>
        </p:nvSpPr>
        <p:spPr>
          <a:xfrm>
            <a:off x="5890463" y="5431536"/>
            <a:ext cx="688442" cy="348691"/>
          </a:xfrm>
          <a:prstGeom prst="rect">
            <a:avLst/>
          </a:prstGeom>
          <a:noFill/>
          <a:ln w="190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346444" y="4738624"/>
            <a:ext cx="1332179" cy="326339"/>
          </a:xfrm>
          <a:prstGeom prst="rect">
            <a:avLst/>
          </a:prstGeom>
          <a:noFill/>
          <a:ln w="190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t="11111" r="20833" b="18519"/>
          <a:stretch>
            <a:fillRect/>
          </a:stretch>
        </p:blipFill>
        <p:spPr>
          <a:xfrm>
            <a:off x="5415895" y="2011680"/>
            <a:ext cx="5929162" cy="4023360"/>
          </a:xfrm>
          <a:prstGeom prst="roundRect">
            <a:avLst>
              <a:gd name="adj" fmla="val 2000"/>
            </a:avLst>
          </a:prstGeom>
          <a:ln w="12700">
            <a:solidFill>
              <a:srgbClr val="DADCE0"/>
            </a:solidFill>
          </a:ln>
        </p:spPr>
      </p:pic>
      <p:sp>
        <p:nvSpPr>
          <p:cNvPr id="100" name="Highlight box 1"/>
          <p:cNvSpPr/>
          <p:nvPr/>
        </p:nvSpPr>
        <p:spPr>
          <a:xfrm>
            <a:off x="6051162" y="2594008"/>
            <a:ext cx="2371665" cy="307046"/>
          </a:xfrm>
          <a:prstGeom prst="rect">
            <a:avLst/>
          </a:prstGeom>
          <a:noFill/>
          <a:ln w="19050">
            <a:solidFill>
              <a:srgbClr val="EA4335"/>
            </a:solidFill>
          </a:ln>
        </p:spPr>
        <p:txBody>
          <a:bodyPr/>
          <a:lstStyle/>
          <a:p>
            <a:endParaRPr lang="en-US"/>
          </a:p>
        </p:txBody>
      </p:sp>
      <p:sp>
        <p:nvSpPr>
          <p:cNvPr id="101" name="Highlight box 2"/>
          <p:cNvSpPr/>
          <p:nvPr/>
        </p:nvSpPr>
        <p:spPr>
          <a:xfrm>
            <a:off x="6051162" y="3711020"/>
            <a:ext cx="1932272" cy="460569"/>
          </a:xfrm>
          <a:prstGeom prst="rect">
            <a:avLst/>
          </a:prstGeom>
          <a:noFill/>
          <a:ln w="19050">
            <a:solidFill>
              <a:srgbClr val="EA4335"/>
            </a:solidFill>
          </a:ln>
        </p:spPr>
        <p:txBody>
          <a:bodyPr/>
          <a:lstStyle/>
          <a:p>
            <a:endParaRPr lang="en-US"/>
          </a:p>
        </p:txBody>
      </p:sp>
      <p:sp>
        <p:nvSpPr>
          <p:cNvPr id="102" name="Highlight box 3"/>
          <p:cNvSpPr/>
          <p:nvPr/>
        </p:nvSpPr>
        <p:spPr>
          <a:xfrm>
            <a:off x="6051162" y="4965673"/>
            <a:ext cx="2218142" cy="460569"/>
          </a:xfrm>
          <a:prstGeom prst="rect">
            <a:avLst/>
          </a:prstGeom>
          <a:noFill/>
          <a:ln w="190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the first option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GDG on Campus Organizer,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t="0" r="20833" b="40741"/>
          <a:stretch>
            <a:fillRect/>
          </a:stretch>
        </p:blipFill>
        <p:spPr>
          <a:xfrm>
            <a:off x="5120640" y="2011680"/>
            <a:ext cx="6519672" cy="3725527"/>
          </a:xfrm>
          <a:prstGeom prst="roundRect">
            <a:avLst>
              <a:gd name="adj" fmla="val 2000"/>
            </a:avLst>
          </a:prstGeom>
          <a:ln w="12700">
            <a:solidFill>
              <a:srgbClr val="DADCE0"/>
            </a:solidFill>
          </a:ln>
        </p:spPr>
      </p:pic>
      <p:sp>
        <p:nvSpPr>
          <p:cNvPr id="100" name="Highlight box 1"/>
          <p:cNvSpPr/>
          <p:nvPr/>
        </p:nvSpPr>
        <p:spPr>
          <a:xfrm>
            <a:off x="5824997" y="3676525"/>
            <a:ext cx="2194568" cy="488975"/>
          </a:xfrm>
          <a:prstGeom prst="rect">
            <a:avLst/>
          </a:prstGeom>
          <a:noFill/>
          <a:ln w="19050">
            <a:solidFill>
              <a:srgbClr val="EA4335"/>
            </a:solidFill>
          </a:ln>
        </p:spPr>
        <p:txBody>
          <a:bodyPr/>
          <a:lstStyle/>
          <a:p>
            <a:endParaRPr lang="en-US"/>
          </a:p>
        </p:txBody>
      </p:sp>
      <p:cxnSp>
        <p:nvCxnSpPr>
          <p:cNvPr id="110" name="Arrow 1"/>
          <p:cNvCxnSpPr/>
          <p:nvPr/>
        </p:nvCxnSpPr>
        <p:spPr>
          <a:xfrm>
            <a:off x="8054492" y="3921013"/>
            <a:ext cx="731520" cy="0"/>
          </a:xfrm>
          <a:prstGeom prst="line">
            <a:avLst/>
          </a:prstGeom>
          <a:ln w="28575">
            <a:solidFill>
              <a:srgbClr val="EA4335"/>
            </a:solidFill>
            <a:headEnd type="triangle" w="med" len="med"/>
          </a:ln>
        </p:spPr>
      </p:cxnSp>
      <p:sp>
        <p:nvSpPr>
          <p:cNvPr id="111" name="Important label"/>
          <p:cNvSpPr txBox="1"/>
          <p:nvPr/>
        </p:nvSpPr>
        <p:spPr>
          <a:xfrm>
            <a:off x="8859164" y="3765565"/>
            <a:ext cx="1188720" cy="310896"/>
          </a:xfrm>
          <a:prstGeom prst="rect">
            <a:avLst/>
          </a:prstGeom>
          <a:noFill/>
        </p:spPr>
        <p:txBody>
          <a:bodyPr wrap="none" lIns="0" tIns="0" rIns="0" bIns="0" anchor="ctr"/>
          <a:lstStyle/>
          <a:p>
            <a:r>
              <a:rPr lang="en-US" sz="1400" b="1" dirty="0">
                <a:solidFill>
                  <a:srgbClr val="EA4335"/>
                </a:solidFill>
              </a:rPr>
              <a:t>Important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the answer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 xml:space="preserve">Type </a:t>
            </a:r>
            <a:r>
              <a:rPr lang="en-US" sz="1600" b="1" dirty="0">
                <a:solidFill>
                  <a:srgbClr val="D93025"/>
                </a:solidFill>
                <a:latin typeface="Google Sans" pitchFamily="34" charset="0"/>
                <a:ea typeface="Google Sans" pitchFamily="34" charset="-122"/>
                <a:cs typeface="Google Sans" pitchFamily="34" charset="-120"/>
              </a:rPr>
              <a:t>GDGC-APSIT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 xml:space="preserve">Type </a:t>
            </a:r>
            <a:r>
              <a:rPr b="1" lang="en-US" sz="1200" dirty="0">
                <a:solidFill>
                  <a:srgbClr val="D93025"/>
                </a:solidFill>
                <a:latin typeface="Google Sans" pitchFamily="34" charset="0"/>
                <a:ea typeface="Google Sans" pitchFamily="34" charset="-122"/>
                <a:cs typeface="Google Sans" pitchFamily="34" charset="-120"/>
              </a:rPr>
              <a:t>GDGC-APSIT</a:t>
            </a:r>
            <a:r>
              <a:rPr lang="en-US" sz="1200" dirty="0">
                <a:solidFill>
                  <a:srgbClr val="3C4043"/>
                </a:solidFill>
                <a:latin typeface="Google Sans" pitchFamily="34" charset="0"/>
                <a:ea typeface="Google Sans" pitchFamily="34" charset="-122"/>
                <a:cs typeface="Google Sans" pitchFamily="34" charset="-120"/>
              </a:rPr>
              <a:t xml:space="preserve"> exactly, in capitals with the hyphen, or you will not be credited.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t="30556" r="20833" b="1852"/>
          <a:stretch>
            <a:fillRect/>
          </a:stretch>
        </p:blipFill>
        <p:spPr>
          <a:xfrm>
            <a:off x="5294063" y="2011680"/>
            <a:ext cx="6172826" cy="4023360"/>
          </a:xfrm>
          <a:prstGeom prst="roundRect">
            <a:avLst>
              <a:gd name="adj" fmla="val 2000"/>
            </a:avLst>
          </a:prstGeom>
          <a:ln w="12700">
            <a:solidFill>
              <a:srgbClr val="DADCE0"/>
            </a:solidFill>
          </a:ln>
        </p:spPr>
      </p:pic>
      <p:sp>
        <p:nvSpPr>
          <p:cNvPr id="100" name="Highlight box 1"/>
          <p:cNvSpPr/>
          <p:nvPr/>
        </p:nvSpPr>
        <p:spPr>
          <a:xfrm>
            <a:off x="5955437" y="3169085"/>
            <a:ext cx="2469131" cy="308641"/>
          </a:xfrm>
          <a:prstGeom prst="rect">
            <a:avLst/>
          </a:prstGeom>
          <a:noFill/>
          <a:ln w="19050">
            <a:solidFill>
              <a:srgbClr val="EA4335"/>
            </a:solidFill>
          </a:ln>
        </p:spPr>
        <p:txBody>
          <a:bodyPr/>
          <a:lstStyle/>
          <a:p>
            <a:endParaRPr lang="en-US"/>
          </a:p>
        </p:txBody>
      </p:sp>
      <p:sp>
        <p:nvSpPr>
          <p:cNvPr id="101" name="Highlight box 2"/>
          <p:cNvSpPr/>
          <p:nvPr/>
        </p:nvSpPr>
        <p:spPr>
          <a:xfrm>
            <a:off x="5955437" y="4530414"/>
            <a:ext cx="551145" cy="259038"/>
          </a:xfrm>
          <a:prstGeom prst="rect">
            <a:avLst/>
          </a:prstGeom>
          <a:noFill/>
          <a:ln w="19050">
            <a:solidFill>
              <a:srgbClr val="EA4335"/>
            </a:solidFill>
          </a:ln>
        </p:spPr>
        <p:txBody>
          <a:bodyPr/>
          <a:lstStyle/>
          <a:p>
            <a:endParaRPr lang="en-US"/>
          </a:p>
        </p:txBody>
      </p:sp>
      <p:sp>
        <p:nvSpPr>
          <p:cNvPr id="102" name="Highlight box 3"/>
          <p:cNvSpPr/>
          <p:nvPr/>
        </p:nvSpPr>
        <p:spPr>
          <a:xfrm>
            <a:off x="6528628" y="5401223"/>
            <a:ext cx="738535" cy="374779"/>
          </a:xfrm>
          <a:prstGeom prst="rect">
            <a:avLst/>
          </a:prstGeom>
          <a:noFill/>
          <a:ln w="19050">
            <a:solidFill>
              <a:srgbClr val="EA4335"/>
            </a:solidFill>
          </a:ln>
        </p:spPr>
        <p:txBody>
          <a:bodyPr/>
          <a:lstStyle/>
          <a:p>
            <a:endParaRPr lang="en-US"/>
          </a:p>
        </p:txBody>
      </p:sp>
      <p:cxnSp>
        <p:nvCxnSpPr>
          <p:cNvPr id="110" name="Arrow 1"/>
          <p:cNvCxnSpPr/>
          <p:nvPr/>
        </p:nvCxnSpPr>
        <p:spPr>
          <a:xfrm>
            <a:off x="8457636" y="3323406"/>
            <a:ext cx="731520" cy="0"/>
          </a:xfrm>
          <a:prstGeom prst="line">
            <a:avLst/>
          </a:prstGeom>
          <a:ln w="28575">
            <a:solidFill>
              <a:srgbClr val="EA4335"/>
            </a:solidFill>
            <a:headEnd type="triangle" w="med" len="med"/>
          </a:ln>
        </p:spPr>
      </p:cxnSp>
      <p:sp>
        <p:nvSpPr>
          <p:cNvPr id="111" name="Important label"/>
          <p:cNvSpPr txBox="1"/>
          <p:nvPr/>
        </p:nvSpPr>
        <p:spPr>
          <a:xfrm>
            <a:off x="9262308" y="3167958"/>
            <a:ext cx="1188720" cy="310896"/>
          </a:xfrm>
          <a:prstGeom prst="rect">
            <a:avLst/>
          </a:prstGeom>
          <a:noFill/>
        </p:spPr>
        <p:txBody>
          <a:bodyPr wrap="none" lIns="0" tIns="0" rIns="0" bIns="0" anchor="ctr"/>
          <a:lstStyle/>
          <a:p>
            <a:r>
              <a:rPr lang="en-US" sz="1400" b="1" dirty="0">
                <a:solidFill>
                  <a:srgbClr val="EA4335"/>
                </a:solidFill>
              </a:rPr>
              <a:t>Important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t="23148" r="20833" b="16667"/>
          <a:stretch>
            <a:fillRect/>
          </a:stretch>
        </p:blipFill>
        <p:spPr>
          <a:xfrm>
            <a:off x="5120640" y="2011680"/>
            <a:ext cx="6519672" cy="3783738"/>
          </a:xfrm>
          <a:prstGeom prst="roundRect">
            <a:avLst>
              <a:gd name="adj" fmla="val 2000"/>
            </a:avLst>
          </a:prstGeom>
          <a:ln w="12700">
            <a:solidFill>
              <a:srgbClr val="DADCE0"/>
            </a:solidFill>
          </a:ln>
        </p:spPr>
      </p:pic>
      <p:sp>
        <p:nvSpPr>
          <p:cNvPr id="100" name="Highlight box 1"/>
          <p:cNvSpPr/>
          <p:nvPr/>
        </p:nvSpPr>
        <p:spPr>
          <a:xfrm>
            <a:off x="5819176" y="2826639"/>
            <a:ext cx="745105" cy="279415"/>
          </a:xfrm>
          <a:prstGeom prst="rect">
            <a:avLst/>
          </a:prstGeom>
          <a:noFill/>
          <a:ln w="19050">
            <a:solidFill>
              <a:srgbClr val="EA4335"/>
            </a:solidFill>
          </a:ln>
        </p:spPr>
        <p:txBody>
          <a:bodyPr/>
          <a:lstStyle/>
          <a:p>
            <a:endParaRPr lang="en-US"/>
          </a:p>
        </p:txBody>
      </p:sp>
      <p:sp>
        <p:nvSpPr>
          <p:cNvPr id="101" name="Highlight box 2"/>
          <p:cNvSpPr/>
          <p:nvPr/>
        </p:nvSpPr>
        <p:spPr>
          <a:xfrm>
            <a:off x="5819176" y="4689402"/>
            <a:ext cx="2607869" cy="291057"/>
          </a:xfrm>
          <a:prstGeom prst="rect">
            <a:avLst/>
          </a:prstGeom>
          <a:noFill/>
          <a:ln w="19050">
            <a:solidFill>
              <a:srgbClr val="EA4335"/>
            </a:solidFill>
          </a:ln>
        </p:spPr>
        <p:txBody>
          <a:bodyPr/>
          <a:lstStyle/>
          <a:p>
            <a:endParaRPr lang="en-US"/>
          </a:p>
        </p:txBody>
      </p:sp>
      <p:sp>
        <p:nvSpPr>
          <p:cNvPr id="102" name="Highlight box 3"/>
          <p:cNvSpPr/>
          <p:nvPr/>
        </p:nvSpPr>
        <p:spPr>
          <a:xfrm>
            <a:off x="6424574" y="5265695"/>
            <a:ext cx="780032" cy="401658"/>
          </a:xfrm>
          <a:prstGeom prst="rect">
            <a:avLst/>
          </a:prstGeom>
          <a:noFill/>
          <a:ln w="190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5500116" y="2011680"/>
            <a:ext cx="5760720" cy="1508760"/>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5500116" y="3749040"/>
            <a:ext cx="5760720" cy="2509621"/>
          </a:xfrm>
          <a:prstGeom prst="roundRect">
            <a:avLst>
              <a:gd name="adj" fmla="val 4000"/>
            </a:avLst>
          </a:prstGeom>
          <a:ln w="12700">
            <a:solidFill>
              <a:srgbClr val="DADCE0"/>
            </a:solidFill>
          </a:ln>
        </p:spPr>
      </p:pic>
      <p:sp>
        <p:nvSpPr>
          <p:cNvPr id="100" name="Highlight box 1"/>
          <p:cNvSpPr/>
          <p:nvPr/>
        </p:nvSpPr>
        <p:spPr>
          <a:xfrm>
            <a:off x="5568696" y="2594610"/>
            <a:ext cx="5568696" cy="521208"/>
          </a:xfrm>
          <a:prstGeom prst="rect">
            <a:avLst/>
          </a:prstGeom>
          <a:noFill/>
          <a:ln w="19050">
            <a:solidFill>
              <a:srgbClr val="EA4335"/>
            </a:solidFill>
          </a:ln>
        </p:spPr>
        <p:txBody>
          <a:bodyPr/>
          <a:lstStyle/>
          <a:p>
            <a:endParaRPr lang="en-US"/>
          </a:p>
        </p:txBody>
      </p:sp>
      <p:sp>
        <p:nvSpPr>
          <p:cNvPr id="101" name="Highlight box 2"/>
          <p:cNvSpPr/>
          <p:nvPr/>
        </p:nvSpPr>
        <p:spPr>
          <a:xfrm>
            <a:off x="5688338" y="5711107"/>
            <a:ext cx="2726361" cy="250962"/>
          </a:xfrm>
          <a:prstGeom prst="rect">
            <a:avLst/>
          </a:prstGeom>
          <a:noFill/>
          <a:ln w="190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Pages 7 to 12 need no input: just click Next until you reach page 13.</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first red box: the information you gave is true and correct.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second red box: you agree to finish the Learning Pathway on time.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pic>
        <p:nvPicPr>
          <p:cNvPr id="99" name="Acknowledge page" descr="Enrolment form last page with I Acknowledge and Yes, I Agree options"/>
          <p:cNvPicPr>
            <a:picLocks noChangeAspect="1"/>
          </p:cNvPicPr>
          <p:nvPr/>
        </p:nvPicPr>
        <p:blipFill>
          <a:blip r:embed="rId50"/>
          <a:srcRect l="20833" t="29630" r="20833" b="14815"/>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6040379" y="3129338"/>
            <a:ext cx="1117658" cy="267772"/>
          </a:xfrm>
          <a:prstGeom prst="rect">
            <a:avLst/>
          </a:prstGeom>
          <a:noFill/>
          <a:ln w="19050">
            <a:solidFill>
              <a:srgbClr val="EA4335"/>
            </a:solidFill>
          </a:ln>
        </p:spPr>
        <p:txBody>
          <a:bodyPr/>
          <a:lstStyle/>
          <a:p>
            <a:endParaRPr lang="en-US"/>
          </a:p>
        </p:txBody>
      </p:sp>
      <p:sp>
        <p:nvSpPr>
          <p:cNvPr id="101" name="Highlight box 2"/>
          <p:cNvSpPr/>
          <p:nvPr/>
        </p:nvSpPr>
        <p:spPr>
          <a:xfrm>
            <a:off x="6040379" y="4689402"/>
            <a:ext cx="954666" cy="279415"/>
          </a:xfrm>
          <a:prstGeom prst="rect">
            <a:avLst/>
          </a:prstGeom>
          <a:noFill/>
          <a:ln w="19050">
            <a:solidFill>
              <a:srgbClr val="EA4335"/>
            </a:solidFill>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 rejected. Submit only once: if you fill it again, earlier entries are deleted.</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(last red box) once all answers are correct. A copy is emailed to you.</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pic>
        <p:nvPicPr>
          <p:cNvPr id="99" name="Submit page" descr="Enrolment form last page with Points to Note and the Submit button"/>
          <p:cNvPicPr>
            <a:picLocks noChangeAspect="1"/>
          </p:cNvPicPr>
          <p:nvPr/>
        </p:nvPicPr>
        <p:blipFill>
          <a:blip r:embed="rId50"/>
          <a:srcRect l="20833" t="12037" r="20833" b="21296"/>
          <a:stretch>
            <a:fillRect/>
          </a:stretch>
        </p:blipFill>
        <p:spPr>
          <a:xfrm>
            <a:off x="5251196" y="2011680"/>
            <a:ext cx="6258560" cy="4023360"/>
          </a:xfrm>
          <a:prstGeom prst="roundRect">
            <a:avLst>
              <a:gd name="adj" fmla="val 2000"/>
            </a:avLst>
          </a:prstGeom>
          <a:ln w="12700">
            <a:solidFill>
              <a:srgbClr val="DADCE0"/>
            </a:solidFill>
          </a:ln>
        </p:spPr>
      </p:pic>
      <p:sp>
        <p:nvSpPr>
          <p:cNvPr id="100" name="Highlight box 1"/>
          <p:cNvSpPr/>
          <p:nvPr/>
        </p:nvSpPr>
        <p:spPr>
          <a:xfrm>
            <a:off x="6346444" y="2682240"/>
            <a:ext cx="4269232" cy="307340"/>
          </a:xfrm>
          <a:prstGeom prst="rect">
            <a:avLst/>
          </a:prstGeom>
          <a:noFill/>
          <a:ln w="19050">
            <a:solidFill>
              <a:srgbClr val="EA4335"/>
            </a:solidFill>
          </a:ln>
        </p:spPr>
        <p:txBody>
          <a:bodyPr/>
          <a:lstStyle/>
          <a:p>
            <a:endParaRPr lang="en-US"/>
          </a:p>
        </p:txBody>
      </p:sp>
      <p:sp>
        <p:nvSpPr>
          <p:cNvPr id="101" name="Highlight box 2"/>
          <p:cNvSpPr/>
          <p:nvPr/>
        </p:nvSpPr>
        <p:spPr>
          <a:xfrm>
            <a:off x="6346444" y="3017520"/>
            <a:ext cx="4269232" cy="648208"/>
          </a:xfrm>
          <a:prstGeom prst="rect">
            <a:avLst/>
          </a:prstGeom>
          <a:noFill/>
          <a:ln w="19050">
            <a:solidFill>
              <a:srgbClr val="EA4335"/>
            </a:solidFill>
          </a:ln>
        </p:spPr>
        <p:txBody>
          <a:bodyPr/>
          <a:lstStyle/>
          <a:p>
            <a:endParaRPr lang="en-US"/>
          </a:p>
        </p:txBody>
      </p:sp>
      <p:sp>
        <p:nvSpPr>
          <p:cNvPr id="102" name="Highlight box 3"/>
          <p:cNvSpPr/>
          <p:nvPr/>
        </p:nvSpPr>
        <p:spPr>
          <a:xfrm>
            <a:off x="6698488" y="5588000"/>
            <a:ext cx="754380" cy="312928"/>
          </a:xfrm>
          <a:prstGeom prst="rect">
            <a:avLst/>
          </a:prstGeom>
          <a:noFill/>
          <a:ln w="19050">
            <a:solidFill>
              <a:srgbClr val="EA4335"/>
            </a:solidFill>
          </a:ln>
        </p:spPr>
        <p:txBody>
          <a:bodyPr/>
          <a:lstStyle/>
          <a:p>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Part 1 </a:t>
            </a:r>
            <a:r>
              <a:rPr lang="en-US" sz="6400" b="1" i="0" dirty="0">
                <a:solidFill>
                  <a:srgbClr val="4285F4"/>
                </a:solidFill>
                <a:latin typeface="Google Sans" pitchFamily="34" charset="0"/>
                <a:ea typeface="Google Sans" pitchFamily="34" charset="-122"/>
                <a:cs typeface="Google Sans" pitchFamily="34" charset="-120"/>
              </a:rPr>
              <a:t>complete!</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Enrolment form submitted, </a:t>
            </a:r>
            <a:r>
              <a:rPr lang="en-US" sz="2200" b="1" dirty="0">
                <a:solidFill>
                  <a:srgbClr val="34A853"/>
                </a:solidFill>
                <a:latin typeface="Google Sans" pitchFamily="34" charset="0"/>
                <a:ea typeface="Google Sans" pitchFamily="34" charset="-122"/>
                <a:cs typeface="Google Sans" pitchFamily="34" charset="-120"/>
              </a:rPr>
              <a:t>now the second form</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Well done! Next, check your inbox for the form receipt, then fill in the second form to confirm your seat. You are not finished yet.</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Part 1 done</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Then form 2</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Not done yet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16: Check your confirmation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Your first form is done. Now look in your inbox.</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the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Look for Thanks for filling out this form from Forms Response Receipts.</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It confirms your enrolment form was received.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This is the next step, shown on the next slide. It is mandatory.</a:t>
            </a:r>
            <a:endParaRPr lang="en-US" sz="1200" dirty="0"/>
          </a:p>
        </p:txBody>
      </p:sp>
      <p:pic>
        <p:nvPicPr>
          <p:cNvPr id="99" name="Screenshot" descr="Gmail inbox with the Google Forms confirmation email"/>
          <p:cNvPicPr>
            <a:picLocks noChangeAspect="1"/>
          </p:cNvPicPr>
          <p:nvPr/>
        </p:nvPicPr>
        <p:blipFill>
          <a:blip r:embed="rId50"/>
          <a:srcRect l="17708" t="7870" r="3646" b="1852"/>
          <a:stretch>
            <a:fillRect/>
          </a:stretch>
        </p:blipFill>
        <p:spPr>
          <a:xfrm>
            <a:off x="5264951" y="2011680"/>
            <a:ext cx="6231050" cy="4023360"/>
          </a:xfrm>
          <a:prstGeom prst="roundRect">
            <a:avLst>
              <a:gd name="adj" fmla="val 2000"/>
            </a:avLst>
          </a:prstGeom>
          <a:ln w="12700">
            <a:solidFill>
              <a:srgbClr val="DADCE0"/>
            </a:solidFill>
          </a:ln>
        </p:spPr>
      </p:pic>
      <p:sp>
        <p:nvSpPr>
          <p:cNvPr id="100" name="Highlight box 1"/>
          <p:cNvSpPr/>
          <p:nvPr/>
        </p:nvSpPr>
        <p:spPr>
          <a:xfrm>
            <a:off x="5632212" y="2350055"/>
            <a:ext cx="5133395" cy="367261"/>
          </a:xfrm>
          <a:prstGeom prst="rect">
            <a:avLst/>
          </a:prstGeom>
          <a:noFill/>
          <a:ln w="19050">
            <a:solidFill>
              <a:srgbClr val="EA4335"/>
            </a:solidFill>
          </a:ln>
        </p:spPr>
        <p:txBody>
          <a:bodyPr/>
          <a:lstStyle/>
          <a:p>
            <a:endParaRPr lang="en-US"/>
          </a:p>
        </p:txBody>
      </p:sp>
      <p:sp>
        <p:nvSpPr>
          <p:cNvPr id="101" name="Highlight box 2"/>
          <p:cNvSpPr/>
          <p:nvPr/>
        </p:nvSpPr>
        <p:spPr>
          <a:xfrm>
            <a:off x="5632212" y="2775087"/>
            <a:ext cx="2232449" cy="173314"/>
          </a:xfrm>
          <a:prstGeom prst="rect">
            <a:avLst/>
          </a:prstGeom>
          <a:noFill/>
          <a:ln w="19050">
            <a:solidFill>
              <a:srgbClr val="EA4335"/>
            </a:solid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17: Open the second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This step is mandatory to confirm your seat for the Main event.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a:t>
            </a:r>
            <a:r>
              <a:rPr u="sng" lang="en-US" sz="1200" dirty="0">
                <a:solidFill>
                  <a:srgbClr val="1A73E8"/>
                </a:solidFill>
                <a:latin typeface="Google Sans" pitchFamily="34" charset="0"/>
                <a:ea typeface="Google Sans" pitchFamily="34" charset="-122"/>
                <a:cs typeface="Google Sans" pitchFamily="34" charset="-120"/>
                <a:hlinkClick r:id="rId60"/>
              </a:rPr>
              <a:t>forms.gle/kkvPUmsR8FRjVuf47</a:t>
            </a:r>
            <a:r>
              <a:rPr lang="en-US" sz="1200" dirty="0">
                <a:solidFill>
                  <a:srgbClr val="3C4043"/>
                </a:solidFill>
                <a:latin typeface="Google Sans" pitchFamily="34" charset="0"/>
                <a:ea typeface="Google Sans" pitchFamily="34" charset="-122"/>
                <a:cs typeface="Google Sans" pitchFamily="34" charset="-120"/>
              </a:rPr>
              <a:t> in your browser.</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the email box</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Keep the box ticked so your email is recorded with your response.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details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then fill in the questions below it.</a:t>
            </a:r>
            <a:endParaRPr lang="en-US" sz="1200" dirty="0"/>
          </a:p>
        </p:txBody>
      </p:sp>
      <p:pic>
        <p:nvPicPr>
          <p:cNvPr id="99" name="Screenshot" descr="Second form: Confirmation for Learn With Communities Campaign"/>
          <p:cNvPicPr>
            <a:picLocks noChangeAspect="1"/>
          </p:cNvPicPr>
          <p:nvPr/>
        </p:nvPicPr>
        <p:blipFill>
          <a:blip r:embed="rId50"/>
          <a:srcRect l="20833" t="23148" r="20833" b="7407"/>
          <a:stretch>
            <a:fillRect/>
          </a:stretch>
        </p:blipFill>
        <p:spPr>
          <a:xfrm>
            <a:off x="5376367" y="2011680"/>
            <a:ext cx="6008218" cy="4023360"/>
          </a:xfrm>
          <a:prstGeom prst="roundRect">
            <a:avLst>
              <a:gd name="adj" fmla="val 2000"/>
            </a:avLst>
          </a:prstGeom>
          <a:ln w="12700">
            <a:solidFill>
              <a:srgbClr val="DADCE0"/>
            </a:solidFill>
          </a:ln>
        </p:spPr>
      </p:pic>
      <p:sp>
        <p:nvSpPr>
          <p:cNvPr id="100" name="Highlight box 1"/>
          <p:cNvSpPr/>
          <p:nvPr/>
        </p:nvSpPr>
        <p:spPr>
          <a:xfrm>
            <a:off x="6223955" y="4500799"/>
            <a:ext cx="4130650" cy="386243"/>
          </a:xfrm>
          <a:prstGeom prst="rect">
            <a:avLst/>
          </a:prstGeom>
          <a:noFill/>
          <a:ln w="19050">
            <a:solidFill>
              <a:srgbClr val="EA4335"/>
            </a:solidFill>
          </a:ln>
        </p:spPr>
        <p:txBody>
          <a:bodyPr/>
          <a:lstStyle/>
          <a:p>
            <a:endParaRPr lang="en-US"/>
          </a:p>
        </p:txBody>
      </p:sp>
      <p:sp>
        <p:nvSpPr>
          <p:cNvPr id="101" name="Highlight box 2"/>
          <p:cNvSpPr/>
          <p:nvPr/>
        </p:nvSpPr>
        <p:spPr>
          <a:xfrm>
            <a:off x="6223955" y="5680984"/>
            <a:ext cx="2199437" cy="278953"/>
          </a:xfrm>
          <a:prstGeom prst="rect">
            <a:avLst/>
          </a:prstGeom>
          <a:noFill/>
          <a:ln w="19050">
            <a:solidFill>
              <a:srgbClr val="EA4335"/>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18: Join WhatsApp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last page of the second form confirms your seat.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WhatsApp group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Learn With Communities Whatsapp Group and join the group.</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the group</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The form asks you to join the event WhatsApp group to confirm your seat.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to finish the second form.</a:t>
            </a:r>
            <a:endParaRPr lang="en-US" sz="1200" dirty="0"/>
          </a:p>
        </p:txBody>
      </p:sp>
      <p:pic>
        <p:nvPicPr>
          <p:cNvPr id="99" name="Screenshot" descr="Second form last page with the WhatsApp group link and Submit"/>
          <p:cNvPicPr>
            <a:picLocks noChangeAspect="1"/>
          </p:cNvPicPr>
          <p:nvPr/>
        </p:nvPicPr>
        <p:blipFill>
          <a:blip r:embed="rId50"/>
          <a:srcRect l="20833" t="23148" r="20833" b="21296"/>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5987989" y="4555516"/>
            <a:ext cx="2235316" cy="250309"/>
          </a:xfrm>
          <a:prstGeom prst="rect">
            <a:avLst/>
          </a:prstGeom>
          <a:noFill/>
          <a:ln w="19050">
            <a:solidFill>
              <a:srgbClr val="EA4335"/>
            </a:solidFill>
          </a:ln>
        </p:spPr>
        <p:txBody>
          <a:bodyPr/>
          <a:lstStyle/>
          <a:p>
            <a:endParaRPr lang="en-US"/>
          </a:p>
        </p:txBody>
      </p:sp>
      <p:sp>
        <p:nvSpPr>
          <p:cNvPr id="101" name="Highlight box 2"/>
          <p:cNvSpPr/>
          <p:nvPr/>
        </p:nvSpPr>
        <p:spPr>
          <a:xfrm>
            <a:off x="6605030" y="5015386"/>
            <a:ext cx="832422" cy="372553"/>
          </a:xfrm>
          <a:prstGeom prst="rect">
            <a:avLst/>
          </a:prstGeom>
          <a:noFill/>
          <a:ln w="19050">
            <a:solidFill>
              <a:srgbClr val="EA4335"/>
            </a:solid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148839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Both parts are complete</a:t>
            </a:r>
            <a:endParaRPr lang="en-US" sz="1500" dirty="0"/>
          </a:p>
        </p:txBody>
      </p:sp>
      <p:sp>
        <p:nvSpPr>
          <p:cNvPr id="6" name="Text 1"/>
          <p:cNvSpPr>
            <a:spLocks noGrp="1"/>
          </p:cNvSpPr>
          <p:nvPr>
            <p:ph type="title"/>
          </p:nvPr>
        </p:nvSpPr>
        <p:spPr>
          <a:xfrm>
            <a:off x="812788" y="198361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Congratulations, you're done!</a:t>
            </a:r>
            <a:endParaRPr lang="en-US" sz="4400" dirty="0"/>
          </a:p>
        </p:txBody>
      </p:sp>
      <p:sp>
        <p:nvSpPr>
          <p:cNvPr id="7" name="Shape 2"/>
          <p:cNvSpPr/>
          <p:nvPr/>
        </p:nvSpPr>
        <p:spPr>
          <a:xfrm>
            <a:off x="813816" y="3566160"/>
            <a:ext cx="3017520" cy="1143000"/>
          </a:xfrm>
          <a:prstGeom prst="roundRect">
            <a:avLst>
              <a:gd name="adj" fmla="val 11416"/>
            </a:avLst>
          </a:prstGeom>
          <a:solidFill>
            <a:srgbClr val="FFFFFF"/>
          </a:solidFill>
          <a:ln/>
        </p:spPr>
        <p:txBody>
          <a:bodyPr/>
          <a:lstStyle/>
          <a:p>
            <a:endParaRPr/>
          </a:p>
        </p:txBody>
      </p:sp>
      <p:sp>
        <p:nvSpPr>
          <p:cNvPr id="8" name="Text 3"/>
          <p:cNvSpPr/>
          <p:nvPr/>
        </p:nvSpPr>
        <p:spPr>
          <a:xfrm>
            <a:off x="1014984" y="3749040"/>
            <a:ext cx="2651760" cy="274320"/>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Jamil Khan</a:t>
            </a:r>
            <a:endParaRPr lang="en-US" sz="1500" dirty="0"/>
          </a:p>
        </p:txBody>
      </p:sp>
      <p:sp>
        <p:nvSpPr>
          <p:cNvPr id="9" name="Text 4"/>
          <p:cNvSpPr/>
          <p:nvPr/>
        </p:nvSpPr>
        <p:spPr>
          <a:xfrm>
            <a:off x="1014984" y="4041648"/>
            <a:ext cx="2651760" cy="25603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+91 79000 46862</a:t>
            </a:r>
            <a:endParaRPr lang="en-US" sz="1200" dirty="0"/>
          </a:p>
        </p:txBody>
      </p:sp>
      <p:sp>
        <p:nvSpPr>
          <p:cNvPr id="10" name="Text 5"/>
          <p:cNvSpPr/>
          <p:nvPr/>
        </p:nvSpPr>
        <p:spPr>
          <a:xfrm>
            <a:off x="1014984" y="4315968"/>
            <a:ext cx="2651760" cy="25603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Message on WhatsApp</a:t>
            </a:r>
            <a:endParaRPr lang="en-US" sz="1200" dirty="0"/>
          </a:p>
        </p:txBody>
      </p:sp>
      <p:sp>
        <p:nvSpPr>
          <p:cNvPr id="11" name="Shape 6"/>
          <p:cNvSpPr/>
          <p:nvPr/>
        </p:nvSpPr>
        <p:spPr>
          <a:xfrm>
            <a:off x="4014216" y="3566160"/>
            <a:ext cx="3017520" cy="1143000"/>
          </a:xfrm>
          <a:prstGeom prst="roundRect">
            <a:avLst>
              <a:gd name="adj" fmla="val 11416"/>
            </a:avLst>
          </a:prstGeom>
          <a:solidFill>
            <a:srgbClr val="FFFFFF"/>
          </a:solidFill>
          <a:ln/>
        </p:spPr>
        <p:txBody>
          <a:bodyPr/>
          <a:lstStyle/>
          <a:p>
            <a:endParaRPr/>
          </a:p>
        </p:txBody>
      </p:sp>
      <p:sp>
        <p:nvSpPr>
          <p:cNvPr id="12" name="Text 7"/>
          <p:cNvSpPr/>
          <p:nvPr/>
        </p:nvSpPr>
        <p:spPr>
          <a:xfrm>
            <a:off x="4215384" y="3749040"/>
            <a:ext cx="2651760" cy="274320"/>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Nitish Jain</a:t>
            </a:r>
            <a:endParaRPr lang="en-US" sz="1500" dirty="0"/>
          </a:p>
        </p:txBody>
      </p:sp>
      <p:sp>
        <p:nvSpPr>
          <p:cNvPr id="13" name="Text 8"/>
          <p:cNvSpPr/>
          <p:nvPr/>
        </p:nvSpPr>
        <p:spPr>
          <a:xfrm>
            <a:off x="4215384" y="4041648"/>
            <a:ext cx="2651760" cy="25603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+91 820 080 1599</a:t>
            </a:r>
            <a:endParaRPr lang="en-US" sz="1200" dirty="0"/>
          </a:p>
        </p:txBody>
      </p:sp>
      <p:sp>
        <p:nvSpPr>
          <p:cNvPr id="14" name="Text 9"/>
          <p:cNvSpPr/>
          <p:nvPr/>
        </p:nvSpPr>
        <p:spPr>
          <a:xfrm>
            <a:off x="4215384" y="4315968"/>
            <a:ext cx="2651760" cy="25603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Message on WhatsApp</a:t>
            </a:r>
            <a:endParaRPr lang="en-US" sz="1200" dirty="0"/>
          </a:p>
        </p:txBody>
      </p:sp>
      <p:sp>
        <p:nvSpPr>
          <p:cNvPr id="15" name="Shape 10"/>
          <p:cNvSpPr/>
          <p:nvPr/>
        </p:nvSpPr>
        <p:spPr>
          <a:xfrm>
            <a:off x="7214616" y="3566160"/>
            <a:ext cx="3017520" cy="1143000"/>
          </a:xfrm>
          <a:prstGeom prst="roundRect">
            <a:avLst>
              <a:gd name="adj" fmla="val 11416"/>
            </a:avLst>
          </a:prstGeom>
          <a:solidFill>
            <a:srgbClr val="FFFFFF"/>
          </a:solidFill>
          <a:ln/>
        </p:spPr>
        <p:txBody>
          <a:bodyPr/>
          <a:lstStyle/>
          <a:p>
            <a:endParaRPr/>
          </a:p>
        </p:txBody>
      </p:sp>
      <p:sp>
        <p:nvSpPr>
          <p:cNvPr id="16" name="Text 11"/>
          <p:cNvSpPr/>
          <p:nvPr/>
        </p:nvSpPr>
        <p:spPr>
          <a:xfrm>
            <a:off x="7415784" y="3749040"/>
            <a:ext cx="2651760" cy="274320"/>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Sairaj Lad</a:t>
            </a:r>
            <a:endParaRPr lang="en-US" sz="1500" dirty="0"/>
          </a:p>
        </p:txBody>
      </p:sp>
      <p:sp>
        <p:nvSpPr>
          <p:cNvPr id="17" name="Text 12"/>
          <p:cNvSpPr/>
          <p:nvPr/>
        </p:nvSpPr>
        <p:spPr>
          <a:xfrm>
            <a:off x="7415784" y="4041648"/>
            <a:ext cx="2651760" cy="25603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+91 98196 16475</a:t>
            </a:r>
            <a:endParaRPr lang="en-US" sz="1200" dirty="0"/>
          </a:p>
        </p:txBody>
      </p:sp>
      <p:sp>
        <p:nvSpPr>
          <p:cNvPr id="18" name="Text 13"/>
          <p:cNvSpPr/>
          <p:nvPr/>
        </p:nvSpPr>
        <p:spPr>
          <a:xfrm>
            <a:off x="7415784" y="4315968"/>
            <a:ext cx="2651760" cy="25603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Message on WhatsApp</a:t>
            </a:r>
            <a:endParaRPr lang="en-US" sz="1200" dirty="0"/>
          </a:p>
        </p:txBody>
      </p:sp>
      <p:sp>
        <p:nvSpPr>
          <p:cNvPr id="23" name="Text 18"/>
          <p:cNvSpPr/>
          <p:nvPr/>
        </p:nvSpPr>
        <p:spPr>
          <a:xfrm>
            <a:off x="813816" y="4983480"/>
            <a:ext cx="9509760" cy="274320"/>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Tap Message on WhatsApp to open a chat with them directly.</a:t>
            </a:r>
            <a:endParaRPr lang="en-US" sz="1300" dirty="0"/>
          </a:p>
        </p:txBody>
      </p:sp>
      <p:sp>
        <p:nvSpPr>
          <p:cNvPr id="120" name="Help line"/>
          <p:cNvSpPr/>
          <p:nvPr/>
        </p:nvSpPr>
        <p:spPr>
          <a:xfrm>
            <a:off x="813816" y="2926080"/>
            <a:ext cx="9509760" cy="411480"/>
          </a:xfrm>
          <a:prstGeom prst="rect">
            <a:avLst/>
          </a:prstGeom>
          <a:noFill/>
          <a:ln/>
        </p:spPr>
        <p:txBody>
          <a:bodyPr wrap="square" lIns="0" tIns="0" rIns="0" bIns="0" rtlCol="0" anchor="t"/>
          <a:lstStyle/>
          <a:p>
            <a:pPr marL="0" indent="0" algn="l">
              <a:lnSpc>
                <a:spcPts val="1820"/>
              </a:lnSpc>
              <a:buNone/>
            </a:pPr>
            <a:r>
              <a:rPr b="1" lang="en-US" sz="2000" dirty="0">
                <a:solidFill>
                  <a:srgbClr val="E8F0FE"/>
                </a:solidFill>
                <a:latin typeface="Google Sans" pitchFamily="34" charset="0"/>
                <a:ea typeface="Google Sans" pitchFamily="34" charset="-122"/>
                <a:cs typeface="Google Sans" pitchFamily="34" charset="-120"/>
              </a:rPr>
              <a:t>Have any doubts in any step? Contact these people:</a:t>
            </a:r>
            <a:endParaRPr lang="en-US" sz="20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